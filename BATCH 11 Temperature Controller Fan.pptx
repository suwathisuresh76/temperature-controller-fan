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8" r:id="rId3"/>
    <p:sldId id="259" r:id="rId4"/>
    <p:sldId id="260" r:id="rId5"/>
    <p:sldId id="261" r:id="rId6"/>
    <p:sldId id="262" r:id="rId7"/>
    <p:sldId id="263" r:id="rId8"/>
    <p:sldId id="264" r:id="rId9"/>
    <p:sldId id="266" r:id="rId10"/>
    <p:sldId id="267" r:id="rId11"/>
    <p:sldId id="268" r:id="rId12"/>
    <p:sldId id="269" r:id="rId13"/>
    <p:sldId id="270" r:id="rId14"/>
    <p:sldId id="271" r:id="rId15"/>
    <p:sldId id="272" r:id="rId16"/>
    <p:sldId id="273" r:id="rId17"/>
    <p:sldId id="274" r:id="rId18"/>
    <p:sldId id="275" r:id="rId19"/>
    <p:sldId id="276" r:id="rId20"/>
    <p:sldId id="278" r:id="rId21"/>
    <p:sldId id="279" r:id="rId22"/>
  </p:sldIdLst>
  <p:sldSz cx="12192000" cy="6858000"/>
  <p:notesSz cx="12192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75" autoAdjust="0"/>
    <p:restoredTop sz="94660"/>
  </p:normalViewPr>
  <p:slideViewPr>
    <p:cSldViewPr>
      <p:cViewPr>
        <p:scale>
          <a:sx n="76" d="100"/>
          <a:sy n="76" d="100"/>
        </p:scale>
        <p:origin x="-606" y="21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89197" y="218059"/>
            <a:ext cx="5422900" cy="635000"/>
          </a:xfrm>
          <a:prstGeom prst="rect">
            <a:avLst/>
          </a:prstGeom>
        </p:spPr>
        <p:txBody>
          <a:bodyPr wrap="square" lIns="0" tIns="0" rIns="0" bIns="0">
            <a:spAutoFit/>
          </a:bodyPr>
          <a:lstStyle>
            <a:lvl1pPr>
              <a:defRPr sz="4000" b="0" i="0">
                <a:solidFill>
                  <a:srgbClr val="0D56C4"/>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14/12/2025</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Tahoma"/>
                <a:cs typeface="Tahoma"/>
              </a:defRPr>
            </a:lvl1pPr>
          </a:lstStyle>
          <a:p>
            <a:pPr marL="86360">
              <a:lnSpc>
                <a:spcPct val="100000"/>
              </a:lnSpc>
              <a:spcBef>
                <a:spcPts val="110"/>
              </a:spcBef>
            </a:pPr>
            <a:fld id="{81D60167-4931-47E6-BA6A-407CBD079E47}" type="slidenum">
              <a:rPr spc="-50" dirty="0"/>
              <a:pPr marL="86360">
                <a:lnSpc>
                  <a:spcPct val="100000"/>
                </a:lnSpc>
                <a:spcBef>
                  <a:spcPts val="110"/>
                </a:spcBef>
              </a:pPr>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0D56C4"/>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14/12/2025</a:t>
            </a:fld>
            <a:endParaRPr lang="en-US"/>
          </a:p>
        </p:txBody>
      </p:sp>
      <p:sp>
        <p:nvSpPr>
          <p:cNvPr id="6" name="Holder 6"/>
          <p:cNvSpPr>
            <a:spLocks noGrp="1"/>
          </p:cNvSpPr>
          <p:nvPr>
            <p:ph type="sldNum" sz="quarter" idx="7"/>
          </p:nvPr>
        </p:nvSpPr>
        <p:spPr/>
        <p:txBody>
          <a:bodyPr lIns="0" tIns="0" rIns="0" bIns="0"/>
          <a:lstStyle>
            <a:lvl1pPr>
              <a:defRPr sz="1400" b="0" i="0">
                <a:solidFill>
                  <a:schemeClr val="bg1"/>
                </a:solidFill>
                <a:latin typeface="Tahoma"/>
                <a:cs typeface="Tahoma"/>
              </a:defRPr>
            </a:lvl1pPr>
          </a:lstStyle>
          <a:p>
            <a:pPr marL="86360">
              <a:lnSpc>
                <a:spcPct val="100000"/>
              </a:lnSpc>
              <a:spcBef>
                <a:spcPts val="110"/>
              </a:spcBef>
            </a:pPr>
            <a:fld id="{81D60167-4931-47E6-BA6A-407CBD079E47}" type="slidenum">
              <a:rPr spc="-50" dirty="0"/>
              <a:pPr marL="86360">
                <a:lnSpc>
                  <a:spcPct val="100000"/>
                </a:lnSpc>
                <a:spcBef>
                  <a:spcPts val="110"/>
                </a:spcBef>
              </a:pPr>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0D56C4"/>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14/12/2025</a:t>
            </a:fld>
            <a:endParaRPr lang="en-US"/>
          </a:p>
        </p:txBody>
      </p:sp>
      <p:sp>
        <p:nvSpPr>
          <p:cNvPr id="7" name="Holder 7"/>
          <p:cNvSpPr>
            <a:spLocks noGrp="1"/>
          </p:cNvSpPr>
          <p:nvPr>
            <p:ph type="sldNum" sz="quarter" idx="7"/>
          </p:nvPr>
        </p:nvSpPr>
        <p:spPr/>
        <p:txBody>
          <a:bodyPr lIns="0" tIns="0" rIns="0" bIns="0"/>
          <a:lstStyle>
            <a:lvl1pPr>
              <a:defRPr sz="1400" b="0" i="0">
                <a:solidFill>
                  <a:schemeClr val="bg1"/>
                </a:solidFill>
                <a:latin typeface="Tahoma"/>
                <a:cs typeface="Tahoma"/>
              </a:defRPr>
            </a:lvl1pPr>
          </a:lstStyle>
          <a:p>
            <a:pPr marL="86360">
              <a:lnSpc>
                <a:spcPct val="100000"/>
              </a:lnSpc>
              <a:spcBef>
                <a:spcPts val="110"/>
              </a:spcBef>
            </a:pPr>
            <a:fld id="{81D60167-4931-47E6-BA6A-407CBD079E47}" type="slidenum">
              <a:rPr spc="-50" dirty="0"/>
              <a:pPr marL="86360">
                <a:lnSpc>
                  <a:spcPct val="100000"/>
                </a:lnSpc>
                <a:spcBef>
                  <a:spcPts val="110"/>
                </a:spcBef>
              </a:pPr>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rgbClr val="0D56C4"/>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14/12/2025</a:t>
            </a:fld>
            <a:endParaRPr lang="en-US"/>
          </a:p>
        </p:txBody>
      </p:sp>
      <p:sp>
        <p:nvSpPr>
          <p:cNvPr id="5" name="Holder 5"/>
          <p:cNvSpPr>
            <a:spLocks noGrp="1"/>
          </p:cNvSpPr>
          <p:nvPr>
            <p:ph type="sldNum" sz="quarter" idx="7"/>
          </p:nvPr>
        </p:nvSpPr>
        <p:spPr/>
        <p:txBody>
          <a:bodyPr lIns="0" tIns="0" rIns="0" bIns="0"/>
          <a:lstStyle>
            <a:lvl1pPr>
              <a:defRPr sz="1400" b="0" i="0">
                <a:solidFill>
                  <a:schemeClr val="bg1"/>
                </a:solidFill>
                <a:latin typeface="Tahoma"/>
                <a:cs typeface="Tahoma"/>
              </a:defRPr>
            </a:lvl1pPr>
          </a:lstStyle>
          <a:p>
            <a:pPr marL="86360">
              <a:lnSpc>
                <a:spcPct val="100000"/>
              </a:lnSpc>
              <a:spcBef>
                <a:spcPts val="110"/>
              </a:spcBef>
            </a:pPr>
            <a:fld id="{81D60167-4931-47E6-BA6A-407CBD079E47}" type="slidenum">
              <a:rPr spc="-50" dirty="0"/>
              <a:pPr marL="86360">
                <a:lnSpc>
                  <a:spcPct val="100000"/>
                </a:lnSpc>
                <a:spcBef>
                  <a:spcPts val="110"/>
                </a:spcBef>
              </a:pPr>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7312" y="69850"/>
            <a:ext cx="12018010" cy="6692900"/>
          </a:xfrm>
          <a:custGeom>
            <a:avLst/>
            <a:gdLst/>
            <a:ahLst/>
            <a:cxnLst/>
            <a:rect l="l" t="t" r="r" b="b"/>
            <a:pathLst>
              <a:path w="12018010" h="6692900">
                <a:moveTo>
                  <a:pt x="0" y="329946"/>
                </a:moveTo>
                <a:lnTo>
                  <a:pt x="3576" y="281184"/>
                </a:lnTo>
                <a:lnTo>
                  <a:pt x="13967" y="234645"/>
                </a:lnTo>
                <a:lnTo>
                  <a:pt x="30661" y="190840"/>
                </a:lnTo>
                <a:lnTo>
                  <a:pt x="53148" y="150277"/>
                </a:lnTo>
                <a:lnTo>
                  <a:pt x="80917" y="113468"/>
                </a:lnTo>
                <a:lnTo>
                  <a:pt x="113458" y="80923"/>
                </a:lnTo>
                <a:lnTo>
                  <a:pt x="150261" y="53151"/>
                </a:lnTo>
                <a:lnTo>
                  <a:pt x="190815" y="30662"/>
                </a:lnTo>
                <a:lnTo>
                  <a:pt x="234610" y="13967"/>
                </a:lnTo>
                <a:lnTo>
                  <a:pt x="281136" y="3576"/>
                </a:lnTo>
                <a:lnTo>
                  <a:pt x="329882" y="0"/>
                </a:lnTo>
                <a:lnTo>
                  <a:pt x="11687492" y="0"/>
                </a:lnTo>
                <a:lnTo>
                  <a:pt x="11736254" y="3576"/>
                </a:lnTo>
                <a:lnTo>
                  <a:pt x="11782792" y="13967"/>
                </a:lnTo>
                <a:lnTo>
                  <a:pt x="11826598" y="30662"/>
                </a:lnTo>
                <a:lnTo>
                  <a:pt x="11867160" y="53151"/>
                </a:lnTo>
                <a:lnTo>
                  <a:pt x="11903969" y="80923"/>
                </a:lnTo>
                <a:lnTo>
                  <a:pt x="11936515" y="113468"/>
                </a:lnTo>
                <a:lnTo>
                  <a:pt x="11964287" y="150277"/>
                </a:lnTo>
                <a:lnTo>
                  <a:pt x="11986775" y="190840"/>
                </a:lnTo>
                <a:lnTo>
                  <a:pt x="12003470" y="234645"/>
                </a:lnTo>
                <a:lnTo>
                  <a:pt x="12013861" y="281184"/>
                </a:lnTo>
                <a:lnTo>
                  <a:pt x="12017438" y="329946"/>
                </a:lnTo>
                <a:lnTo>
                  <a:pt x="12017438" y="6363017"/>
                </a:lnTo>
                <a:lnTo>
                  <a:pt x="12013861" y="6411763"/>
                </a:lnTo>
                <a:lnTo>
                  <a:pt x="12003470" y="6458289"/>
                </a:lnTo>
                <a:lnTo>
                  <a:pt x="11986775" y="6502084"/>
                </a:lnTo>
                <a:lnTo>
                  <a:pt x="11964287" y="6542638"/>
                </a:lnTo>
                <a:lnTo>
                  <a:pt x="11936515" y="6579441"/>
                </a:lnTo>
                <a:lnTo>
                  <a:pt x="11903969" y="6611982"/>
                </a:lnTo>
                <a:lnTo>
                  <a:pt x="11867160" y="6639751"/>
                </a:lnTo>
                <a:lnTo>
                  <a:pt x="11826598" y="6662237"/>
                </a:lnTo>
                <a:lnTo>
                  <a:pt x="11782792" y="6678931"/>
                </a:lnTo>
                <a:lnTo>
                  <a:pt x="11736254" y="6689321"/>
                </a:lnTo>
                <a:lnTo>
                  <a:pt x="11687492" y="6692898"/>
                </a:lnTo>
                <a:lnTo>
                  <a:pt x="329882" y="6692898"/>
                </a:lnTo>
                <a:lnTo>
                  <a:pt x="281136" y="6689321"/>
                </a:lnTo>
                <a:lnTo>
                  <a:pt x="234610" y="6678931"/>
                </a:lnTo>
                <a:lnTo>
                  <a:pt x="190815" y="6662237"/>
                </a:lnTo>
                <a:lnTo>
                  <a:pt x="150261" y="6639751"/>
                </a:lnTo>
                <a:lnTo>
                  <a:pt x="113458" y="6611982"/>
                </a:lnTo>
                <a:lnTo>
                  <a:pt x="80917" y="6579441"/>
                </a:lnTo>
                <a:lnTo>
                  <a:pt x="53148" y="6542638"/>
                </a:lnTo>
                <a:lnTo>
                  <a:pt x="30661" y="6502084"/>
                </a:lnTo>
                <a:lnTo>
                  <a:pt x="13967" y="6458289"/>
                </a:lnTo>
                <a:lnTo>
                  <a:pt x="3576" y="6411763"/>
                </a:lnTo>
                <a:lnTo>
                  <a:pt x="0" y="6363017"/>
                </a:lnTo>
                <a:lnTo>
                  <a:pt x="0" y="329946"/>
                </a:lnTo>
                <a:close/>
              </a:path>
            </a:pathLst>
          </a:custGeom>
          <a:ln w="9525">
            <a:solidFill>
              <a:srgbClr val="000000"/>
            </a:solidFill>
          </a:ln>
        </p:spPr>
        <p:txBody>
          <a:bodyPr wrap="square" lIns="0" tIns="0" rIns="0" bIns="0" rtlCol="0"/>
          <a:lstStyle/>
          <a:p>
            <a:endParaRPr/>
          </a:p>
        </p:txBody>
      </p:sp>
      <p:sp>
        <p:nvSpPr>
          <p:cNvPr id="17" name="bg object 17"/>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pic>
        <p:nvPicPr>
          <p:cNvPr id="18" name="bg object 18"/>
          <p:cNvPicPr/>
          <p:nvPr/>
        </p:nvPicPr>
        <p:blipFill>
          <a:blip r:embed="rId2" cstate="print"/>
          <a:stretch>
            <a:fillRect/>
          </a:stretch>
        </p:blipFill>
        <p:spPr>
          <a:xfrm>
            <a:off x="4536947" y="1222247"/>
            <a:ext cx="442722" cy="427481"/>
          </a:xfrm>
          <a:prstGeom prst="rect">
            <a:avLst/>
          </a:prstGeom>
        </p:spPr>
      </p:pic>
      <p:pic>
        <p:nvPicPr>
          <p:cNvPr id="19" name="bg object 19"/>
          <p:cNvPicPr/>
          <p:nvPr/>
        </p:nvPicPr>
        <p:blipFill>
          <a:blip r:embed="rId3" cstate="print"/>
          <a:stretch>
            <a:fillRect/>
          </a:stretch>
        </p:blipFill>
        <p:spPr>
          <a:xfrm>
            <a:off x="4536947" y="1758695"/>
            <a:ext cx="442722" cy="427481"/>
          </a:xfrm>
          <a:prstGeom prst="rect">
            <a:avLst/>
          </a:prstGeom>
        </p:spPr>
      </p:pic>
      <p:pic>
        <p:nvPicPr>
          <p:cNvPr id="20" name="bg object 20"/>
          <p:cNvPicPr/>
          <p:nvPr/>
        </p:nvPicPr>
        <p:blipFill>
          <a:blip r:embed="rId2" cstate="print"/>
          <a:stretch>
            <a:fillRect/>
          </a:stretch>
        </p:blipFill>
        <p:spPr>
          <a:xfrm>
            <a:off x="4536947" y="2293620"/>
            <a:ext cx="442722" cy="427481"/>
          </a:xfrm>
          <a:prstGeom prst="rect">
            <a:avLst/>
          </a:prstGeom>
        </p:spPr>
      </p:pic>
      <p:pic>
        <p:nvPicPr>
          <p:cNvPr id="21" name="bg object 21"/>
          <p:cNvPicPr/>
          <p:nvPr/>
        </p:nvPicPr>
        <p:blipFill>
          <a:blip r:embed="rId3" cstate="print"/>
          <a:stretch>
            <a:fillRect/>
          </a:stretch>
        </p:blipFill>
        <p:spPr>
          <a:xfrm>
            <a:off x="4536947" y="2830067"/>
            <a:ext cx="442722" cy="427481"/>
          </a:xfrm>
          <a:prstGeom prst="rect">
            <a:avLst/>
          </a:prstGeom>
        </p:spPr>
      </p:pic>
      <p:pic>
        <p:nvPicPr>
          <p:cNvPr id="22" name="bg object 22"/>
          <p:cNvPicPr/>
          <p:nvPr/>
        </p:nvPicPr>
        <p:blipFill>
          <a:blip r:embed="rId3" cstate="print"/>
          <a:stretch>
            <a:fillRect/>
          </a:stretch>
        </p:blipFill>
        <p:spPr>
          <a:xfrm>
            <a:off x="4536947" y="5466588"/>
            <a:ext cx="442722" cy="427481"/>
          </a:xfrm>
          <a:prstGeom prst="rect">
            <a:avLst/>
          </a:prstGeom>
        </p:spPr>
      </p:pic>
      <p:pic>
        <p:nvPicPr>
          <p:cNvPr id="23" name="bg object 23"/>
          <p:cNvPicPr/>
          <p:nvPr/>
        </p:nvPicPr>
        <p:blipFill>
          <a:blip r:embed="rId2" cstate="print"/>
          <a:stretch>
            <a:fillRect/>
          </a:stretch>
        </p:blipFill>
        <p:spPr>
          <a:xfrm>
            <a:off x="4536947" y="6001511"/>
            <a:ext cx="442722" cy="427481"/>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14/12/2025</a:t>
            </a:fld>
            <a:endParaRPr lang="en-US"/>
          </a:p>
        </p:txBody>
      </p:sp>
      <p:sp>
        <p:nvSpPr>
          <p:cNvPr id="4" name="Holder 4"/>
          <p:cNvSpPr>
            <a:spLocks noGrp="1"/>
          </p:cNvSpPr>
          <p:nvPr>
            <p:ph type="sldNum" sz="quarter" idx="7"/>
          </p:nvPr>
        </p:nvSpPr>
        <p:spPr/>
        <p:txBody>
          <a:bodyPr lIns="0" tIns="0" rIns="0" bIns="0"/>
          <a:lstStyle>
            <a:lvl1pPr>
              <a:defRPr sz="1400" b="0" i="0">
                <a:solidFill>
                  <a:schemeClr val="bg1"/>
                </a:solidFill>
                <a:latin typeface="Tahoma"/>
                <a:cs typeface="Tahoma"/>
              </a:defRPr>
            </a:lvl1pPr>
          </a:lstStyle>
          <a:p>
            <a:pPr marL="86360">
              <a:lnSpc>
                <a:spcPct val="100000"/>
              </a:lnSpc>
              <a:spcBef>
                <a:spcPts val="110"/>
              </a:spcBef>
            </a:pPr>
            <a:fld id="{81D60167-4931-47E6-BA6A-407CBD079E47}" type="slidenum">
              <a:rPr spc="-50" dirty="0"/>
              <a:pPr marL="86360">
                <a:lnSpc>
                  <a:spcPct val="100000"/>
                </a:lnSpc>
                <a:spcBef>
                  <a:spcPts val="110"/>
                </a:spcBef>
              </a:pPr>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7312" y="69850"/>
            <a:ext cx="12018010" cy="6692900"/>
          </a:xfrm>
          <a:custGeom>
            <a:avLst/>
            <a:gdLst/>
            <a:ahLst/>
            <a:cxnLst/>
            <a:rect l="l" t="t" r="r" b="b"/>
            <a:pathLst>
              <a:path w="12018010" h="6692900">
                <a:moveTo>
                  <a:pt x="0" y="329946"/>
                </a:moveTo>
                <a:lnTo>
                  <a:pt x="3576" y="281184"/>
                </a:lnTo>
                <a:lnTo>
                  <a:pt x="13967" y="234645"/>
                </a:lnTo>
                <a:lnTo>
                  <a:pt x="30661" y="190840"/>
                </a:lnTo>
                <a:lnTo>
                  <a:pt x="53148" y="150277"/>
                </a:lnTo>
                <a:lnTo>
                  <a:pt x="80917" y="113468"/>
                </a:lnTo>
                <a:lnTo>
                  <a:pt x="113458" y="80923"/>
                </a:lnTo>
                <a:lnTo>
                  <a:pt x="150261" y="53151"/>
                </a:lnTo>
                <a:lnTo>
                  <a:pt x="190815" y="30662"/>
                </a:lnTo>
                <a:lnTo>
                  <a:pt x="234610" y="13967"/>
                </a:lnTo>
                <a:lnTo>
                  <a:pt x="281136" y="3576"/>
                </a:lnTo>
                <a:lnTo>
                  <a:pt x="329882" y="0"/>
                </a:lnTo>
                <a:lnTo>
                  <a:pt x="11687492" y="0"/>
                </a:lnTo>
                <a:lnTo>
                  <a:pt x="11736254" y="3576"/>
                </a:lnTo>
                <a:lnTo>
                  <a:pt x="11782792" y="13967"/>
                </a:lnTo>
                <a:lnTo>
                  <a:pt x="11826598" y="30662"/>
                </a:lnTo>
                <a:lnTo>
                  <a:pt x="11867160" y="53151"/>
                </a:lnTo>
                <a:lnTo>
                  <a:pt x="11903969" y="80923"/>
                </a:lnTo>
                <a:lnTo>
                  <a:pt x="11936515" y="113468"/>
                </a:lnTo>
                <a:lnTo>
                  <a:pt x="11964287" y="150277"/>
                </a:lnTo>
                <a:lnTo>
                  <a:pt x="11986775" y="190840"/>
                </a:lnTo>
                <a:lnTo>
                  <a:pt x="12003470" y="234645"/>
                </a:lnTo>
                <a:lnTo>
                  <a:pt x="12013861" y="281184"/>
                </a:lnTo>
                <a:lnTo>
                  <a:pt x="12017438" y="329946"/>
                </a:lnTo>
                <a:lnTo>
                  <a:pt x="12017438" y="6363017"/>
                </a:lnTo>
                <a:lnTo>
                  <a:pt x="12013861" y="6411763"/>
                </a:lnTo>
                <a:lnTo>
                  <a:pt x="12003470" y="6458289"/>
                </a:lnTo>
                <a:lnTo>
                  <a:pt x="11986775" y="6502084"/>
                </a:lnTo>
                <a:lnTo>
                  <a:pt x="11964287" y="6542638"/>
                </a:lnTo>
                <a:lnTo>
                  <a:pt x="11936515" y="6579441"/>
                </a:lnTo>
                <a:lnTo>
                  <a:pt x="11903969" y="6611982"/>
                </a:lnTo>
                <a:lnTo>
                  <a:pt x="11867160" y="6639751"/>
                </a:lnTo>
                <a:lnTo>
                  <a:pt x="11826598" y="6662237"/>
                </a:lnTo>
                <a:lnTo>
                  <a:pt x="11782792" y="6678931"/>
                </a:lnTo>
                <a:lnTo>
                  <a:pt x="11736254" y="6689321"/>
                </a:lnTo>
                <a:lnTo>
                  <a:pt x="11687492" y="6692898"/>
                </a:lnTo>
                <a:lnTo>
                  <a:pt x="329882" y="6692898"/>
                </a:lnTo>
                <a:lnTo>
                  <a:pt x="281136" y="6689321"/>
                </a:lnTo>
                <a:lnTo>
                  <a:pt x="234610" y="6678931"/>
                </a:lnTo>
                <a:lnTo>
                  <a:pt x="190815" y="6662237"/>
                </a:lnTo>
                <a:lnTo>
                  <a:pt x="150261" y="6639751"/>
                </a:lnTo>
                <a:lnTo>
                  <a:pt x="113458" y="6611982"/>
                </a:lnTo>
                <a:lnTo>
                  <a:pt x="80917" y="6579441"/>
                </a:lnTo>
                <a:lnTo>
                  <a:pt x="53148" y="6542638"/>
                </a:lnTo>
                <a:lnTo>
                  <a:pt x="30661" y="6502084"/>
                </a:lnTo>
                <a:lnTo>
                  <a:pt x="13967" y="6458289"/>
                </a:lnTo>
                <a:lnTo>
                  <a:pt x="3576" y="6411763"/>
                </a:lnTo>
                <a:lnTo>
                  <a:pt x="0" y="6363017"/>
                </a:lnTo>
                <a:lnTo>
                  <a:pt x="0" y="329946"/>
                </a:lnTo>
                <a:close/>
              </a:path>
            </a:pathLst>
          </a:custGeom>
          <a:ln w="9525">
            <a:solidFill>
              <a:srgbClr val="000000"/>
            </a:solidFill>
          </a:ln>
        </p:spPr>
        <p:txBody>
          <a:bodyPr wrap="square" lIns="0" tIns="0" rIns="0" bIns="0" rtlCol="0"/>
          <a:lstStyle/>
          <a:p>
            <a:endParaRPr/>
          </a:p>
        </p:txBody>
      </p:sp>
      <p:sp>
        <p:nvSpPr>
          <p:cNvPr id="2" name="Holder 2"/>
          <p:cNvSpPr>
            <a:spLocks noGrp="1"/>
          </p:cNvSpPr>
          <p:nvPr>
            <p:ph type="title"/>
          </p:nvPr>
        </p:nvSpPr>
        <p:spPr>
          <a:xfrm>
            <a:off x="1594485" y="77850"/>
            <a:ext cx="8992870" cy="1244600"/>
          </a:xfrm>
          <a:prstGeom prst="rect">
            <a:avLst/>
          </a:prstGeom>
        </p:spPr>
        <p:txBody>
          <a:bodyPr wrap="square" lIns="0" tIns="0" rIns="0" bIns="0">
            <a:spAutoFit/>
          </a:bodyPr>
          <a:lstStyle>
            <a:lvl1pPr>
              <a:defRPr sz="4000" b="0" i="0">
                <a:solidFill>
                  <a:srgbClr val="0D56C4"/>
                </a:solidFill>
                <a:latin typeface="Times New Roman"/>
                <a:cs typeface="Times New Roman"/>
              </a:defRPr>
            </a:lvl1pPr>
          </a:lstStyle>
          <a:p>
            <a:endParaRPr/>
          </a:p>
        </p:txBody>
      </p:sp>
      <p:sp>
        <p:nvSpPr>
          <p:cNvPr id="3" name="Holder 3"/>
          <p:cNvSpPr>
            <a:spLocks noGrp="1"/>
          </p:cNvSpPr>
          <p:nvPr>
            <p:ph type="body" idx="1"/>
          </p:nvPr>
        </p:nvSpPr>
        <p:spPr>
          <a:xfrm>
            <a:off x="699617" y="1332356"/>
            <a:ext cx="10779760" cy="4658995"/>
          </a:xfrm>
          <a:prstGeom prst="rect">
            <a:avLst/>
          </a:prstGeom>
        </p:spPr>
        <p:txBody>
          <a:bodyPr wrap="square" lIns="0" tIns="0" rIns="0" bIns="0">
            <a:spAutoFit/>
          </a:bodyPr>
          <a:lstStyle>
            <a:lvl1pPr>
              <a:defRPr sz="16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14/12/2025</a:t>
            </a:fld>
            <a:endParaRPr lang="en-US"/>
          </a:p>
        </p:txBody>
      </p:sp>
      <p:sp>
        <p:nvSpPr>
          <p:cNvPr id="6" name="Holder 6"/>
          <p:cNvSpPr>
            <a:spLocks noGrp="1"/>
          </p:cNvSpPr>
          <p:nvPr>
            <p:ph type="sldNum" sz="quarter" idx="7"/>
          </p:nvPr>
        </p:nvSpPr>
        <p:spPr>
          <a:xfrm>
            <a:off x="362711" y="6315122"/>
            <a:ext cx="287020" cy="244475"/>
          </a:xfrm>
          <a:prstGeom prst="rect">
            <a:avLst/>
          </a:prstGeom>
        </p:spPr>
        <p:txBody>
          <a:bodyPr wrap="square" lIns="0" tIns="0" rIns="0" bIns="0">
            <a:spAutoFit/>
          </a:bodyPr>
          <a:lstStyle>
            <a:lvl1pPr>
              <a:defRPr sz="1400" b="0" i="0">
                <a:solidFill>
                  <a:schemeClr val="bg1"/>
                </a:solidFill>
                <a:latin typeface="Tahoma"/>
                <a:cs typeface="Tahoma"/>
              </a:defRPr>
            </a:lvl1pPr>
          </a:lstStyle>
          <a:p>
            <a:pPr marL="86360">
              <a:lnSpc>
                <a:spcPct val="100000"/>
              </a:lnSpc>
              <a:spcBef>
                <a:spcPts val="110"/>
              </a:spcBef>
            </a:pPr>
            <a:fld id="{81D60167-4931-47E6-BA6A-407CBD079E47}" type="slidenum">
              <a:rPr spc="-50" dirty="0"/>
              <a:pPr marL="86360">
                <a:lnSpc>
                  <a:spcPct val="100000"/>
                </a:lnSpc>
                <a:spcBef>
                  <a:spcPts val="110"/>
                </a:spcBef>
              </a:pPr>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jpe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4137" y="69850"/>
            <a:ext cx="12028805" cy="6692900"/>
            <a:chOff x="84137" y="69850"/>
            <a:chExt cx="12028805" cy="6692900"/>
          </a:xfrm>
        </p:grpSpPr>
        <p:pic>
          <p:nvPicPr>
            <p:cNvPr id="3" name="object 3"/>
            <p:cNvPicPr/>
            <p:nvPr/>
          </p:nvPicPr>
          <p:blipFill>
            <a:blip r:embed="rId2" cstate="print"/>
            <a:stretch>
              <a:fillRect/>
            </a:stretch>
          </p:blipFill>
          <p:spPr>
            <a:xfrm>
              <a:off x="87312" y="69850"/>
              <a:ext cx="12017311" cy="6692897"/>
            </a:xfrm>
            <a:prstGeom prst="rect">
              <a:avLst/>
            </a:prstGeom>
          </p:spPr>
        </p:pic>
        <p:sp>
          <p:nvSpPr>
            <p:cNvPr id="4" name="object 4"/>
            <p:cNvSpPr/>
            <p:nvPr/>
          </p:nvSpPr>
          <p:spPr>
            <a:xfrm>
              <a:off x="87312" y="69850"/>
              <a:ext cx="12018010" cy="6692900"/>
            </a:xfrm>
            <a:custGeom>
              <a:avLst/>
              <a:gdLst/>
              <a:ahLst/>
              <a:cxnLst/>
              <a:rect l="l" t="t" r="r" b="b"/>
              <a:pathLst>
                <a:path w="12018010" h="6692900">
                  <a:moveTo>
                    <a:pt x="0" y="329946"/>
                  </a:moveTo>
                  <a:lnTo>
                    <a:pt x="3576" y="281184"/>
                  </a:lnTo>
                  <a:lnTo>
                    <a:pt x="13967" y="234645"/>
                  </a:lnTo>
                  <a:lnTo>
                    <a:pt x="30661" y="190840"/>
                  </a:lnTo>
                  <a:lnTo>
                    <a:pt x="53148" y="150277"/>
                  </a:lnTo>
                  <a:lnTo>
                    <a:pt x="80917" y="113468"/>
                  </a:lnTo>
                  <a:lnTo>
                    <a:pt x="113458" y="80923"/>
                  </a:lnTo>
                  <a:lnTo>
                    <a:pt x="150261" y="53151"/>
                  </a:lnTo>
                  <a:lnTo>
                    <a:pt x="190815" y="30662"/>
                  </a:lnTo>
                  <a:lnTo>
                    <a:pt x="234610" y="13967"/>
                  </a:lnTo>
                  <a:lnTo>
                    <a:pt x="281136" y="3576"/>
                  </a:lnTo>
                  <a:lnTo>
                    <a:pt x="329882" y="0"/>
                  </a:lnTo>
                  <a:lnTo>
                    <a:pt x="11687492" y="0"/>
                  </a:lnTo>
                  <a:lnTo>
                    <a:pt x="11736254" y="3576"/>
                  </a:lnTo>
                  <a:lnTo>
                    <a:pt x="11782792" y="13967"/>
                  </a:lnTo>
                  <a:lnTo>
                    <a:pt x="11826598" y="30662"/>
                  </a:lnTo>
                  <a:lnTo>
                    <a:pt x="11867160" y="53151"/>
                  </a:lnTo>
                  <a:lnTo>
                    <a:pt x="11903969" y="80923"/>
                  </a:lnTo>
                  <a:lnTo>
                    <a:pt x="11936515" y="113468"/>
                  </a:lnTo>
                  <a:lnTo>
                    <a:pt x="11964287" y="150277"/>
                  </a:lnTo>
                  <a:lnTo>
                    <a:pt x="11986775" y="190840"/>
                  </a:lnTo>
                  <a:lnTo>
                    <a:pt x="12003470" y="234645"/>
                  </a:lnTo>
                  <a:lnTo>
                    <a:pt x="12013861" y="281184"/>
                  </a:lnTo>
                  <a:lnTo>
                    <a:pt x="12017438" y="329946"/>
                  </a:lnTo>
                  <a:lnTo>
                    <a:pt x="12017438" y="6363017"/>
                  </a:lnTo>
                  <a:lnTo>
                    <a:pt x="12013861" y="6411763"/>
                  </a:lnTo>
                  <a:lnTo>
                    <a:pt x="12003470" y="6458289"/>
                  </a:lnTo>
                  <a:lnTo>
                    <a:pt x="11986775" y="6502084"/>
                  </a:lnTo>
                  <a:lnTo>
                    <a:pt x="11964287" y="6542638"/>
                  </a:lnTo>
                  <a:lnTo>
                    <a:pt x="11936515" y="6579441"/>
                  </a:lnTo>
                  <a:lnTo>
                    <a:pt x="11903969" y="6611982"/>
                  </a:lnTo>
                  <a:lnTo>
                    <a:pt x="11867160" y="6639751"/>
                  </a:lnTo>
                  <a:lnTo>
                    <a:pt x="11826598" y="6662237"/>
                  </a:lnTo>
                  <a:lnTo>
                    <a:pt x="11782792" y="6678931"/>
                  </a:lnTo>
                  <a:lnTo>
                    <a:pt x="11736254" y="6689321"/>
                  </a:lnTo>
                  <a:lnTo>
                    <a:pt x="11687492" y="6692898"/>
                  </a:lnTo>
                  <a:lnTo>
                    <a:pt x="329882" y="6692898"/>
                  </a:lnTo>
                  <a:lnTo>
                    <a:pt x="281136" y="6689321"/>
                  </a:lnTo>
                  <a:lnTo>
                    <a:pt x="234610" y="6678931"/>
                  </a:lnTo>
                  <a:lnTo>
                    <a:pt x="190815" y="6662237"/>
                  </a:lnTo>
                  <a:lnTo>
                    <a:pt x="150261" y="6639751"/>
                  </a:lnTo>
                  <a:lnTo>
                    <a:pt x="113458" y="6611982"/>
                  </a:lnTo>
                  <a:lnTo>
                    <a:pt x="80917" y="6579441"/>
                  </a:lnTo>
                  <a:lnTo>
                    <a:pt x="53148" y="6542638"/>
                  </a:lnTo>
                  <a:lnTo>
                    <a:pt x="30661" y="6502084"/>
                  </a:lnTo>
                  <a:lnTo>
                    <a:pt x="13967" y="6458289"/>
                  </a:lnTo>
                  <a:lnTo>
                    <a:pt x="3576" y="6411763"/>
                  </a:lnTo>
                  <a:lnTo>
                    <a:pt x="0" y="6363017"/>
                  </a:lnTo>
                  <a:lnTo>
                    <a:pt x="0" y="329946"/>
                  </a:lnTo>
                  <a:close/>
                </a:path>
              </a:pathLst>
            </a:custGeom>
            <a:ln w="9525">
              <a:solidFill>
                <a:srgbClr val="000000"/>
              </a:solidFill>
            </a:ln>
          </p:spPr>
          <p:txBody>
            <a:bodyPr wrap="square" lIns="0" tIns="0" rIns="0" bIns="0" rtlCol="0"/>
            <a:lstStyle/>
            <a:p>
              <a:endParaRPr/>
            </a:p>
          </p:txBody>
        </p:sp>
        <p:sp>
          <p:nvSpPr>
            <p:cNvPr id="5" name="object 5"/>
            <p:cNvSpPr/>
            <p:nvPr/>
          </p:nvSpPr>
          <p:spPr>
            <a:xfrm>
              <a:off x="84137" y="1397000"/>
              <a:ext cx="12028805" cy="120650"/>
            </a:xfrm>
            <a:custGeom>
              <a:avLst/>
              <a:gdLst/>
              <a:ahLst/>
              <a:cxnLst/>
              <a:rect l="l" t="t" r="r" b="b"/>
              <a:pathLst>
                <a:path w="12028805" h="120650">
                  <a:moveTo>
                    <a:pt x="12028424" y="0"/>
                  </a:moveTo>
                  <a:lnTo>
                    <a:pt x="0" y="0"/>
                  </a:lnTo>
                  <a:lnTo>
                    <a:pt x="0" y="120650"/>
                  </a:lnTo>
                  <a:lnTo>
                    <a:pt x="12028424" y="120650"/>
                  </a:lnTo>
                  <a:lnTo>
                    <a:pt x="12028424" y="0"/>
                  </a:lnTo>
                  <a:close/>
                </a:path>
              </a:pathLst>
            </a:custGeom>
            <a:solidFill>
              <a:srgbClr val="488DF0"/>
            </a:solidFill>
          </p:spPr>
          <p:txBody>
            <a:bodyPr wrap="square" lIns="0" tIns="0" rIns="0" bIns="0" rtlCol="0"/>
            <a:lstStyle/>
            <a:p>
              <a:endParaRPr/>
            </a:p>
          </p:txBody>
        </p:sp>
        <p:sp>
          <p:nvSpPr>
            <p:cNvPr id="6" name="object 6"/>
            <p:cNvSpPr/>
            <p:nvPr/>
          </p:nvSpPr>
          <p:spPr>
            <a:xfrm>
              <a:off x="84137" y="2976626"/>
              <a:ext cx="12028805" cy="111125"/>
            </a:xfrm>
            <a:custGeom>
              <a:avLst/>
              <a:gdLst/>
              <a:ahLst/>
              <a:cxnLst/>
              <a:rect l="l" t="t" r="r" b="b"/>
              <a:pathLst>
                <a:path w="12028805" h="111125">
                  <a:moveTo>
                    <a:pt x="12028424" y="0"/>
                  </a:moveTo>
                  <a:lnTo>
                    <a:pt x="0" y="0"/>
                  </a:lnTo>
                  <a:lnTo>
                    <a:pt x="0" y="111125"/>
                  </a:lnTo>
                  <a:lnTo>
                    <a:pt x="12028424" y="111125"/>
                  </a:lnTo>
                  <a:lnTo>
                    <a:pt x="12028424" y="0"/>
                  </a:lnTo>
                  <a:close/>
                </a:path>
              </a:pathLst>
            </a:custGeom>
            <a:solidFill>
              <a:srgbClr val="ACCAF8"/>
            </a:solidFill>
          </p:spPr>
          <p:txBody>
            <a:bodyPr wrap="square" lIns="0" tIns="0" rIns="0" bIns="0" rtlCol="0"/>
            <a:lstStyle/>
            <a:p>
              <a:endParaRPr/>
            </a:p>
          </p:txBody>
        </p:sp>
      </p:grpSp>
      <p:sp>
        <p:nvSpPr>
          <p:cNvPr id="7" name="object 7"/>
          <p:cNvSpPr txBox="1"/>
          <p:nvPr/>
        </p:nvSpPr>
        <p:spPr>
          <a:xfrm>
            <a:off x="340258" y="5094600"/>
            <a:ext cx="3469742" cy="1287532"/>
          </a:xfrm>
          <a:prstGeom prst="rect">
            <a:avLst/>
          </a:prstGeom>
        </p:spPr>
        <p:txBody>
          <a:bodyPr vert="horz" wrap="square" lIns="0" tIns="119380" rIns="0" bIns="0" rtlCol="0">
            <a:spAutoFit/>
          </a:bodyPr>
          <a:lstStyle/>
          <a:p>
            <a:pPr marL="12700">
              <a:lnSpc>
                <a:spcPct val="100000"/>
              </a:lnSpc>
              <a:spcBef>
                <a:spcPts val="940"/>
              </a:spcBef>
            </a:pPr>
            <a:r>
              <a:rPr sz="1200" b="1" dirty="0">
                <a:solidFill>
                  <a:srgbClr val="00AF50"/>
                </a:solidFill>
                <a:latin typeface="Times New Roman"/>
                <a:cs typeface="Times New Roman"/>
              </a:rPr>
              <a:t>Presented</a:t>
            </a:r>
            <a:r>
              <a:rPr sz="1200" b="1" spc="-45" dirty="0">
                <a:solidFill>
                  <a:srgbClr val="00AF50"/>
                </a:solidFill>
                <a:latin typeface="Times New Roman"/>
                <a:cs typeface="Times New Roman"/>
              </a:rPr>
              <a:t> </a:t>
            </a:r>
            <a:r>
              <a:rPr sz="1200" b="1" spc="-25" dirty="0">
                <a:solidFill>
                  <a:srgbClr val="00AF50"/>
                </a:solidFill>
                <a:latin typeface="Times New Roman"/>
                <a:cs typeface="Times New Roman"/>
              </a:rPr>
              <a:t>by</a:t>
            </a:r>
            <a:endParaRPr sz="1200" dirty="0">
              <a:latin typeface="Times New Roman"/>
              <a:cs typeface="Times New Roman"/>
            </a:endParaRPr>
          </a:p>
          <a:p>
            <a:pPr marL="12700">
              <a:lnSpc>
                <a:spcPct val="100000"/>
              </a:lnSpc>
              <a:spcBef>
                <a:spcPts val="690"/>
              </a:spcBef>
            </a:pPr>
            <a:r>
              <a:rPr lang="en-GB" sz="1600" b="1" spc="-10" dirty="0" smtClean="0">
                <a:latin typeface="Times New Roman"/>
                <a:cs typeface="Times New Roman"/>
              </a:rPr>
              <a:t>Sri </a:t>
            </a:r>
            <a:r>
              <a:rPr lang="en-GB" sz="1600" b="1" spc="-10" dirty="0" err="1" smtClean="0">
                <a:latin typeface="Times New Roman"/>
                <a:cs typeface="Times New Roman"/>
              </a:rPr>
              <a:t>Vardhini</a:t>
            </a:r>
            <a:r>
              <a:rPr lang="en-GB" sz="1600" b="1" spc="-10" dirty="0" smtClean="0">
                <a:latin typeface="Times New Roman"/>
                <a:cs typeface="Times New Roman"/>
              </a:rPr>
              <a:t> T </a:t>
            </a:r>
            <a:r>
              <a:rPr sz="1600" b="1" spc="-10" dirty="0" smtClean="0">
                <a:latin typeface="Times New Roman"/>
                <a:cs typeface="Times New Roman"/>
              </a:rPr>
              <a:t>(</a:t>
            </a:r>
            <a:r>
              <a:rPr lang="en-GB" sz="1600" b="1" spc="-10" dirty="0" smtClean="0">
                <a:latin typeface="Times New Roman"/>
                <a:cs typeface="Times New Roman"/>
              </a:rPr>
              <a:t>2203811710622108</a:t>
            </a:r>
            <a:r>
              <a:rPr sz="1600" b="1" spc="-10" dirty="0" smtClean="0">
                <a:latin typeface="Times New Roman"/>
                <a:cs typeface="Times New Roman"/>
              </a:rPr>
              <a:t>)</a:t>
            </a:r>
            <a:endParaRPr sz="1600" dirty="0">
              <a:latin typeface="Times New Roman"/>
              <a:cs typeface="Times New Roman"/>
            </a:endParaRPr>
          </a:p>
          <a:p>
            <a:pPr marL="12700">
              <a:lnSpc>
                <a:spcPct val="100000"/>
              </a:lnSpc>
              <a:spcBef>
                <a:spcPts val="600"/>
              </a:spcBef>
            </a:pPr>
            <a:r>
              <a:rPr lang="en-GB" sz="1600" b="1" spc="-10" dirty="0" err="1" smtClean="0">
                <a:latin typeface="Times New Roman"/>
                <a:cs typeface="Times New Roman"/>
              </a:rPr>
              <a:t>Sudharshini</a:t>
            </a:r>
            <a:r>
              <a:rPr lang="en-GB" sz="1600" b="1" spc="-10" dirty="0" smtClean="0">
                <a:latin typeface="Times New Roman"/>
                <a:cs typeface="Times New Roman"/>
              </a:rPr>
              <a:t> </a:t>
            </a:r>
            <a:r>
              <a:rPr lang="en-GB" sz="1600" b="1" spc="-10" dirty="0">
                <a:latin typeface="Times New Roman"/>
                <a:cs typeface="Times New Roman"/>
              </a:rPr>
              <a:t>R</a:t>
            </a:r>
            <a:r>
              <a:rPr sz="1600" b="1" spc="305" dirty="0" smtClean="0">
                <a:latin typeface="Times New Roman"/>
                <a:cs typeface="Times New Roman"/>
              </a:rPr>
              <a:t> </a:t>
            </a:r>
            <a:r>
              <a:rPr sz="1600" b="1" spc="-10" dirty="0" smtClean="0">
                <a:latin typeface="Times New Roman"/>
                <a:cs typeface="Times New Roman"/>
              </a:rPr>
              <a:t>(</a:t>
            </a:r>
            <a:r>
              <a:rPr lang="en-GB" sz="1600" b="1" spc="-10" dirty="0" smtClean="0">
                <a:latin typeface="Times New Roman"/>
                <a:cs typeface="Times New Roman"/>
              </a:rPr>
              <a:t>2203811710622112)</a:t>
            </a:r>
            <a:endParaRPr sz="1600" dirty="0">
              <a:latin typeface="Times New Roman"/>
              <a:cs typeface="Times New Roman"/>
            </a:endParaRPr>
          </a:p>
          <a:p>
            <a:pPr marL="12700">
              <a:lnSpc>
                <a:spcPct val="100000"/>
              </a:lnSpc>
              <a:spcBef>
                <a:spcPts val="600"/>
              </a:spcBef>
            </a:pPr>
            <a:r>
              <a:rPr lang="en-GB" sz="1600" b="1" spc="-10" dirty="0" err="1" smtClean="0">
                <a:latin typeface="Times New Roman"/>
                <a:cs typeface="Times New Roman"/>
              </a:rPr>
              <a:t>Suwathi</a:t>
            </a:r>
            <a:r>
              <a:rPr lang="en-GB" sz="1600" b="1" spc="-10" dirty="0" smtClean="0">
                <a:latin typeface="Times New Roman"/>
                <a:cs typeface="Times New Roman"/>
              </a:rPr>
              <a:t> S </a:t>
            </a:r>
            <a:r>
              <a:rPr sz="1600" b="1" spc="-10" dirty="0" smtClean="0">
                <a:latin typeface="Times New Roman"/>
                <a:cs typeface="Times New Roman"/>
              </a:rPr>
              <a:t>(</a:t>
            </a:r>
            <a:r>
              <a:rPr lang="en-GB" sz="1600" b="1" spc="-10" dirty="0" smtClean="0">
                <a:latin typeface="Times New Roman"/>
                <a:cs typeface="Times New Roman"/>
              </a:rPr>
              <a:t>2203811710622114)</a:t>
            </a:r>
            <a:endParaRPr sz="1600" dirty="0">
              <a:latin typeface="Times New Roman"/>
              <a:cs typeface="Times New Roman"/>
            </a:endParaRPr>
          </a:p>
        </p:txBody>
      </p:sp>
      <p:sp>
        <p:nvSpPr>
          <p:cNvPr id="8" name="object 8"/>
          <p:cNvSpPr txBox="1"/>
          <p:nvPr/>
        </p:nvSpPr>
        <p:spPr>
          <a:xfrm>
            <a:off x="9714103" y="5025262"/>
            <a:ext cx="2184400" cy="1082040"/>
          </a:xfrm>
          <a:prstGeom prst="rect">
            <a:avLst/>
          </a:prstGeom>
        </p:spPr>
        <p:txBody>
          <a:bodyPr vert="horz" wrap="square" lIns="0" tIns="137795" rIns="0" bIns="0" rtlCol="0">
            <a:spAutoFit/>
          </a:bodyPr>
          <a:lstStyle/>
          <a:p>
            <a:pPr marL="12700">
              <a:lnSpc>
                <a:spcPct val="100000"/>
              </a:lnSpc>
              <a:spcBef>
                <a:spcPts val="1085"/>
              </a:spcBef>
            </a:pPr>
            <a:r>
              <a:rPr sz="1600" b="1" i="1" dirty="0">
                <a:solidFill>
                  <a:srgbClr val="00AF50"/>
                </a:solidFill>
                <a:latin typeface="Times New Roman"/>
                <a:cs typeface="Times New Roman"/>
              </a:rPr>
              <a:t>Under</a:t>
            </a:r>
            <a:r>
              <a:rPr sz="1600" b="1" i="1" spc="-30" dirty="0">
                <a:solidFill>
                  <a:srgbClr val="00AF50"/>
                </a:solidFill>
                <a:latin typeface="Times New Roman"/>
                <a:cs typeface="Times New Roman"/>
              </a:rPr>
              <a:t> </a:t>
            </a:r>
            <a:r>
              <a:rPr sz="1600" b="1" i="1" dirty="0">
                <a:solidFill>
                  <a:srgbClr val="00AF50"/>
                </a:solidFill>
                <a:latin typeface="Times New Roman"/>
                <a:cs typeface="Times New Roman"/>
              </a:rPr>
              <a:t>the</a:t>
            </a:r>
            <a:r>
              <a:rPr sz="1600" b="1" i="1" spc="345" dirty="0">
                <a:solidFill>
                  <a:srgbClr val="00AF50"/>
                </a:solidFill>
                <a:latin typeface="Times New Roman"/>
                <a:cs typeface="Times New Roman"/>
              </a:rPr>
              <a:t> </a:t>
            </a:r>
            <a:r>
              <a:rPr sz="1600" b="1" i="1" dirty="0">
                <a:solidFill>
                  <a:srgbClr val="00AF50"/>
                </a:solidFill>
                <a:latin typeface="Times New Roman"/>
                <a:cs typeface="Times New Roman"/>
              </a:rPr>
              <a:t>Supervision</a:t>
            </a:r>
            <a:r>
              <a:rPr sz="1600" b="1" i="1" spc="-15" dirty="0">
                <a:solidFill>
                  <a:srgbClr val="00AF50"/>
                </a:solidFill>
                <a:latin typeface="Times New Roman"/>
                <a:cs typeface="Times New Roman"/>
              </a:rPr>
              <a:t> </a:t>
            </a:r>
            <a:r>
              <a:rPr sz="1600" b="1" i="1" spc="-25" dirty="0">
                <a:solidFill>
                  <a:srgbClr val="00AF50"/>
                </a:solidFill>
                <a:latin typeface="Times New Roman"/>
                <a:cs typeface="Times New Roman"/>
              </a:rPr>
              <a:t>of</a:t>
            </a:r>
            <a:endParaRPr sz="1600">
              <a:latin typeface="Times New Roman"/>
              <a:cs typeface="Times New Roman"/>
            </a:endParaRPr>
          </a:p>
          <a:p>
            <a:pPr marL="393700" marR="742950" indent="7620">
              <a:lnSpc>
                <a:spcPct val="150000"/>
              </a:lnSpc>
              <a:spcBef>
                <a:spcPts val="10"/>
              </a:spcBef>
            </a:pPr>
            <a:r>
              <a:rPr sz="1000" b="1" dirty="0">
                <a:latin typeface="Times New Roman"/>
                <a:cs typeface="Times New Roman"/>
              </a:rPr>
              <a:t>Mrs</a:t>
            </a:r>
            <a:r>
              <a:rPr sz="1000" b="1" spc="-25" dirty="0">
                <a:latin typeface="Times New Roman"/>
                <a:cs typeface="Times New Roman"/>
              </a:rPr>
              <a:t> </a:t>
            </a:r>
            <a:r>
              <a:rPr sz="1000" b="1" dirty="0">
                <a:latin typeface="Times New Roman"/>
                <a:cs typeface="Times New Roman"/>
              </a:rPr>
              <a:t>.</a:t>
            </a:r>
            <a:r>
              <a:rPr sz="1000" b="1" spc="-10" dirty="0">
                <a:latin typeface="Times New Roman"/>
                <a:cs typeface="Times New Roman"/>
              </a:rPr>
              <a:t> V.Gowri </a:t>
            </a:r>
            <a:r>
              <a:rPr sz="1000" b="1" dirty="0">
                <a:latin typeface="Times New Roman"/>
                <a:cs typeface="Times New Roman"/>
              </a:rPr>
              <a:t>Assistant</a:t>
            </a:r>
            <a:r>
              <a:rPr sz="1000" b="1" spc="-50" dirty="0">
                <a:latin typeface="Times New Roman"/>
                <a:cs typeface="Times New Roman"/>
              </a:rPr>
              <a:t> </a:t>
            </a:r>
            <a:r>
              <a:rPr sz="1000" b="1" spc="-10" dirty="0">
                <a:latin typeface="Times New Roman"/>
                <a:cs typeface="Times New Roman"/>
              </a:rPr>
              <a:t>Professor</a:t>
            </a:r>
            <a:endParaRPr sz="1000">
              <a:latin typeface="Times New Roman"/>
              <a:cs typeface="Times New Roman"/>
            </a:endParaRPr>
          </a:p>
          <a:p>
            <a:pPr marL="408940">
              <a:lnSpc>
                <a:spcPct val="100000"/>
              </a:lnSpc>
              <a:spcBef>
                <a:spcPts val="600"/>
              </a:spcBef>
            </a:pPr>
            <a:r>
              <a:rPr sz="1000" b="1" dirty="0">
                <a:latin typeface="Times New Roman"/>
                <a:cs typeface="Times New Roman"/>
              </a:rPr>
              <a:t>Electronic</a:t>
            </a:r>
            <a:r>
              <a:rPr sz="1000" b="1" spc="-20" dirty="0">
                <a:latin typeface="Times New Roman"/>
                <a:cs typeface="Times New Roman"/>
              </a:rPr>
              <a:t> </a:t>
            </a:r>
            <a:r>
              <a:rPr sz="1000" b="1" dirty="0">
                <a:latin typeface="Times New Roman"/>
                <a:cs typeface="Times New Roman"/>
              </a:rPr>
              <a:t>And</a:t>
            </a:r>
            <a:r>
              <a:rPr sz="1000" b="1" spc="-35" dirty="0">
                <a:latin typeface="Times New Roman"/>
                <a:cs typeface="Times New Roman"/>
              </a:rPr>
              <a:t> </a:t>
            </a:r>
            <a:r>
              <a:rPr sz="1000" b="1" spc="-10" dirty="0">
                <a:latin typeface="Times New Roman"/>
                <a:cs typeface="Times New Roman"/>
              </a:rPr>
              <a:t>Communication</a:t>
            </a:r>
            <a:endParaRPr sz="1000">
              <a:latin typeface="Times New Roman"/>
              <a:cs typeface="Times New Roman"/>
            </a:endParaRPr>
          </a:p>
        </p:txBody>
      </p:sp>
      <p:sp>
        <p:nvSpPr>
          <p:cNvPr id="9" name="object 9"/>
          <p:cNvSpPr txBox="1"/>
          <p:nvPr/>
        </p:nvSpPr>
        <p:spPr>
          <a:xfrm>
            <a:off x="11878436" y="6631025"/>
            <a:ext cx="72390" cy="193675"/>
          </a:xfrm>
          <a:prstGeom prst="rect">
            <a:avLst/>
          </a:prstGeom>
        </p:spPr>
        <p:txBody>
          <a:bodyPr vert="horz" wrap="square" lIns="0" tIns="12700" rIns="0" bIns="0" rtlCol="0">
            <a:spAutoFit/>
          </a:bodyPr>
          <a:lstStyle/>
          <a:p>
            <a:pPr marL="12700">
              <a:lnSpc>
                <a:spcPct val="100000"/>
              </a:lnSpc>
              <a:spcBef>
                <a:spcPts val="100"/>
              </a:spcBef>
            </a:pPr>
            <a:r>
              <a:rPr sz="1100" b="1" i="1" spc="-50" dirty="0">
                <a:solidFill>
                  <a:srgbClr val="00AF50"/>
                </a:solidFill>
                <a:latin typeface="Times New Roman"/>
                <a:cs typeface="Times New Roman"/>
              </a:rPr>
              <a:t>f</a:t>
            </a:r>
            <a:endParaRPr sz="1100">
              <a:latin typeface="Times New Roman"/>
              <a:cs typeface="Times New Roman"/>
            </a:endParaRPr>
          </a:p>
        </p:txBody>
      </p:sp>
      <p:sp>
        <p:nvSpPr>
          <p:cNvPr id="10" name="object 10"/>
          <p:cNvSpPr txBox="1">
            <a:spLocks noGrp="1"/>
          </p:cNvSpPr>
          <p:nvPr>
            <p:ph type="title"/>
          </p:nvPr>
        </p:nvSpPr>
        <p:spPr>
          <a:xfrm>
            <a:off x="84137" y="1517650"/>
            <a:ext cx="12028805" cy="1360629"/>
          </a:xfrm>
          <a:prstGeom prst="rect">
            <a:avLst/>
          </a:prstGeom>
          <a:solidFill>
            <a:srgbClr val="0D56C4"/>
          </a:solidFill>
        </p:spPr>
        <p:txBody>
          <a:bodyPr vert="horz" wrap="square" lIns="0" tIns="372110" rIns="0" bIns="0" rtlCol="0">
            <a:spAutoFit/>
          </a:bodyPr>
          <a:lstStyle/>
          <a:p>
            <a:pPr marL="1353185" marR="906780" indent="-183515">
              <a:lnSpc>
                <a:spcPct val="100000"/>
              </a:lnSpc>
              <a:spcBef>
                <a:spcPts val="2930"/>
              </a:spcBef>
            </a:pPr>
            <a:r>
              <a:rPr lang="en-GB" sz="3200" b="1" dirty="0" smtClean="0">
                <a:solidFill>
                  <a:srgbClr val="FFFFFF"/>
                </a:solidFill>
                <a:latin typeface="Times New Roman"/>
                <a:cs typeface="Times New Roman"/>
              </a:rPr>
              <a:t>           </a:t>
            </a:r>
            <a:r>
              <a:rPr lang="en-GB" sz="3200" b="1" dirty="0" smtClean="0">
                <a:solidFill>
                  <a:srgbClr val="FFFFFF"/>
                </a:solidFill>
              </a:rPr>
              <a:t>TEMPERATURE CONTROLLER FAN</a:t>
            </a:r>
            <a:r>
              <a:rPr lang="en-GB" sz="3200" b="1" dirty="0" smtClean="0">
                <a:solidFill>
                  <a:srgbClr val="FFFFFF"/>
                </a:solidFill>
                <a:latin typeface="Times New Roman"/>
                <a:cs typeface="Times New Roman"/>
              </a:rPr>
              <a:t/>
            </a:r>
            <a:br>
              <a:rPr lang="en-GB" sz="3200" b="1" dirty="0" smtClean="0">
                <a:solidFill>
                  <a:srgbClr val="FFFFFF"/>
                </a:solidFill>
                <a:latin typeface="Times New Roman"/>
                <a:cs typeface="Times New Roman"/>
              </a:rPr>
            </a:br>
            <a:r>
              <a:rPr lang="en-GB" sz="3200" b="1" dirty="0" smtClean="0">
                <a:solidFill>
                  <a:srgbClr val="FFFFFF"/>
                </a:solidFill>
                <a:latin typeface="Times New Roman"/>
                <a:cs typeface="Times New Roman"/>
              </a:rPr>
              <a:t>           </a:t>
            </a:r>
            <a:endParaRPr sz="3200" dirty="0">
              <a:latin typeface="Times New Roman"/>
              <a:cs typeface="Times New Roman"/>
            </a:endParaRPr>
          </a:p>
        </p:txBody>
      </p:sp>
      <p:grpSp>
        <p:nvGrpSpPr>
          <p:cNvPr id="11" name="object 11"/>
          <p:cNvGrpSpPr/>
          <p:nvPr/>
        </p:nvGrpSpPr>
        <p:grpSpPr>
          <a:xfrm>
            <a:off x="263525" y="123825"/>
            <a:ext cx="11452225" cy="1193800"/>
            <a:chOff x="263525" y="123825"/>
            <a:chExt cx="11452225" cy="1193800"/>
          </a:xfrm>
        </p:grpSpPr>
        <p:pic>
          <p:nvPicPr>
            <p:cNvPr id="12" name="object 12"/>
            <p:cNvPicPr/>
            <p:nvPr/>
          </p:nvPicPr>
          <p:blipFill>
            <a:blip r:embed="rId3" cstate="print"/>
            <a:stretch>
              <a:fillRect/>
            </a:stretch>
          </p:blipFill>
          <p:spPr>
            <a:xfrm>
              <a:off x="263525" y="306387"/>
              <a:ext cx="1041400" cy="738187"/>
            </a:xfrm>
            <a:prstGeom prst="rect">
              <a:avLst/>
            </a:prstGeom>
          </p:spPr>
        </p:pic>
        <p:pic>
          <p:nvPicPr>
            <p:cNvPr id="13" name="object 13"/>
            <p:cNvPicPr/>
            <p:nvPr/>
          </p:nvPicPr>
          <p:blipFill>
            <a:blip r:embed="rId4" cstate="print"/>
            <a:stretch>
              <a:fillRect/>
            </a:stretch>
          </p:blipFill>
          <p:spPr>
            <a:xfrm>
              <a:off x="10786998" y="123825"/>
              <a:ext cx="928687" cy="1193800"/>
            </a:xfrm>
            <a:prstGeom prst="rect">
              <a:avLst/>
            </a:prstGeom>
          </p:spPr>
        </p:pic>
      </p:grpSp>
      <p:sp>
        <p:nvSpPr>
          <p:cNvPr id="14" name="object 14"/>
          <p:cNvSpPr txBox="1"/>
          <p:nvPr/>
        </p:nvSpPr>
        <p:spPr>
          <a:xfrm>
            <a:off x="2072004" y="551700"/>
            <a:ext cx="8376920" cy="339090"/>
          </a:xfrm>
          <a:prstGeom prst="rect">
            <a:avLst/>
          </a:prstGeom>
          <a:ln w="9525">
            <a:solidFill>
              <a:srgbClr val="ACCAF8"/>
            </a:solidFill>
          </a:ln>
        </p:spPr>
        <p:txBody>
          <a:bodyPr vert="horz" wrap="square" lIns="0" tIns="34290" rIns="0" bIns="0" rtlCol="0">
            <a:spAutoFit/>
          </a:bodyPr>
          <a:lstStyle/>
          <a:p>
            <a:pPr marL="429259">
              <a:lnSpc>
                <a:spcPct val="100000"/>
              </a:lnSpc>
              <a:spcBef>
                <a:spcPts val="270"/>
              </a:spcBef>
            </a:pPr>
            <a:r>
              <a:rPr sz="1600" b="1" dirty="0">
                <a:solidFill>
                  <a:srgbClr val="0D56C4"/>
                </a:solidFill>
                <a:latin typeface="Palatino Linotype"/>
                <a:cs typeface="Palatino Linotype"/>
              </a:rPr>
              <a:t>DEPARTMENT</a:t>
            </a:r>
            <a:r>
              <a:rPr sz="1600" b="1" spc="-30" dirty="0">
                <a:solidFill>
                  <a:srgbClr val="0D56C4"/>
                </a:solidFill>
                <a:latin typeface="Palatino Linotype"/>
                <a:cs typeface="Palatino Linotype"/>
              </a:rPr>
              <a:t> </a:t>
            </a:r>
            <a:r>
              <a:rPr sz="1600" b="1" dirty="0">
                <a:solidFill>
                  <a:srgbClr val="0D56C4"/>
                </a:solidFill>
                <a:latin typeface="Palatino Linotype"/>
                <a:cs typeface="Palatino Linotype"/>
              </a:rPr>
              <a:t>OF</a:t>
            </a:r>
            <a:r>
              <a:rPr sz="1600" b="1" spc="-35" dirty="0">
                <a:solidFill>
                  <a:srgbClr val="0D56C4"/>
                </a:solidFill>
                <a:latin typeface="Palatino Linotype"/>
                <a:cs typeface="Palatino Linotype"/>
              </a:rPr>
              <a:t> </a:t>
            </a:r>
            <a:r>
              <a:rPr sz="1600" b="1" spc="-10" dirty="0">
                <a:solidFill>
                  <a:srgbClr val="0D56C4"/>
                </a:solidFill>
                <a:latin typeface="Palatino Linotype"/>
                <a:cs typeface="Palatino Linotype"/>
              </a:rPr>
              <a:t>ELECTRONICS</a:t>
            </a:r>
            <a:r>
              <a:rPr sz="1600" b="1" spc="-40" dirty="0">
                <a:solidFill>
                  <a:srgbClr val="0D56C4"/>
                </a:solidFill>
                <a:latin typeface="Palatino Linotype"/>
                <a:cs typeface="Palatino Linotype"/>
              </a:rPr>
              <a:t> </a:t>
            </a:r>
            <a:r>
              <a:rPr sz="1600" b="1" dirty="0">
                <a:solidFill>
                  <a:srgbClr val="0D56C4"/>
                </a:solidFill>
                <a:latin typeface="Palatino Linotype"/>
                <a:cs typeface="Palatino Linotype"/>
              </a:rPr>
              <a:t>AND</a:t>
            </a:r>
            <a:r>
              <a:rPr sz="1600" b="1" spc="-20" dirty="0">
                <a:solidFill>
                  <a:srgbClr val="0D56C4"/>
                </a:solidFill>
                <a:latin typeface="Palatino Linotype"/>
                <a:cs typeface="Palatino Linotype"/>
              </a:rPr>
              <a:t> </a:t>
            </a:r>
            <a:r>
              <a:rPr sz="1600" b="1" spc="-10" dirty="0">
                <a:solidFill>
                  <a:srgbClr val="0D56C4"/>
                </a:solidFill>
                <a:latin typeface="Palatino Linotype"/>
                <a:cs typeface="Palatino Linotype"/>
              </a:rPr>
              <a:t>COMMUNICATION</a:t>
            </a:r>
            <a:r>
              <a:rPr sz="1600" b="1" dirty="0">
                <a:solidFill>
                  <a:srgbClr val="0D56C4"/>
                </a:solidFill>
                <a:latin typeface="Palatino Linotype"/>
                <a:cs typeface="Palatino Linotype"/>
              </a:rPr>
              <a:t> </a:t>
            </a:r>
            <a:r>
              <a:rPr sz="1600" b="1" spc="-10" dirty="0">
                <a:solidFill>
                  <a:srgbClr val="0D56C4"/>
                </a:solidFill>
                <a:latin typeface="Palatino Linotype"/>
                <a:cs typeface="Palatino Linotype"/>
              </a:rPr>
              <a:t>ENGINEERING</a:t>
            </a:r>
            <a:endParaRPr sz="1600">
              <a:latin typeface="Palatino Linotype"/>
              <a:cs typeface="Palatino Linotype"/>
            </a:endParaRPr>
          </a:p>
        </p:txBody>
      </p:sp>
      <p:sp>
        <p:nvSpPr>
          <p:cNvPr id="15" name="object 15"/>
          <p:cNvSpPr txBox="1"/>
          <p:nvPr/>
        </p:nvSpPr>
        <p:spPr>
          <a:xfrm>
            <a:off x="1556385" y="3284918"/>
            <a:ext cx="8721090" cy="339837"/>
          </a:xfrm>
          <a:prstGeom prst="rect">
            <a:avLst/>
          </a:prstGeom>
          <a:ln w="9525">
            <a:solidFill>
              <a:srgbClr val="ACCAF8"/>
            </a:solidFill>
          </a:ln>
        </p:spPr>
        <p:txBody>
          <a:bodyPr vert="horz" wrap="square" lIns="0" tIns="31750" rIns="0" bIns="0" rtlCol="0">
            <a:spAutoFit/>
          </a:bodyPr>
          <a:lstStyle/>
          <a:p>
            <a:pPr marL="5080" algn="ctr">
              <a:lnSpc>
                <a:spcPct val="100000"/>
              </a:lnSpc>
              <a:spcBef>
                <a:spcPts val="250"/>
              </a:spcBef>
            </a:pPr>
            <a:r>
              <a:rPr sz="2000" b="1" smtClean="0">
                <a:solidFill>
                  <a:srgbClr val="0D56C4"/>
                </a:solidFill>
                <a:latin typeface="Palatino Linotype"/>
                <a:cs typeface="Palatino Linotype"/>
              </a:rPr>
              <a:t>EC</a:t>
            </a:r>
            <a:r>
              <a:rPr lang="en-GB" sz="2000" b="1" dirty="0">
                <a:solidFill>
                  <a:srgbClr val="0D56C4"/>
                </a:solidFill>
                <a:latin typeface="Palatino Linotype"/>
                <a:cs typeface="Palatino Linotype"/>
              </a:rPr>
              <a:t>B</a:t>
            </a:r>
            <a:r>
              <a:rPr lang="en-GB" sz="2000" b="1" dirty="0" smtClean="0">
                <a:solidFill>
                  <a:srgbClr val="0D56C4"/>
                </a:solidFill>
                <a:latin typeface="Palatino Linotype"/>
                <a:cs typeface="Palatino Linotype"/>
              </a:rPr>
              <a:t>1204</a:t>
            </a:r>
            <a:r>
              <a:rPr sz="2000" b="1" smtClean="0">
                <a:solidFill>
                  <a:srgbClr val="0D56C4"/>
                </a:solidFill>
                <a:latin typeface="Palatino Linotype"/>
                <a:cs typeface="Palatino Linotype"/>
              </a:rPr>
              <a:t>-</a:t>
            </a:r>
            <a:r>
              <a:rPr lang="en-GB" sz="2000" b="1" dirty="0" smtClean="0">
                <a:solidFill>
                  <a:srgbClr val="0D56C4"/>
                </a:solidFill>
                <a:latin typeface="Palatino Linotype"/>
                <a:cs typeface="Palatino Linotype"/>
              </a:rPr>
              <a:t>ANALOG INTEGRATED CIRCUIT DESIGN</a:t>
            </a:r>
            <a:endParaRPr sz="2000">
              <a:latin typeface="Palatino Linotype"/>
              <a:cs typeface="Palatino Linotyp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97858" y="107391"/>
            <a:ext cx="4409440" cy="635000"/>
          </a:xfrm>
          <a:prstGeom prst="rect">
            <a:avLst/>
          </a:prstGeom>
        </p:spPr>
        <p:txBody>
          <a:bodyPr vert="horz" wrap="square" lIns="0" tIns="12065" rIns="0" bIns="0" rtlCol="0">
            <a:spAutoFit/>
          </a:bodyPr>
          <a:lstStyle/>
          <a:p>
            <a:pPr marL="12700">
              <a:lnSpc>
                <a:spcPct val="100000"/>
              </a:lnSpc>
              <a:spcBef>
                <a:spcPts val="95"/>
              </a:spcBef>
            </a:pPr>
            <a:r>
              <a:rPr b="1" dirty="0">
                <a:latin typeface="Times New Roman"/>
                <a:cs typeface="Times New Roman"/>
              </a:rPr>
              <a:t>PO/PSO</a:t>
            </a:r>
            <a:r>
              <a:rPr b="1" spc="-70" dirty="0">
                <a:latin typeface="Times New Roman"/>
                <a:cs typeface="Times New Roman"/>
              </a:rPr>
              <a:t> </a:t>
            </a:r>
            <a:r>
              <a:rPr b="1" spc="-10" dirty="0">
                <a:latin typeface="Times New Roman"/>
                <a:cs typeface="Times New Roman"/>
              </a:rPr>
              <a:t>MAPPING</a:t>
            </a:r>
          </a:p>
        </p:txBody>
      </p:sp>
      <p:sp>
        <p:nvSpPr>
          <p:cNvPr id="3" name="object 3"/>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4" name="object 4"/>
          <p:cNvSpPr txBox="1"/>
          <p:nvPr/>
        </p:nvSpPr>
        <p:spPr>
          <a:xfrm>
            <a:off x="436880" y="6316167"/>
            <a:ext cx="124460" cy="23939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FFFFFF"/>
                </a:solidFill>
                <a:latin typeface="Tahoma"/>
                <a:cs typeface="Tahoma"/>
              </a:rPr>
              <a:t>3</a:t>
            </a:r>
            <a:endParaRPr sz="1400">
              <a:latin typeface="Tahoma"/>
              <a:cs typeface="Tahoma"/>
            </a:endParaRPr>
          </a:p>
        </p:txBody>
      </p:sp>
      <p:pic>
        <p:nvPicPr>
          <p:cNvPr id="5" name="object 5"/>
          <p:cNvPicPr/>
          <p:nvPr/>
        </p:nvPicPr>
        <p:blipFill>
          <a:blip r:embed="rId2" cstate="print"/>
          <a:stretch>
            <a:fillRect/>
          </a:stretch>
        </p:blipFill>
        <p:spPr>
          <a:xfrm>
            <a:off x="1425955" y="838238"/>
            <a:ext cx="9227693" cy="1148930"/>
          </a:xfrm>
          <a:prstGeom prst="rect">
            <a:avLst/>
          </a:prstGeom>
        </p:spPr>
      </p:pic>
      <p:graphicFrame>
        <p:nvGraphicFramePr>
          <p:cNvPr id="6" name="object 6"/>
          <p:cNvGraphicFramePr>
            <a:graphicFrameLocks noGrp="1"/>
          </p:cNvGraphicFramePr>
          <p:nvPr/>
        </p:nvGraphicFramePr>
        <p:xfrm>
          <a:off x="1421193" y="833437"/>
          <a:ext cx="9239881" cy="1148715"/>
        </p:xfrm>
        <a:graphic>
          <a:graphicData uri="http://schemas.openxmlformats.org/drawingml/2006/table">
            <a:tbl>
              <a:tblPr firstRow="1" bandRow="1">
                <a:tableStyleId>{2D5ABB26-0587-4C30-8999-92F81FD0307C}</a:tableStyleId>
              </a:tblPr>
              <a:tblGrid>
                <a:gridCol w="998219"/>
                <a:gridCol w="559435"/>
                <a:gridCol w="525145"/>
                <a:gridCol w="550544"/>
                <a:gridCol w="550544"/>
                <a:gridCol w="550545"/>
                <a:gridCol w="550545"/>
                <a:gridCol w="550545"/>
                <a:gridCol w="550545"/>
                <a:gridCol w="550545"/>
                <a:gridCol w="550545"/>
                <a:gridCol w="550544"/>
                <a:gridCol w="550545"/>
                <a:gridCol w="550545"/>
                <a:gridCol w="550545"/>
                <a:gridCol w="550545"/>
              </a:tblGrid>
              <a:tr h="729615">
                <a:tc>
                  <a:txBody>
                    <a:bodyPr/>
                    <a:lstStyle/>
                    <a:p>
                      <a:pPr marL="89535" marR="128905">
                        <a:lnSpc>
                          <a:spcPct val="100000"/>
                        </a:lnSpc>
                        <a:spcBef>
                          <a:spcPts val="310"/>
                        </a:spcBef>
                      </a:pPr>
                      <a:r>
                        <a:rPr sz="1400" b="1" spc="-10" dirty="0">
                          <a:latin typeface="Arial"/>
                          <a:cs typeface="Arial"/>
                        </a:rPr>
                        <a:t>Course Outcome </a:t>
                      </a:r>
                      <a:r>
                        <a:rPr sz="1400" b="1" spc="-50" dirty="0">
                          <a:latin typeface="Arial"/>
                          <a:cs typeface="Arial"/>
                        </a:rPr>
                        <a:t>s</a:t>
                      </a:r>
                      <a:endParaRPr sz="1400">
                        <a:latin typeface="Arial"/>
                        <a:cs typeface="Arial"/>
                      </a:endParaRPr>
                    </a:p>
                  </a:txBody>
                  <a:tcPr marL="0" marR="0" marT="3937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spcBef>
                          <a:spcPts val="380"/>
                        </a:spcBef>
                      </a:pPr>
                      <a:endParaRPr sz="1400">
                        <a:latin typeface="Times New Roman"/>
                        <a:cs typeface="Times New Roman"/>
                      </a:endParaRPr>
                    </a:p>
                    <a:p>
                      <a:pPr marL="89535">
                        <a:lnSpc>
                          <a:spcPct val="100000"/>
                        </a:lnSpc>
                      </a:pPr>
                      <a:r>
                        <a:rPr sz="1400" b="1" spc="-25" dirty="0">
                          <a:latin typeface="Arial"/>
                          <a:cs typeface="Arial"/>
                        </a:rPr>
                        <a:t>Po1</a:t>
                      </a:r>
                      <a:endParaRPr sz="1400">
                        <a:latin typeface="Arial"/>
                        <a:cs typeface="Arial"/>
                      </a:endParaRPr>
                    </a:p>
                  </a:txBody>
                  <a:tcPr marL="0" marR="0" marT="4826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marL="89535" marR="168910">
                        <a:lnSpc>
                          <a:spcPct val="100000"/>
                        </a:lnSpc>
                        <a:spcBef>
                          <a:spcPts val="1150"/>
                        </a:spcBef>
                      </a:pPr>
                      <a:r>
                        <a:rPr sz="1400" b="1" spc="-25" dirty="0">
                          <a:latin typeface="Arial"/>
                          <a:cs typeface="Arial"/>
                        </a:rPr>
                        <a:t>PO </a:t>
                      </a:r>
                      <a:r>
                        <a:rPr sz="1400" b="1" spc="-50" dirty="0">
                          <a:latin typeface="Arial"/>
                          <a:cs typeface="Arial"/>
                        </a:rPr>
                        <a:t>2</a:t>
                      </a:r>
                      <a:endParaRPr sz="1400">
                        <a:latin typeface="Arial"/>
                        <a:cs typeface="Arial"/>
                      </a:endParaRPr>
                    </a:p>
                  </a:txBody>
                  <a:tcPr marL="0" marR="0" marT="14605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spcBef>
                          <a:spcPts val="380"/>
                        </a:spcBef>
                      </a:pPr>
                      <a:endParaRPr sz="1400">
                        <a:latin typeface="Times New Roman"/>
                        <a:cs typeface="Times New Roman"/>
                      </a:endParaRPr>
                    </a:p>
                    <a:p>
                      <a:pPr marL="89535">
                        <a:lnSpc>
                          <a:spcPct val="100000"/>
                        </a:lnSpc>
                      </a:pPr>
                      <a:r>
                        <a:rPr sz="1400" b="1" spc="-25" dirty="0">
                          <a:latin typeface="Arial"/>
                          <a:cs typeface="Arial"/>
                        </a:rPr>
                        <a:t>PO3</a:t>
                      </a:r>
                      <a:endParaRPr sz="1400">
                        <a:latin typeface="Arial"/>
                        <a:cs typeface="Arial"/>
                      </a:endParaRPr>
                    </a:p>
                  </a:txBody>
                  <a:tcPr marL="0" marR="0" marT="4826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spcBef>
                          <a:spcPts val="380"/>
                        </a:spcBef>
                      </a:pPr>
                      <a:endParaRPr sz="1400">
                        <a:latin typeface="Times New Roman"/>
                        <a:cs typeface="Times New Roman"/>
                      </a:endParaRPr>
                    </a:p>
                    <a:p>
                      <a:pPr marL="89535">
                        <a:lnSpc>
                          <a:spcPct val="100000"/>
                        </a:lnSpc>
                      </a:pPr>
                      <a:r>
                        <a:rPr sz="1400" b="1" spc="-25" dirty="0">
                          <a:latin typeface="Arial"/>
                          <a:cs typeface="Arial"/>
                        </a:rPr>
                        <a:t>PO4</a:t>
                      </a:r>
                      <a:endParaRPr sz="1400">
                        <a:latin typeface="Arial"/>
                        <a:cs typeface="Arial"/>
                      </a:endParaRPr>
                    </a:p>
                  </a:txBody>
                  <a:tcPr marL="0" marR="0" marT="4826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spcBef>
                          <a:spcPts val="380"/>
                        </a:spcBef>
                      </a:pPr>
                      <a:endParaRPr sz="1400">
                        <a:latin typeface="Times New Roman"/>
                        <a:cs typeface="Times New Roman"/>
                      </a:endParaRPr>
                    </a:p>
                    <a:p>
                      <a:pPr marL="90170">
                        <a:lnSpc>
                          <a:spcPct val="100000"/>
                        </a:lnSpc>
                      </a:pPr>
                      <a:r>
                        <a:rPr sz="1400" b="1" spc="-25" dirty="0">
                          <a:latin typeface="Arial"/>
                          <a:cs typeface="Arial"/>
                        </a:rPr>
                        <a:t>PO5</a:t>
                      </a:r>
                      <a:endParaRPr sz="1400">
                        <a:latin typeface="Arial"/>
                        <a:cs typeface="Arial"/>
                      </a:endParaRPr>
                    </a:p>
                  </a:txBody>
                  <a:tcPr marL="0" marR="0" marT="4826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spcBef>
                          <a:spcPts val="380"/>
                        </a:spcBef>
                      </a:pPr>
                      <a:endParaRPr sz="1400">
                        <a:latin typeface="Times New Roman"/>
                        <a:cs typeface="Times New Roman"/>
                      </a:endParaRPr>
                    </a:p>
                    <a:p>
                      <a:pPr marL="90170">
                        <a:lnSpc>
                          <a:spcPct val="100000"/>
                        </a:lnSpc>
                      </a:pPr>
                      <a:r>
                        <a:rPr sz="1400" b="1" spc="-25" dirty="0">
                          <a:latin typeface="Arial"/>
                          <a:cs typeface="Arial"/>
                        </a:rPr>
                        <a:t>PO6</a:t>
                      </a:r>
                      <a:endParaRPr sz="1400">
                        <a:latin typeface="Arial"/>
                        <a:cs typeface="Arial"/>
                      </a:endParaRPr>
                    </a:p>
                  </a:txBody>
                  <a:tcPr marL="0" marR="0" marT="4826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spcBef>
                          <a:spcPts val="380"/>
                        </a:spcBef>
                      </a:pPr>
                      <a:endParaRPr sz="1400">
                        <a:latin typeface="Times New Roman"/>
                        <a:cs typeface="Times New Roman"/>
                      </a:endParaRPr>
                    </a:p>
                    <a:p>
                      <a:pPr marL="90170">
                        <a:lnSpc>
                          <a:spcPct val="100000"/>
                        </a:lnSpc>
                      </a:pPr>
                      <a:r>
                        <a:rPr sz="1400" b="1" spc="-25" dirty="0">
                          <a:latin typeface="Arial"/>
                          <a:cs typeface="Arial"/>
                        </a:rPr>
                        <a:t>PO7</a:t>
                      </a:r>
                      <a:endParaRPr sz="1400">
                        <a:latin typeface="Arial"/>
                        <a:cs typeface="Arial"/>
                      </a:endParaRPr>
                    </a:p>
                  </a:txBody>
                  <a:tcPr marL="0" marR="0" marT="4826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spcBef>
                          <a:spcPts val="380"/>
                        </a:spcBef>
                      </a:pPr>
                      <a:endParaRPr sz="1400">
                        <a:latin typeface="Times New Roman"/>
                        <a:cs typeface="Times New Roman"/>
                      </a:endParaRPr>
                    </a:p>
                    <a:p>
                      <a:pPr marL="90170">
                        <a:lnSpc>
                          <a:spcPct val="100000"/>
                        </a:lnSpc>
                      </a:pPr>
                      <a:r>
                        <a:rPr sz="1400" b="1" spc="-25" dirty="0">
                          <a:latin typeface="Arial"/>
                          <a:cs typeface="Arial"/>
                        </a:rPr>
                        <a:t>PO8</a:t>
                      </a:r>
                      <a:endParaRPr sz="1400">
                        <a:latin typeface="Arial"/>
                        <a:cs typeface="Arial"/>
                      </a:endParaRPr>
                    </a:p>
                  </a:txBody>
                  <a:tcPr marL="0" marR="0" marT="4826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spcBef>
                          <a:spcPts val="380"/>
                        </a:spcBef>
                      </a:pPr>
                      <a:endParaRPr sz="1400">
                        <a:latin typeface="Times New Roman"/>
                        <a:cs typeface="Times New Roman"/>
                      </a:endParaRPr>
                    </a:p>
                    <a:p>
                      <a:pPr marL="90170">
                        <a:lnSpc>
                          <a:spcPct val="100000"/>
                        </a:lnSpc>
                      </a:pPr>
                      <a:r>
                        <a:rPr sz="1400" b="1" spc="-25" dirty="0">
                          <a:latin typeface="Arial"/>
                          <a:cs typeface="Arial"/>
                        </a:rPr>
                        <a:t>PO9</a:t>
                      </a:r>
                      <a:endParaRPr sz="1400">
                        <a:latin typeface="Arial"/>
                        <a:cs typeface="Arial"/>
                      </a:endParaRPr>
                    </a:p>
                  </a:txBody>
                  <a:tcPr marL="0" marR="0" marT="4826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marL="90170" marR="94615">
                        <a:lnSpc>
                          <a:spcPct val="100000"/>
                        </a:lnSpc>
                        <a:spcBef>
                          <a:spcPts val="1150"/>
                        </a:spcBef>
                      </a:pPr>
                      <a:r>
                        <a:rPr sz="1400" b="1" spc="-25" dirty="0">
                          <a:latin typeface="Arial"/>
                          <a:cs typeface="Arial"/>
                        </a:rPr>
                        <a:t>PO1 </a:t>
                      </a:r>
                      <a:r>
                        <a:rPr sz="1400" b="1" spc="-50" dirty="0">
                          <a:latin typeface="Arial"/>
                          <a:cs typeface="Arial"/>
                        </a:rPr>
                        <a:t>0</a:t>
                      </a:r>
                      <a:endParaRPr sz="1400">
                        <a:latin typeface="Arial"/>
                        <a:cs typeface="Arial"/>
                      </a:endParaRPr>
                    </a:p>
                  </a:txBody>
                  <a:tcPr marL="0" marR="0" marT="14605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marL="90170" marR="94615">
                        <a:lnSpc>
                          <a:spcPct val="100000"/>
                        </a:lnSpc>
                        <a:spcBef>
                          <a:spcPts val="1150"/>
                        </a:spcBef>
                      </a:pPr>
                      <a:r>
                        <a:rPr sz="1400" b="1" spc="-25" dirty="0">
                          <a:latin typeface="Arial"/>
                          <a:cs typeface="Arial"/>
                        </a:rPr>
                        <a:t>PO1 </a:t>
                      </a:r>
                      <a:r>
                        <a:rPr sz="1400" b="1" spc="-50" dirty="0">
                          <a:latin typeface="Arial"/>
                          <a:cs typeface="Arial"/>
                        </a:rPr>
                        <a:t>1</a:t>
                      </a:r>
                      <a:endParaRPr sz="1400">
                        <a:latin typeface="Arial"/>
                        <a:cs typeface="Arial"/>
                      </a:endParaRPr>
                    </a:p>
                  </a:txBody>
                  <a:tcPr marL="0" marR="0" marT="14605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marL="90805" marR="94615">
                        <a:lnSpc>
                          <a:spcPct val="100000"/>
                        </a:lnSpc>
                        <a:spcBef>
                          <a:spcPts val="1150"/>
                        </a:spcBef>
                      </a:pPr>
                      <a:r>
                        <a:rPr sz="1400" b="1" spc="-25" dirty="0">
                          <a:latin typeface="Arial"/>
                          <a:cs typeface="Arial"/>
                        </a:rPr>
                        <a:t>PO1 </a:t>
                      </a:r>
                      <a:r>
                        <a:rPr sz="1400" b="1" spc="-50" dirty="0">
                          <a:latin typeface="Arial"/>
                          <a:cs typeface="Arial"/>
                        </a:rPr>
                        <a:t>2</a:t>
                      </a:r>
                      <a:endParaRPr sz="1400">
                        <a:latin typeface="Arial"/>
                        <a:cs typeface="Arial"/>
                      </a:endParaRPr>
                    </a:p>
                  </a:txBody>
                  <a:tcPr marL="0" marR="0" marT="14605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marL="90170" marR="213360">
                        <a:lnSpc>
                          <a:spcPct val="100000"/>
                        </a:lnSpc>
                        <a:spcBef>
                          <a:spcPts val="1150"/>
                        </a:spcBef>
                      </a:pPr>
                      <a:r>
                        <a:rPr sz="1400" b="1" spc="-25" dirty="0">
                          <a:latin typeface="Arial"/>
                          <a:cs typeface="Arial"/>
                        </a:rPr>
                        <a:t>PS O1</a:t>
                      </a:r>
                      <a:endParaRPr sz="1400">
                        <a:latin typeface="Arial"/>
                        <a:cs typeface="Arial"/>
                      </a:endParaRPr>
                    </a:p>
                  </a:txBody>
                  <a:tcPr marL="0" marR="0" marT="14605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marL="90805" marR="213995">
                        <a:lnSpc>
                          <a:spcPct val="100000"/>
                        </a:lnSpc>
                        <a:spcBef>
                          <a:spcPts val="1150"/>
                        </a:spcBef>
                      </a:pPr>
                      <a:r>
                        <a:rPr sz="1400" b="1" spc="-25" dirty="0">
                          <a:latin typeface="Arial"/>
                          <a:cs typeface="Arial"/>
                        </a:rPr>
                        <a:t>PS O2</a:t>
                      </a:r>
                      <a:endParaRPr sz="1400">
                        <a:latin typeface="Arial"/>
                        <a:cs typeface="Arial"/>
                      </a:endParaRPr>
                    </a:p>
                  </a:txBody>
                  <a:tcPr marL="0" marR="0" marT="14605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marL="90805" marR="213995">
                        <a:lnSpc>
                          <a:spcPct val="100000"/>
                        </a:lnSpc>
                        <a:spcBef>
                          <a:spcPts val="1150"/>
                        </a:spcBef>
                      </a:pPr>
                      <a:r>
                        <a:rPr sz="1400" b="1" spc="-25" dirty="0">
                          <a:latin typeface="Arial"/>
                          <a:cs typeface="Arial"/>
                        </a:rPr>
                        <a:t>PS O3</a:t>
                      </a:r>
                      <a:endParaRPr sz="1400">
                        <a:latin typeface="Arial"/>
                        <a:cs typeface="Arial"/>
                      </a:endParaRPr>
                    </a:p>
                  </a:txBody>
                  <a:tcPr marL="0" marR="0" marT="14605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r>
              <a:tr h="419100">
                <a:tc>
                  <a:txBody>
                    <a:bodyPr/>
                    <a:lstStyle/>
                    <a:p>
                      <a:pPr marL="89535">
                        <a:lnSpc>
                          <a:spcPct val="100000"/>
                        </a:lnSpc>
                        <a:spcBef>
                          <a:spcPts val="765"/>
                        </a:spcBef>
                      </a:pPr>
                      <a:r>
                        <a:rPr sz="1400" b="1" spc="-10" dirty="0">
                          <a:latin typeface="Arial"/>
                          <a:cs typeface="Arial"/>
                        </a:rPr>
                        <a:t>Mapping</a:t>
                      </a:r>
                      <a:endParaRPr sz="1400">
                        <a:latin typeface="Arial"/>
                        <a:cs typeface="Arial"/>
                      </a:endParaRPr>
                    </a:p>
                  </a:txBody>
                  <a:tcPr marL="0" marR="0" marT="97155"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c>
                  <a:txBody>
                    <a:bodyPr/>
                    <a:lstStyle/>
                    <a:p>
                      <a:pPr>
                        <a:lnSpc>
                          <a:spcPct val="100000"/>
                        </a:lnSpc>
                      </a:pPr>
                      <a:endParaRPr sz="1600">
                        <a:latin typeface="Times New Roman"/>
                        <a:cs typeface="Times New Roman"/>
                      </a:endParaRPr>
                    </a:p>
                  </a:txBody>
                  <a:tcPr marL="0" marR="0" marT="0" marB="0">
                    <a:lnL w="9525">
                      <a:solidFill>
                        <a:srgbClr val="4966AC"/>
                      </a:solidFill>
                      <a:prstDash val="solid"/>
                    </a:lnL>
                    <a:lnR w="9525">
                      <a:solidFill>
                        <a:srgbClr val="4966AC"/>
                      </a:solidFill>
                      <a:prstDash val="solid"/>
                    </a:lnR>
                    <a:lnT w="9525">
                      <a:solidFill>
                        <a:srgbClr val="4966AC"/>
                      </a:solidFill>
                      <a:prstDash val="solid"/>
                    </a:lnT>
                    <a:lnB w="9525">
                      <a:solidFill>
                        <a:srgbClr val="4966AC"/>
                      </a:solidFill>
                      <a:prstDash val="solid"/>
                    </a:lnB>
                  </a:tcPr>
                </a:tc>
              </a:tr>
            </a:tbl>
          </a:graphicData>
        </a:graphic>
      </p:graphicFrame>
      <p:pic>
        <p:nvPicPr>
          <p:cNvPr id="7" name="object 7"/>
          <p:cNvPicPr/>
          <p:nvPr/>
        </p:nvPicPr>
        <p:blipFill>
          <a:blip r:embed="rId3" cstate="print"/>
          <a:stretch>
            <a:fillRect/>
          </a:stretch>
        </p:blipFill>
        <p:spPr>
          <a:xfrm>
            <a:off x="2423160" y="1616963"/>
            <a:ext cx="442721" cy="374141"/>
          </a:xfrm>
          <a:prstGeom prst="rect">
            <a:avLst/>
          </a:prstGeom>
        </p:spPr>
      </p:pic>
      <p:pic>
        <p:nvPicPr>
          <p:cNvPr id="8" name="object 8"/>
          <p:cNvPicPr/>
          <p:nvPr/>
        </p:nvPicPr>
        <p:blipFill>
          <a:blip r:embed="rId4" cstate="print"/>
          <a:stretch>
            <a:fillRect/>
          </a:stretch>
        </p:blipFill>
        <p:spPr>
          <a:xfrm>
            <a:off x="2982467" y="1616963"/>
            <a:ext cx="442721" cy="374141"/>
          </a:xfrm>
          <a:prstGeom prst="rect">
            <a:avLst/>
          </a:prstGeom>
        </p:spPr>
      </p:pic>
      <p:pic>
        <p:nvPicPr>
          <p:cNvPr id="9" name="object 9"/>
          <p:cNvPicPr/>
          <p:nvPr/>
        </p:nvPicPr>
        <p:blipFill>
          <a:blip r:embed="rId3" cstate="print"/>
          <a:stretch>
            <a:fillRect/>
          </a:stretch>
        </p:blipFill>
        <p:spPr>
          <a:xfrm>
            <a:off x="3506723" y="1616963"/>
            <a:ext cx="442722" cy="374141"/>
          </a:xfrm>
          <a:prstGeom prst="rect">
            <a:avLst/>
          </a:prstGeom>
        </p:spPr>
      </p:pic>
      <p:pic>
        <p:nvPicPr>
          <p:cNvPr id="10" name="object 10"/>
          <p:cNvPicPr/>
          <p:nvPr/>
        </p:nvPicPr>
        <p:blipFill>
          <a:blip r:embed="rId4" cstate="print"/>
          <a:stretch>
            <a:fillRect/>
          </a:stretch>
        </p:blipFill>
        <p:spPr>
          <a:xfrm>
            <a:off x="4056888" y="1616963"/>
            <a:ext cx="442722" cy="374141"/>
          </a:xfrm>
          <a:prstGeom prst="rect">
            <a:avLst/>
          </a:prstGeom>
        </p:spPr>
      </p:pic>
      <p:pic>
        <p:nvPicPr>
          <p:cNvPr id="11" name="object 11"/>
          <p:cNvPicPr/>
          <p:nvPr/>
        </p:nvPicPr>
        <p:blipFill>
          <a:blip r:embed="rId5" cstate="print"/>
          <a:stretch>
            <a:fillRect/>
          </a:stretch>
        </p:blipFill>
        <p:spPr>
          <a:xfrm>
            <a:off x="4605528" y="1616963"/>
            <a:ext cx="442722" cy="374141"/>
          </a:xfrm>
          <a:prstGeom prst="rect">
            <a:avLst/>
          </a:prstGeom>
        </p:spPr>
      </p:pic>
      <p:grpSp>
        <p:nvGrpSpPr>
          <p:cNvPr id="12" name="object 12"/>
          <p:cNvGrpSpPr/>
          <p:nvPr/>
        </p:nvGrpSpPr>
        <p:grpSpPr>
          <a:xfrm>
            <a:off x="5155691" y="1616963"/>
            <a:ext cx="5389880" cy="374650"/>
            <a:chOff x="5155691" y="1616963"/>
            <a:chExt cx="5389880" cy="374650"/>
          </a:xfrm>
        </p:grpSpPr>
        <p:pic>
          <p:nvPicPr>
            <p:cNvPr id="13" name="object 13"/>
            <p:cNvPicPr/>
            <p:nvPr/>
          </p:nvPicPr>
          <p:blipFill>
            <a:blip r:embed="rId6" cstate="print"/>
            <a:stretch>
              <a:fillRect/>
            </a:stretch>
          </p:blipFill>
          <p:spPr>
            <a:xfrm>
              <a:off x="5155691" y="1616963"/>
              <a:ext cx="442722" cy="374141"/>
            </a:xfrm>
            <a:prstGeom prst="rect">
              <a:avLst/>
            </a:prstGeom>
          </p:spPr>
        </p:pic>
        <p:pic>
          <p:nvPicPr>
            <p:cNvPr id="14" name="object 14"/>
            <p:cNvPicPr/>
            <p:nvPr/>
          </p:nvPicPr>
          <p:blipFill>
            <a:blip r:embed="rId4" cstate="print"/>
            <a:stretch>
              <a:fillRect/>
            </a:stretch>
          </p:blipFill>
          <p:spPr>
            <a:xfrm>
              <a:off x="5705855" y="1616963"/>
              <a:ext cx="442722" cy="374141"/>
            </a:xfrm>
            <a:prstGeom prst="rect">
              <a:avLst/>
            </a:prstGeom>
          </p:spPr>
        </p:pic>
        <p:pic>
          <p:nvPicPr>
            <p:cNvPr id="15" name="object 15"/>
            <p:cNvPicPr/>
            <p:nvPr/>
          </p:nvPicPr>
          <p:blipFill>
            <a:blip r:embed="rId5" cstate="print"/>
            <a:stretch>
              <a:fillRect/>
            </a:stretch>
          </p:blipFill>
          <p:spPr>
            <a:xfrm>
              <a:off x="6254495" y="1616963"/>
              <a:ext cx="442722" cy="374141"/>
            </a:xfrm>
            <a:prstGeom prst="rect">
              <a:avLst/>
            </a:prstGeom>
          </p:spPr>
        </p:pic>
        <p:pic>
          <p:nvPicPr>
            <p:cNvPr id="16" name="object 16"/>
            <p:cNvPicPr/>
            <p:nvPr/>
          </p:nvPicPr>
          <p:blipFill>
            <a:blip r:embed="rId6" cstate="print"/>
            <a:stretch>
              <a:fillRect/>
            </a:stretch>
          </p:blipFill>
          <p:spPr>
            <a:xfrm>
              <a:off x="6804659" y="1616963"/>
              <a:ext cx="442722" cy="374141"/>
            </a:xfrm>
            <a:prstGeom prst="rect">
              <a:avLst/>
            </a:prstGeom>
          </p:spPr>
        </p:pic>
        <p:pic>
          <p:nvPicPr>
            <p:cNvPr id="17" name="object 17"/>
            <p:cNvPicPr/>
            <p:nvPr/>
          </p:nvPicPr>
          <p:blipFill>
            <a:blip r:embed="rId3" cstate="print"/>
            <a:stretch>
              <a:fillRect/>
            </a:stretch>
          </p:blipFill>
          <p:spPr>
            <a:xfrm>
              <a:off x="7354823" y="1616963"/>
              <a:ext cx="442721" cy="374141"/>
            </a:xfrm>
            <a:prstGeom prst="rect">
              <a:avLst/>
            </a:prstGeom>
          </p:spPr>
        </p:pic>
        <p:pic>
          <p:nvPicPr>
            <p:cNvPr id="18" name="object 18"/>
            <p:cNvPicPr/>
            <p:nvPr/>
          </p:nvPicPr>
          <p:blipFill>
            <a:blip r:embed="rId7" cstate="print"/>
            <a:stretch>
              <a:fillRect/>
            </a:stretch>
          </p:blipFill>
          <p:spPr>
            <a:xfrm>
              <a:off x="7904987" y="1616963"/>
              <a:ext cx="441197" cy="374141"/>
            </a:xfrm>
            <a:prstGeom prst="rect">
              <a:avLst/>
            </a:prstGeom>
          </p:spPr>
        </p:pic>
        <p:pic>
          <p:nvPicPr>
            <p:cNvPr id="19" name="object 19"/>
            <p:cNvPicPr/>
            <p:nvPr/>
          </p:nvPicPr>
          <p:blipFill>
            <a:blip r:embed="rId3" cstate="print"/>
            <a:stretch>
              <a:fillRect/>
            </a:stretch>
          </p:blipFill>
          <p:spPr>
            <a:xfrm>
              <a:off x="9003791" y="1616963"/>
              <a:ext cx="442721" cy="374141"/>
            </a:xfrm>
            <a:prstGeom prst="rect">
              <a:avLst/>
            </a:prstGeom>
          </p:spPr>
        </p:pic>
        <p:pic>
          <p:nvPicPr>
            <p:cNvPr id="20" name="object 20"/>
            <p:cNvPicPr/>
            <p:nvPr/>
          </p:nvPicPr>
          <p:blipFill>
            <a:blip r:embed="rId7" cstate="print"/>
            <a:stretch>
              <a:fillRect/>
            </a:stretch>
          </p:blipFill>
          <p:spPr>
            <a:xfrm>
              <a:off x="9553955" y="1616963"/>
              <a:ext cx="441198" cy="374141"/>
            </a:xfrm>
            <a:prstGeom prst="rect">
              <a:avLst/>
            </a:prstGeom>
          </p:spPr>
        </p:pic>
        <p:pic>
          <p:nvPicPr>
            <p:cNvPr id="21" name="object 21"/>
            <p:cNvPicPr/>
            <p:nvPr/>
          </p:nvPicPr>
          <p:blipFill>
            <a:blip r:embed="rId5" cstate="print"/>
            <a:stretch>
              <a:fillRect/>
            </a:stretch>
          </p:blipFill>
          <p:spPr>
            <a:xfrm>
              <a:off x="10102595" y="1616963"/>
              <a:ext cx="442721" cy="374141"/>
            </a:xfrm>
            <a:prstGeom prst="rect">
              <a:avLst/>
            </a:prstGeom>
          </p:spPr>
        </p:pic>
      </p:grpSp>
      <p:pic>
        <p:nvPicPr>
          <p:cNvPr id="22" name="object 22"/>
          <p:cNvPicPr/>
          <p:nvPr/>
        </p:nvPicPr>
        <p:blipFill>
          <a:blip r:embed="rId8" cstate="print"/>
          <a:stretch>
            <a:fillRect/>
          </a:stretch>
        </p:blipFill>
        <p:spPr>
          <a:xfrm>
            <a:off x="311962" y="362099"/>
            <a:ext cx="944525" cy="640691"/>
          </a:xfrm>
          <a:prstGeom prst="rect">
            <a:avLst/>
          </a:prstGeom>
        </p:spPr>
      </p:pic>
      <p:pic>
        <p:nvPicPr>
          <p:cNvPr id="23" name="object 23"/>
          <p:cNvPicPr/>
          <p:nvPr/>
        </p:nvPicPr>
        <p:blipFill>
          <a:blip r:embed="rId9" cstate="print"/>
          <a:stretch>
            <a:fillRect/>
          </a:stretch>
        </p:blipFill>
        <p:spPr>
          <a:xfrm>
            <a:off x="11118088" y="63"/>
            <a:ext cx="928687" cy="1148524"/>
          </a:xfrm>
          <a:prstGeom prst="rect">
            <a:avLst/>
          </a:prstGeom>
        </p:spPr>
      </p:pic>
      <p:sp>
        <p:nvSpPr>
          <p:cNvPr id="24" name="object 24"/>
          <p:cNvSpPr txBox="1"/>
          <p:nvPr/>
        </p:nvSpPr>
        <p:spPr>
          <a:xfrm>
            <a:off x="1027887" y="2052319"/>
            <a:ext cx="756920" cy="269240"/>
          </a:xfrm>
          <a:prstGeom prst="rect">
            <a:avLst/>
          </a:prstGeom>
        </p:spPr>
        <p:txBody>
          <a:bodyPr vert="horz" wrap="square" lIns="0" tIns="12065" rIns="0" bIns="0" rtlCol="0">
            <a:spAutoFit/>
          </a:bodyPr>
          <a:lstStyle/>
          <a:p>
            <a:pPr marL="12700">
              <a:lnSpc>
                <a:spcPct val="100000"/>
              </a:lnSpc>
              <a:spcBef>
                <a:spcPts val="95"/>
              </a:spcBef>
            </a:pPr>
            <a:r>
              <a:rPr sz="1600" b="1" spc="-10" dirty="0">
                <a:latin typeface="Times New Roman"/>
                <a:cs typeface="Times New Roman"/>
              </a:rPr>
              <a:t>PO/PSO</a:t>
            </a:r>
            <a:endParaRPr sz="1600">
              <a:latin typeface="Times New Roman"/>
              <a:cs typeface="Times New Roman"/>
            </a:endParaRPr>
          </a:p>
        </p:txBody>
      </p:sp>
      <p:sp>
        <p:nvSpPr>
          <p:cNvPr id="25" name="object 25"/>
          <p:cNvSpPr txBox="1"/>
          <p:nvPr/>
        </p:nvSpPr>
        <p:spPr>
          <a:xfrm>
            <a:off x="1027887" y="2703067"/>
            <a:ext cx="269748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PO1</a:t>
            </a:r>
            <a:r>
              <a:rPr sz="1600" b="1" spc="-20" dirty="0">
                <a:latin typeface="Times New Roman"/>
                <a:cs typeface="Times New Roman"/>
              </a:rPr>
              <a:t> </a:t>
            </a:r>
            <a:r>
              <a:rPr sz="1600" b="1" dirty="0">
                <a:latin typeface="Times New Roman"/>
                <a:cs typeface="Times New Roman"/>
              </a:rPr>
              <a:t>–</a:t>
            </a:r>
            <a:r>
              <a:rPr sz="1600" b="1" spc="-35" dirty="0">
                <a:latin typeface="Times New Roman"/>
                <a:cs typeface="Times New Roman"/>
              </a:rPr>
              <a:t> </a:t>
            </a:r>
            <a:r>
              <a:rPr sz="1600" b="1" dirty="0">
                <a:latin typeface="Times New Roman"/>
                <a:cs typeface="Times New Roman"/>
              </a:rPr>
              <a:t>Engineering</a:t>
            </a:r>
            <a:r>
              <a:rPr sz="1600" b="1" spc="-10" dirty="0">
                <a:latin typeface="Times New Roman"/>
                <a:cs typeface="Times New Roman"/>
              </a:rPr>
              <a:t> Knowledge</a:t>
            </a:r>
            <a:endParaRPr sz="1600">
              <a:latin typeface="Times New Roman"/>
              <a:cs typeface="Times New Roman"/>
            </a:endParaRPr>
          </a:p>
        </p:txBody>
      </p:sp>
      <p:pic>
        <p:nvPicPr>
          <p:cNvPr id="26" name="object 26"/>
          <p:cNvPicPr/>
          <p:nvPr/>
        </p:nvPicPr>
        <p:blipFill>
          <a:blip r:embed="rId10" cstate="print"/>
          <a:stretch>
            <a:fillRect/>
          </a:stretch>
        </p:blipFill>
        <p:spPr>
          <a:xfrm>
            <a:off x="5449823" y="2414016"/>
            <a:ext cx="442722" cy="427481"/>
          </a:xfrm>
          <a:prstGeom prst="rect">
            <a:avLst/>
          </a:prstGeom>
        </p:spPr>
      </p:pic>
      <p:sp>
        <p:nvSpPr>
          <p:cNvPr id="27" name="object 27"/>
          <p:cNvSpPr txBox="1"/>
          <p:nvPr/>
        </p:nvSpPr>
        <p:spPr>
          <a:xfrm>
            <a:off x="1027887" y="3457447"/>
            <a:ext cx="214249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PO2</a:t>
            </a:r>
            <a:r>
              <a:rPr sz="1600" b="1" spc="-25" dirty="0">
                <a:latin typeface="Times New Roman"/>
                <a:cs typeface="Times New Roman"/>
              </a:rPr>
              <a:t> </a:t>
            </a:r>
            <a:r>
              <a:rPr sz="1600" b="1" dirty="0">
                <a:latin typeface="Times New Roman"/>
                <a:cs typeface="Times New Roman"/>
              </a:rPr>
              <a:t>–</a:t>
            </a:r>
            <a:r>
              <a:rPr sz="1600" b="1" spc="-35" dirty="0">
                <a:latin typeface="Times New Roman"/>
                <a:cs typeface="Times New Roman"/>
              </a:rPr>
              <a:t> </a:t>
            </a:r>
            <a:r>
              <a:rPr sz="1600" b="1" dirty="0">
                <a:latin typeface="Times New Roman"/>
                <a:cs typeface="Times New Roman"/>
              </a:rPr>
              <a:t>Problem</a:t>
            </a:r>
            <a:r>
              <a:rPr sz="1600" b="1" spc="-15" dirty="0">
                <a:latin typeface="Times New Roman"/>
                <a:cs typeface="Times New Roman"/>
              </a:rPr>
              <a:t> </a:t>
            </a:r>
            <a:r>
              <a:rPr sz="1600" b="1" spc="-10" dirty="0">
                <a:latin typeface="Times New Roman"/>
                <a:cs typeface="Times New Roman"/>
              </a:rPr>
              <a:t>Analysis</a:t>
            </a:r>
            <a:endParaRPr sz="1600">
              <a:latin typeface="Times New Roman"/>
              <a:cs typeface="Times New Roman"/>
            </a:endParaRPr>
          </a:p>
        </p:txBody>
      </p:sp>
      <p:pic>
        <p:nvPicPr>
          <p:cNvPr id="28" name="object 28"/>
          <p:cNvPicPr/>
          <p:nvPr/>
        </p:nvPicPr>
        <p:blipFill>
          <a:blip r:embed="rId11" cstate="print"/>
          <a:stretch>
            <a:fillRect/>
          </a:stretch>
        </p:blipFill>
        <p:spPr>
          <a:xfrm>
            <a:off x="5531978" y="3377651"/>
            <a:ext cx="200822" cy="202249"/>
          </a:xfrm>
          <a:prstGeom prst="rect">
            <a:avLst/>
          </a:prstGeom>
        </p:spPr>
      </p:pic>
      <p:sp>
        <p:nvSpPr>
          <p:cNvPr id="29" name="object 29"/>
          <p:cNvSpPr txBox="1"/>
          <p:nvPr/>
        </p:nvSpPr>
        <p:spPr>
          <a:xfrm>
            <a:off x="1027887" y="4211828"/>
            <a:ext cx="3469004"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PO3 –</a:t>
            </a:r>
            <a:r>
              <a:rPr sz="1600" b="1" spc="-10" dirty="0">
                <a:latin typeface="Times New Roman"/>
                <a:cs typeface="Times New Roman"/>
              </a:rPr>
              <a:t> Design/Development</a:t>
            </a:r>
            <a:r>
              <a:rPr sz="1600" b="1" spc="45" dirty="0">
                <a:latin typeface="Times New Roman"/>
                <a:cs typeface="Times New Roman"/>
              </a:rPr>
              <a:t> </a:t>
            </a:r>
            <a:r>
              <a:rPr sz="1600" b="1" dirty="0">
                <a:latin typeface="Times New Roman"/>
                <a:cs typeface="Times New Roman"/>
              </a:rPr>
              <a:t>of</a:t>
            </a:r>
            <a:r>
              <a:rPr sz="1600" b="1" spc="-20" dirty="0">
                <a:latin typeface="Times New Roman"/>
                <a:cs typeface="Times New Roman"/>
              </a:rPr>
              <a:t> </a:t>
            </a:r>
            <a:r>
              <a:rPr sz="1600" b="1" spc="-10" dirty="0">
                <a:latin typeface="Times New Roman"/>
                <a:cs typeface="Times New Roman"/>
              </a:rPr>
              <a:t>Solutions</a:t>
            </a:r>
            <a:endParaRPr sz="1600">
              <a:latin typeface="Times New Roman"/>
              <a:cs typeface="Times New Roman"/>
            </a:endParaRPr>
          </a:p>
        </p:txBody>
      </p:sp>
      <p:pic>
        <p:nvPicPr>
          <p:cNvPr id="30" name="object 30"/>
          <p:cNvPicPr/>
          <p:nvPr/>
        </p:nvPicPr>
        <p:blipFill>
          <a:blip r:embed="rId12" cstate="print"/>
          <a:stretch>
            <a:fillRect/>
          </a:stretch>
        </p:blipFill>
        <p:spPr>
          <a:xfrm>
            <a:off x="5531978" y="4010111"/>
            <a:ext cx="200822" cy="202249"/>
          </a:xfrm>
          <a:prstGeom prst="rect">
            <a:avLst/>
          </a:prstGeom>
        </p:spPr>
      </p:pic>
      <p:sp>
        <p:nvSpPr>
          <p:cNvPr id="31" name="object 31"/>
          <p:cNvSpPr txBox="1"/>
          <p:nvPr/>
        </p:nvSpPr>
        <p:spPr>
          <a:xfrm>
            <a:off x="1027887" y="4843983"/>
            <a:ext cx="3665220" cy="51308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PO4</a:t>
            </a:r>
            <a:r>
              <a:rPr sz="1600" b="1" spc="-30" dirty="0">
                <a:latin typeface="Times New Roman"/>
                <a:cs typeface="Times New Roman"/>
              </a:rPr>
              <a:t> </a:t>
            </a:r>
            <a:r>
              <a:rPr sz="1600" b="1" dirty="0">
                <a:latin typeface="Times New Roman"/>
                <a:cs typeface="Times New Roman"/>
              </a:rPr>
              <a:t>–</a:t>
            </a:r>
            <a:r>
              <a:rPr sz="1600" b="1" spc="-35" dirty="0">
                <a:latin typeface="Times New Roman"/>
                <a:cs typeface="Times New Roman"/>
              </a:rPr>
              <a:t> </a:t>
            </a:r>
            <a:r>
              <a:rPr sz="1600" b="1" dirty="0">
                <a:latin typeface="Times New Roman"/>
                <a:cs typeface="Times New Roman"/>
              </a:rPr>
              <a:t>Conduct</a:t>
            </a:r>
            <a:r>
              <a:rPr sz="1600" b="1" spc="-35" dirty="0">
                <a:latin typeface="Times New Roman"/>
                <a:cs typeface="Times New Roman"/>
              </a:rPr>
              <a:t> </a:t>
            </a:r>
            <a:r>
              <a:rPr sz="1600" b="1" dirty="0">
                <a:latin typeface="Times New Roman"/>
                <a:cs typeface="Times New Roman"/>
              </a:rPr>
              <a:t>Investigations</a:t>
            </a:r>
            <a:r>
              <a:rPr sz="1600" b="1" spc="-20" dirty="0">
                <a:latin typeface="Times New Roman"/>
                <a:cs typeface="Times New Roman"/>
              </a:rPr>
              <a:t> </a:t>
            </a:r>
            <a:r>
              <a:rPr sz="1600" b="1" dirty="0">
                <a:latin typeface="Times New Roman"/>
                <a:cs typeface="Times New Roman"/>
              </a:rPr>
              <a:t>of</a:t>
            </a:r>
            <a:r>
              <a:rPr sz="1600" b="1" spc="-40" dirty="0">
                <a:latin typeface="Times New Roman"/>
                <a:cs typeface="Times New Roman"/>
              </a:rPr>
              <a:t> </a:t>
            </a:r>
            <a:r>
              <a:rPr sz="1600" b="1" spc="-10" dirty="0">
                <a:latin typeface="Times New Roman"/>
                <a:cs typeface="Times New Roman"/>
              </a:rPr>
              <a:t>Complex</a:t>
            </a:r>
            <a:endParaRPr sz="1600">
              <a:latin typeface="Times New Roman"/>
              <a:cs typeface="Times New Roman"/>
            </a:endParaRPr>
          </a:p>
          <a:p>
            <a:pPr marL="12700">
              <a:lnSpc>
                <a:spcPct val="100000"/>
              </a:lnSpc>
              <a:spcBef>
                <a:spcPts val="5"/>
              </a:spcBef>
            </a:pPr>
            <a:r>
              <a:rPr sz="1600" b="1" spc="-10" dirty="0">
                <a:latin typeface="Times New Roman"/>
                <a:cs typeface="Times New Roman"/>
              </a:rPr>
              <a:t>Problems</a:t>
            </a:r>
            <a:endParaRPr sz="1600">
              <a:latin typeface="Times New Roman"/>
              <a:cs typeface="Times New Roman"/>
            </a:endParaRPr>
          </a:p>
        </p:txBody>
      </p:sp>
      <p:pic>
        <p:nvPicPr>
          <p:cNvPr id="32" name="object 32"/>
          <p:cNvPicPr/>
          <p:nvPr/>
        </p:nvPicPr>
        <p:blipFill>
          <a:blip r:embed="rId12" cstate="print"/>
          <a:stretch>
            <a:fillRect/>
          </a:stretch>
        </p:blipFill>
        <p:spPr>
          <a:xfrm>
            <a:off x="5531978" y="4886411"/>
            <a:ext cx="200822" cy="202249"/>
          </a:xfrm>
          <a:prstGeom prst="rect">
            <a:avLst/>
          </a:prstGeom>
        </p:spPr>
      </p:pic>
      <p:sp>
        <p:nvSpPr>
          <p:cNvPr id="33" name="object 33"/>
          <p:cNvSpPr txBox="1"/>
          <p:nvPr/>
        </p:nvSpPr>
        <p:spPr>
          <a:xfrm>
            <a:off x="1027887" y="5720892"/>
            <a:ext cx="2689860" cy="269240"/>
          </a:xfrm>
          <a:prstGeom prst="rect">
            <a:avLst/>
          </a:prstGeom>
        </p:spPr>
        <p:txBody>
          <a:bodyPr vert="horz" wrap="square" lIns="0" tIns="12065" rIns="0" bIns="0" rtlCol="0">
            <a:spAutoFit/>
          </a:bodyPr>
          <a:lstStyle/>
          <a:p>
            <a:pPr marL="12700">
              <a:lnSpc>
                <a:spcPct val="100000"/>
              </a:lnSpc>
              <a:spcBef>
                <a:spcPts val="95"/>
              </a:spcBef>
            </a:pPr>
            <a:r>
              <a:rPr sz="1600" b="1" dirty="0">
                <a:latin typeface="Times New Roman"/>
                <a:cs typeface="Times New Roman"/>
              </a:rPr>
              <a:t>PO5</a:t>
            </a:r>
            <a:r>
              <a:rPr sz="1600" b="1" spc="-15" dirty="0">
                <a:latin typeface="Times New Roman"/>
                <a:cs typeface="Times New Roman"/>
              </a:rPr>
              <a:t> </a:t>
            </a:r>
            <a:r>
              <a:rPr sz="1600" b="1" dirty="0">
                <a:latin typeface="Times New Roman"/>
                <a:cs typeface="Times New Roman"/>
              </a:rPr>
              <a:t>–</a:t>
            </a:r>
            <a:r>
              <a:rPr sz="1600" b="1" spc="-30" dirty="0">
                <a:latin typeface="Times New Roman"/>
                <a:cs typeface="Times New Roman"/>
              </a:rPr>
              <a:t> </a:t>
            </a:r>
            <a:r>
              <a:rPr sz="1600" b="1" dirty="0">
                <a:latin typeface="Times New Roman"/>
                <a:cs typeface="Times New Roman"/>
              </a:rPr>
              <a:t>Engineering</a:t>
            </a:r>
            <a:r>
              <a:rPr sz="1600" b="1" spc="-10" dirty="0">
                <a:latin typeface="Times New Roman"/>
                <a:cs typeface="Times New Roman"/>
              </a:rPr>
              <a:t> </a:t>
            </a:r>
            <a:r>
              <a:rPr sz="1600" b="1" dirty="0">
                <a:latin typeface="Times New Roman"/>
                <a:cs typeface="Times New Roman"/>
              </a:rPr>
              <a:t>Tool</a:t>
            </a:r>
            <a:r>
              <a:rPr sz="1600" b="1" spc="-45" dirty="0">
                <a:latin typeface="Times New Roman"/>
                <a:cs typeface="Times New Roman"/>
              </a:rPr>
              <a:t> </a:t>
            </a:r>
            <a:r>
              <a:rPr sz="1600" b="1" spc="-20" dirty="0">
                <a:latin typeface="Times New Roman"/>
                <a:cs typeface="Times New Roman"/>
              </a:rPr>
              <a:t>Usage</a:t>
            </a:r>
            <a:endParaRPr sz="1600">
              <a:latin typeface="Times New Roman"/>
              <a:cs typeface="Times New Roman"/>
            </a:endParaRPr>
          </a:p>
        </p:txBody>
      </p:sp>
      <p:pic>
        <p:nvPicPr>
          <p:cNvPr id="34" name="object 34"/>
          <p:cNvPicPr/>
          <p:nvPr/>
        </p:nvPicPr>
        <p:blipFill>
          <a:blip r:embed="rId12" cstate="print"/>
          <a:stretch>
            <a:fillRect/>
          </a:stretch>
        </p:blipFill>
        <p:spPr>
          <a:xfrm>
            <a:off x="5531978" y="5518870"/>
            <a:ext cx="200822" cy="202249"/>
          </a:xfrm>
          <a:prstGeom prst="rect">
            <a:avLst/>
          </a:prstGeom>
        </p:spPr>
      </p:pic>
      <p:sp>
        <p:nvSpPr>
          <p:cNvPr id="35" name="object 35"/>
          <p:cNvSpPr txBox="1"/>
          <p:nvPr/>
        </p:nvSpPr>
        <p:spPr>
          <a:xfrm>
            <a:off x="5480050" y="1930399"/>
            <a:ext cx="6268085" cy="4697095"/>
          </a:xfrm>
          <a:prstGeom prst="rect">
            <a:avLst/>
          </a:prstGeom>
        </p:spPr>
        <p:txBody>
          <a:bodyPr vert="horz" wrap="square" lIns="0" tIns="12065" rIns="0" bIns="0" rtlCol="0">
            <a:spAutoFit/>
          </a:bodyPr>
          <a:lstStyle/>
          <a:p>
            <a:pPr marL="12700" marR="375285">
              <a:lnSpc>
                <a:spcPct val="100000"/>
              </a:lnSpc>
              <a:spcBef>
                <a:spcPts val="95"/>
              </a:spcBef>
            </a:pPr>
            <a:r>
              <a:rPr sz="1600" b="1" dirty="0">
                <a:latin typeface="Times New Roman"/>
                <a:cs typeface="Times New Roman"/>
              </a:rPr>
              <a:t>Relevance</a:t>
            </a:r>
            <a:r>
              <a:rPr sz="1600" b="1" spc="-45" dirty="0">
                <a:latin typeface="Times New Roman"/>
                <a:cs typeface="Times New Roman"/>
              </a:rPr>
              <a:t> </a:t>
            </a:r>
            <a:r>
              <a:rPr sz="1600" b="1" dirty="0">
                <a:latin typeface="Times New Roman"/>
                <a:cs typeface="Times New Roman"/>
              </a:rPr>
              <a:t>to</a:t>
            </a:r>
            <a:r>
              <a:rPr sz="1600" b="1" spc="-35" dirty="0">
                <a:latin typeface="Times New Roman"/>
                <a:cs typeface="Times New Roman"/>
              </a:rPr>
              <a:t> </a:t>
            </a:r>
            <a:r>
              <a:rPr sz="1600" b="1" dirty="0">
                <a:latin typeface="Times New Roman"/>
                <a:cs typeface="Times New Roman"/>
              </a:rPr>
              <a:t>the</a:t>
            </a:r>
            <a:r>
              <a:rPr sz="1600" b="1" spc="-25" dirty="0">
                <a:latin typeface="Times New Roman"/>
                <a:cs typeface="Times New Roman"/>
              </a:rPr>
              <a:t> </a:t>
            </a:r>
            <a:r>
              <a:rPr sz="1600" b="1" dirty="0">
                <a:latin typeface="Times New Roman"/>
                <a:cs typeface="Times New Roman"/>
              </a:rPr>
              <a:t>Project</a:t>
            </a:r>
            <a:r>
              <a:rPr sz="1600" b="1" spc="-20" dirty="0">
                <a:latin typeface="Times New Roman"/>
                <a:cs typeface="Times New Roman"/>
              </a:rPr>
              <a:t> </a:t>
            </a:r>
            <a:r>
              <a:rPr sz="1600" b="1" dirty="0">
                <a:latin typeface="Times New Roman"/>
                <a:cs typeface="Times New Roman"/>
              </a:rPr>
              <a:t>(Automated</a:t>
            </a:r>
            <a:r>
              <a:rPr sz="1600" b="1" spc="-10" dirty="0">
                <a:latin typeface="Times New Roman"/>
                <a:cs typeface="Times New Roman"/>
              </a:rPr>
              <a:t> </a:t>
            </a:r>
            <a:r>
              <a:rPr sz="1600" b="1" dirty="0">
                <a:latin typeface="Times New Roman"/>
                <a:cs typeface="Times New Roman"/>
              </a:rPr>
              <a:t>Speed</a:t>
            </a:r>
            <a:r>
              <a:rPr sz="1600" b="1" spc="-35" dirty="0">
                <a:latin typeface="Times New Roman"/>
                <a:cs typeface="Times New Roman"/>
              </a:rPr>
              <a:t> </a:t>
            </a:r>
            <a:r>
              <a:rPr sz="1600" b="1" dirty="0">
                <a:latin typeface="Times New Roman"/>
                <a:cs typeface="Times New Roman"/>
              </a:rPr>
              <a:t>Breaker</a:t>
            </a:r>
            <a:r>
              <a:rPr sz="1600" b="1" spc="-30" dirty="0">
                <a:latin typeface="Times New Roman"/>
                <a:cs typeface="Times New Roman"/>
              </a:rPr>
              <a:t> </a:t>
            </a:r>
            <a:r>
              <a:rPr sz="1600" b="1" dirty="0">
                <a:latin typeface="Times New Roman"/>
                <a:cs typeface="Times New Roman"/>
              </a:rPr>
              <a:t>Activation</a:t>
            </a:r>
            <a:r>
              <a:rPr sz="1600" b="1" spc="-25" dirty="0">
                <a:latin typeface="Times New Roman"/>
                <a:cs typeface="Times New Roman"/>
              </a:rPr>
              <a:t> and </a:t>
            </a:r>
            <a:r>
              <a:rPr sz="1600" b="1" dirty="0">
                <a:latin typeface="Times New Roman"/>
                <a:cs typeface="Times New Roman"/>
              </a:rPr>
              <a:t>Deactivation</a:t>
            </a:r>
            <a:r>
              <a:rPr sz="1600" b="1" spc="-15" dirty="0">
                <a:latin typeface="Times New Roman"/>
                <a:cs typeface="Times New Roman"/>
              </a:rPr>
              <a:t> </a:t>
            </a:r>
            <a:r>
              <a:rPr sz="1600" b="1" dirty="0">
                <a:latin typeface="Times New Roman"/>
                <a:cs typeface="Times New Roman"/>
              </a:rPr>
              <a:t>on</a:t>
            </a:r>
            <a:r>
              <a:rPr sz="1600" b="1" spc="-35" dirty="0">
                <a:latin typeface="Times New Roman"/>
                <a:cs typeface="Times New Roman"/>
              </a:rPr>
              <a:t> </a:t>
            </a:r>
            <a:r>
              <a:rPr sz="1600" b="1" dirty="0">
                <a:latin typeface="Times New Roman"/>
                <a:cs typeface="Times New Roman"/>
              </a:rPr>
              <a:t>People</a:t>
            </a:r>
            <a:r>
              <a:rPr sz="1600" b="1" spc="-10" dirty="0">
                <a:latin typeface="Times New Roman"/>
                <a:cs typeface="Times New Roman"/>
              </a:rPr>
              <a:t> </a:t>
            </a:r>
            <a:r>
              <a:rPr sz="1600" b="1" dirty="0">
                <a:latin typeface="Times New Roman"/>
                <a:cs typeface="Times New Roman"/>
              </a:rPr>
              <a:t>analysis</a:t>
            </a:r>
            <a:r>
              <a:rPr sz="1600" b="1" spc="335" dirty="0">
                <a:latin typeface="Times New Roman"/>
                <a:cs typeface="Times New Roman"/>
              </a:rPr>
              <a:t> </a:t>
            </a:r>
            <a:r>
              <a:rPr sz="1600" b="1" spc="-50" dirty="0">
                <a:latin typeface="Times New Roman"/>
                <a:cs typeface="Times New Roman"/>
              </a:rPr>
              <a:t>)</a:t>
            </a:r>
            <a:endParaRPr sz="1600">
              <a:latin typeface="Times New Roman"/>
              <a:cs typeface="Times New Roman"/>
            </a:endParaRPr>
          </a:p>
          <a:p>
            <a:pPr marL="12700" marR="247650" indent="330835">
              <a:lnSpc>
                <a:spcPct val="100000"/>
              </a:lnSpc>
              <a:spcBef>
                <a:spcPts val="325"/>
              </a:spcBef>
            </a:pPr>
            <a:r>
              <a:rPr sz="1600" dirty="0">
                <a:latin typeface="Times New Roman"/>
                <a:cs typeface="Times New Roman"/>
              </a:rPr>
              <a:t>Mapped</a:t>
            </a:r>
            <a:r>
              <a:rPr sz="1600" spc="-50" dirty="0">
                <a:latin typeface="Times New Roman"/>
                <a:cs typeface="Times New Roman"/>
              </a:rPr>
              <a:t> </a:t>
            </a:r>
            <a:r>
              <a:rPr sz="1600" dirty="0">
                <a:latin typeface="Times New Roman"/>
                <a:cs typeface="Times New Roman"/>
              </a:rPr>
              <a:t>–</a:t>
            </a:r>
            <a:r>
              <a:rPr sz="1600" spc="-45" dirty="0">
                <a:latin typeface="Times New Roman"/>
                <a:cs typeface="Times New Roman"/>
              </a:rPr>
              <a:t> </a:t>
            </a:r>
            <a:r>
              <a:rPr sz="1600" dirty="0">
                <a:latin typeface="Times New Roman"/>
                <a:cs typeface="Times New Roman"/>
              </a:rPr>
              <a:t>The</a:t>
            </a:r>
            <a:r>
              <a:rPr sz="1600" spc="-45" dirty="0">
                <a:latin typeface="Times New Roman"/>
                <a:cs typeface="Times New Roman"/>
              </a:rPr>
              <a:t> </a:t>
            </a:r>
            <a:r>
              <a:rPr sz="1600" dirty="0">
                <a:latin typeface="Times New Roman"/>
                <a:cs typeface="Times New Roman"/>
              </a:rPr>
              <a:t>system</a:t>
            </a:r>
            <a:r>
              <a:rPr sz="1600" spc="-30" dirty="0">
                <a:latin typeface="Times New Roman"/>
                <a:cs typeface="Times New Roman"/>
              </a:rPr>
              <a:t> </a:t>
            </a:r>
            <a:r>
              <a:rPr sz="1600" dirty="0">
                <a:latin typeface="Times New Roman"/>
                <a:cs typeface="Times New Roman"/>
              </a:rPr>
              <a:t>integrates</a:t>
            </a:r>
            <a:r>
              <a:rPr sz="1600" spc="-10" dirty="0">
                <a:latin typeface="Times New Roman"/>
                <a:cs typeface="Times New Roman"/>
              </a:rPr>
              <a:t> </a:t>
            </a:r>
            <a:r>
              <a:rPr sz="1600" dirty="0">
                <a:latin typeface="Times New Roman"/>
                <a:cs typeface="Times New Roman"/>
              </a:rPr>
              <a:t>sensing,</a:t>
            </a:r>
            <a:r>
              <a:rPr sz="1600" spc="-60" dirty="0">
                <a:latin typeface="Times New Roman"/>
                <a:cs typeface="Times New Roman"/>
              </a:rPr>
              <a:t> </a:t>
            </a:r>
            <a:r>
              <a:rPr sz="1600" dirty="0">
                <a:latin typeface="Times New Roman"/>
                <a:cs typeface="Times New Roman"/>
              </a:rPr>
              <a:t>computation, and</a:t>
            </a:r>
            <a:r>
              <a:rPr sz="1600" spc="-50" dirty="0">
                <a:latin typeface="Times New Roman"/>
                <a:cs typeface="Times New Roman"/>
              </a:rPr>
              <a:t> </a:t>
            </a:r>
            <a:r>
              <a:rPr sz="1600" spc="-10" dirty="0">
                <a:latin typeface="Times New Roman"/>
                <a:cs typeface="Times New Roman"/>
              </a:rPr>
              <a:t>actuation, </a:t>
            </a:r>
            <a:r>
              <a:rPr sz="1600" dirty="0">
                <a:latin typeface="Times New Roman"/>
                <a:cs typeface="Times New Roman"/>
              </a:rPr>
              <a:t>demonstrating</a:t>
            </a:r>
            <a:r>
              <a:rPr sz="1600" spc="15" dirty="0">
                <a:latin typeface="Times New Roman"/>
                <a:cs typeface="Times New Roman"/>
              </a:rPr>
              <a:t> </a:t>
            </a:r>
            <a:r>
              <a:rPr sz="1600" dirty="0">
                <a:latin typeface="Times New Roman"/>
                <a:cs typeface="Times New Roman"/>
              </a:rPr>
              <a:t>the</a:t>
            </a:r>
            <a:r>
              <a:rPr sz="1600" spc="-30" dirty="0">
                <a:latin typeface="Times New Roman"/>
                <a:cs typeface="Times New Roman"/>
              </a:rPr>
              <a:t> </a:t>
            </a:r>
            <a:r>
              <a:rPr sz="1600" dirty="0">
                <a:latin typeface="Times New Roman"/>
                <a:cs typeface="Times New Roman"/>
              </a:rPr>
              <a:t>effective</a:t>
            </a:r>
            <a:r>
              <a:rPr sz="1600" spc="-20" dirty="0">
                <a:latin typeface="Times New Roman"/>
                <a:cs typeface="Times New Roman"/>
              </a:rPr>
              <a:t> </a:t>
            </a:r>
            <a:r>
              <a:rPr sz="1600" dirty="0">
                <a:latin typeface="Times New Roman"/>
                <a:cs typeface="Times New Roman"/>
              </a:rPr>
              <a:t>use</a:t>
            </a:r>
            <a:r>
              <a:rPr sz="1600" spc="-40" dirty="0">
                <a:latin typeface="Times New Roman"/>
                <a:cs typeface="Times New Roman"/>
              </a:rPr>
              <a:t> </a:t>
            </a:r>
            <a:r>
              <a:rPr sz="1600" dirty="0">
                <a:latin typeface="Times New Roman"/>
                <a:cs typeface="Times New Roman"/>
              </a:rPr>
              <a:t>of</a:t>
            </a:r>
            <a:r>
              <a:rPr sz="1600" spc="-30" dirty="0">
                <a:latin typeface="Times New Roman"/>
                <a:cs typeface="Times New Roman"/>
              </a:rPr>
              <a:t> </a:t>
            </a:r>
            <a:r>
              <a:rPr sz="1600" dirty="0">
                <a:latin typeface="Times New Roman"/>
                <a:cs typeface="Times New Roman"/>
              </a:rPr>
              <a:t>core</a:t>
            </a:r>
            <a:r>
              <a:rPr sz="1600" spc="-25" dirty="0">
                <a:latin typeface="Times New Roman"/>
                <a:cs typeface="Times New Roman"/>
              </a:rPr>
              <a:t> </a:t>
            </a:r>
            <a:r>
              <a:rPr sz="1600" dirty="0">
                <a:latin typeface="Times New Roman"/>
                <a:cs typeface="Times New Roman"/>
              </a:rPr>
              <a:t>engineering</a:t>
            </a:r>
            <a:r>
              <a:rPr sz="1600" spc="-25" dirty="0">
                <a:latin typeface="Times New Roman"/>
                <a:cs typeface="Times New Roman"/>
              </a:rPr>
              <a:t> </a:t>
            </a:r>
            <a:r>
              <a:rPr sz="1600" dirty="0">
                <a:latin typeface="Times New Roman"/>
                <a:cs typeface="Times New Roman"/>
              </a:rPr>
              <a:t>principles</a:t>
            </a:r>
            <a:r>
              <a:rPr sz="1600" spc="-5" dirty="0">
                <a:latin typeface="Times New Roman"/>
                <a:cs typeface="Times New Roman"/>
              </a:rPr>
              <a:t> </a:t>
            </a:r>
            <a:r>
              <a:rPr sz="1600" dirty="0">
                <a:latin typeface="Times New Roman"/>
                <a:cs typeface="Times New Roman"/>
              </a:rPr>
              <a:t>to</a:t>
            </a:r>
            <a:r>
              <a:rPr sz="1600" spc="-30" dirty="0">
                <a:latin typeface="Times New Roman"/>
                <a:cs typeface="Times New Roman"/>
              </a:rPr>
              <a:t> </a:t>
            </a:r>
            <a:r>
              <a:rPr sz="1600" dirty="0">
                <a:latin typeface="Times New Roman"/>
                <a:cs typeface="Times New Roman"/>
              </a:rPr>
              <a:t>solve</a:t>
            </a:r>
            <a:r>
              <a:rPr sz="1600" spc="-35" dirty="0">
                <a:latin typeface="Times New Roman"/>
                <a:cs typeface="Times New Roman"/>
              </a:rPr>
              <a:t> </a:t>
            </a:r>
            <a:r>
              <a:rPr sz="1600" spc="-50" dirty="0">
                <a:latin typeface="Times New Roman"/>
                <a:cs typeface="Times New Roman"/>
              </a:rPr>
              <a:t>a </a:t>
            </a:r>
            <a:r>
              <a:rPr sz="1600" spc="-10" dirty="0">
                <a:latin typeface="Times New Roman"/>
                <a:cs typeface="Times New Roman"/>
              </a:rPr>
              <a:t>real-</a:t>
            </a:r>
            <a:r>
              <a:rPr sz="1600" dirty="0">
                <a:latin typeface="Times New Roman"/>
                <a:cs typeface="Times New Roman"/>
              </a:rPr>
              <a:t>world</a:t>
            </a:r>
            <a:r>
              <a:rPr sz="1600" spc="5" dirty="0">
                <a:latin typeface="Times New Roman"/>
                <a:cs typeface="Times New Roman"/>
              </a:rPr>
              <a:t> </a:t>
            </a:r>
            <a:r>
              <a:rPr sz="1600" dirty="0">
                <a:latin typeface="Times New Roman"/>
                <a:cs typeface="Times New Roman"/>
              </a:rPr>
              <a:t>traffic</a:t>
            </a:r>
            <a:r>
              <a:rPr sz="1600" spc="-15" dirty="0">
                <a:latin typeface="Times New Roman"/>
                <a:cs typeface="Times New Roman"/>
              </a:rPr>
              <a:t> </a:t>
            </a:r>
            <a:r>
              <a:rPr sz="1600" dirty="0">
                <a:latin typeface="Times New Roman"/>
                <a:cs typeface="Times New Roman"/>
              </a:rPr>
              <a:t>safety</a:t>
            </a:r>
            <a:r>
              <a:rPr sz="1600" spc="-25" dirty="0">
                <a:latin typeface="Times New Roman"/>
                <a:cs typeface="Times New Roman"/>
              </a:rPr>
              <a:t> </a:t>
            </a:r>
            <a:r>
              <a:rPr sz="1600" spc="-10" dirty="0">
                <a:latin typeface="Times New Roman"/>
                <a:cs typeface="Times New Roman"/>
              </a:rPr>
              <a:t>problem.</a:t>
            </a:r>
            <a:endParaRPr sz="1600">
              <a:latin typeface="Times New Roman"/>
              <a:cs typeface="Times New Roman"/>
            </a:endParaRPr>
          </a:p>
          <a:p>
            <a:pPr marL="12700" marR="645795" indent="330835">
              <a:lnSpc>
                <a:spcPct val="100000"/>
              </a:lnSpc>
              <a:spcBef>
                <a:spcPts val="1140"/>
              </a:spcBef>
            </a:pPr>
            <a:r>
              <a:rPr sz="1600" dirty="0">
                <a:latin typeface="Times New Roman"/>
                <a:cs typeface="Times New Roman"/>
              </a:rPr>
              <a:t>Mapped</a:t>
            </a:r>
            <a:r>
              <a:rPr sz="1600" spc="-35" dirty="0">
                <a:latin typeface="Times New Roman"/>
                <a:cs typeface="Times New Roman"/>
              </a:rPr>
              <a:t> </a:t>
            </a:r>
            <a:r>
              <a:rPr sz="1600" dirty="0">
                <a:latin typeface="Times New Roman"/>
                <a:cs typeface="Times New Roman"/>
              </a:rPr>
              <a:t>–</a:t>
            </a:r>
            <a:r>
              <a:rPr sz="1600" spc="-35" dirty="0">
                <a:latin typeface="Times New Roman"/>
                <a:cs typeface="Times New Roman"/>
              </a:rPr>
              <a:t> </a:t>
            </a:r>
            <a:r>
              <a:rPr sz="1600" dirty="0">
                <a:latin typeface="Times New Roman"/>
                <a:cs typeface="Times New Roman"/>
              </a:rPr>
              <a:t>The</a:t>
            </a:r>
            <a:r>
              <a:rPr sz="1600" spc="-30" dirty="0">
                <a:latin typeface="Times New Roman"/>
                <a:cs typeface="Times New Roman"/>
              </a:rPr>
              <a:t> </a:t>
            </a:r>
            <a:r>
              <a:rPr sz="1600" dirty="0">
                <a:latin typeface="Times New Roman"/>
                <a:cs typeface="Times New Roman"/>
              </a:rPr>
              <a:t>project</a:t>
            </a:r>
            <a:r>
              <a:rPr sz="1600" spc="-20" dirty="0">
                <a:latin typeface="Times New Roman"/>
                <a:cs typeface="Times New Roman"/>
              </a:rPr>
              <a:t> </a:t>
            </a:r>
            <a:r>
              <a:rPr sz="1600" dirty="0">
                <a:latin typeface="Times New Roman"/>
                <a:cs typeface="Times New Roman"/>
              </a:rPr>
              <a:t>analyzes</a:t>
            </a:r>
            <a:r>
              <a:rPr sz="1600" spc="-5" dirty="0">
                <a:latin typeface="Times New Roman"/>
                <a:cs typeface="Times New Roman"/>
              </a:rPr>
              <a:t> </a:t>
            </a:r>
            <a:r>
              <a:rPr sz="1600" dirty="0">
                <a:latin typeface="Times New Roman"/>
                <a:cs typeface="Times New Roman"/>
              </a:rPr>
              <a:t>the</a:t>
            </a:r>
            <a:r>
              <a:rPr sz="1600" spc="-30" dirty="0">
                <a:latin typeface="Times New Roman"/>
                <a:cs typeface="Times New Roman"/>
              </a:rPr>
              <a:t> </a:t>
            </a:r>
            <a:r>
              <a:rPr sz="1600" dirty="0">
                <a:latin typeface="Times New Roman"/>
                <a:cs typeface="Times New Roman"/>
              </a:rPr>
              <a:t>problem</a:t>
            </a:r>
            <a:r>
              <a:rPr sz="1600" spc="-25" dirty="0">
                <a:latin typeface="Times New Roman"/>
                <a:cs typeface="Times New Roman"/>
              </a:rPr>
              <a:t> </a:t>
            </a:r>
            <a:r>
              <a:rPr sz="1600" dirty="0">
                <a:latin typeface="Times New Roman"/>
                <a:cs typeface="Times New Roman"/>
              </a:rPr>
              <a:t>of</a:t>
            </a:r>
            <a:r>
              <a:rPr sz="1600" spc="-30" dirty="0">
                <a:latin typeface="Times New Roman"/>
                <a:cs typeface="Times New Roman"/>
              </a:rPr>
              <a:t> </a:t>
            </a:r>
            <a:r>
              <a:rPr sz="1600" dirty="0">
                <a:latin typeface="Times New Roman"/>
                <a:cs typeface="Times New Roman"/>
              </a:rPr>
              <a:t>unsafe</a:t>
            </a:r>
            <a:r>
              <a:rPr sz="1600" spc="-40" dirty="0">
                <a:latin typeface="Times New Roman"/>
                <a:cs typeface="Times New Roman"/>
              </a:rPr>
              <a:t> </a:t>
            </a:r>
            <a:r>
              <a:rPr sz="1600" spc="-10" dirty="0">
                <a:latin typeface="Times New Roman"/>
                <a:cs typeface="Times New Roman"/>
              </a:rPr>
              <a:t>pedestrian </a:t>
            </a:r>
            <a:r>
              <a:rPr sz="1600" dirty="0">
                <a:latin typeface="Times New Roman"/>
                <a:cs typeface="Times New Roman"/>
              </a:rPr>
              <a:t>crossings</a:t>
            </a:r>
            <a:r>
              <a:rPr sz="1600" spc="-35" dirty="0">
                <a:latin typeface="Times New Roman"/>
                <a:cs typeface="Times New Roman"/>
              </a:rPr>
              <a:t> </a:t>
            </a:r>
            <a:r>
              <a:rPr sz="1600" dirty="0">
                <a:latin typeface="Times New Roman"/>
                <a:cs typeface="Times New Roman"/>
              </a:rPr>
              <a:t>and</a:t>
            </a:r>
            <a:r>
              <a:rPr sz="1600" spc="-35" dirty="0">
                <a:latin typeface="Times New Roman"/>
                <a:cs typeface="Times New Roman"/>
              </a:rPr>
              <a:t> </a:t>
            </a:r>
            <a:r>
              <a:rPr sz="1600" dirty="0">
                <a:latin typeface="Times New Roman"/>
                <a:cs typeface="Times New Roman"/>
              </a:rPr>
              <a:t>unnecessary</a:t>
            </a:r>
            <a:r>
              <a:rPr sz="1600" spc="-15" dirty="0">
                <a:latin typeface="Times New Roman"/>
                <a:cs typeface="Times New Roman"/>
              </a:rPr>
              <a:t> </a:t>
            </a:r>
            <a:r>
              <a:rPr sz="1600" dirty="0">
                <a:latin typeface="Times New Roman"/>
                <a:cs typeface="Times New Roman"/>
              </a:rPr>
              <a:t>slowdowns</a:t>
            </a:r>
            <a:r>
              <a:rPr sz="1600" spc="-50" dirty="0">
                <a:latin typeface="Times New Roman"/>
                <a:cs typeface="Times New Roman"/>
              </a:rPr>
              <a:t> </a:t>
            </a:r>
            <a:r>
              <a:rPr sz="1600" dirty="0">
                <a:latin typeface="Times New Roman"/>
                <a:cs typeface="Times New Roman"/>
              </a:rPr>
              <a:t>from</a:t>
            </a:r>
            <a:r>
              <a:rPr sz="1600" spc="-25" dirty="0">
                <a:latin typeface="Times New Roman"/>
                <a:cs typeface="Times New Roman"/>
              </a:rPr>
              <a:t> </a:t>
            </a:r>
            <a:r>
              <a:rPr sz="1600" dirty="0">
                <a:latin typeface="Times New Roman"/>
                <a:cs typeface="Times New Roman"/>
              </a:rPr>
              <a:t>static</a:t>
            </a:r>
            <a:r>
              <a:rPr sz="1600" spc="-15" dirty="0">
                <a:latin typeface="Times New Roman"/>
                <a:cs typeface="Times New Roman"/>
              </a:rPr>
              <a:t> </a:t>
            </a:r>
            <a:r>
              <a:rPr sz="1600" dirty="0">
                <a:latin typeface="Times New Roman"/>
                <a:cs typeface="Times New Roman"/>
              </a:rPr>
              <a:t>speed</a:t>
            </a:r>
            <a:r>
              <a:rPr sz="1600" spc="-30" dirty="0">
                <a:latin typeface="Times New Roman"/>
                <a:cs typeface="Times New Roman"/>
              </a:rPr>
              <a:t> </a:t>
            </a:r>
            <a:r>
              <a:rPr sz="1600" spc="-10" dirty="0">
                <a:latin typeface="Times New Roman"/>
                <a:cs typeface="Times New Roman"/>
              </a:rPr>
              <a:t>breakers.</a:t>
            </a:r>
            <a:endParaRPr sz="1600">
              <a:latin typeface="Times New Roman"/>
              <a:cs typeface="Times New Roman"/>
            </a:endParaRPr>
          </a:p>
          <a:p>
            <a:pPr marL="12700" marR="78740" indent="330835">
              <a:lnSpc>
                <a:spcPct val="100000"/>
              </a:lnSpc>
              <a:spcBef>
                <a:spcPts val="1140"/>
              </a:spcBef>
            </a:pPr>
            <a:r>
              <a:rPr sz="1600" dirty="0">
                <a:latin typeface="Times New Roman"/>
                <a:cs typeface="Times New Roman"/>
              </a:rPr>
              <a:t>Mapped</a:t>
            </a:r>
            <a:r>
              <a:rPr sz="1600" spc="-45" dirty="0">
                <a:latin typeface="Times New Roman"/>
                <a:cs typeface="Times New Roman"/>
              </a:rPr>
              <a:t> </a:t>
            </a:r>
            <a:r>
              <a:rPr sz="1600" dirty="0">
                <a:latin typeface="Times New Roman"/>
                <a:cs typeface="Times New Roman"/>
              </a:rPr>
              <a:t>–</a:t>
            </a:r>
            <a:r>
              <a:rPr sz="1600" spc="-45" dirty="0">
                <a:latin typeface="Times New Roman"/>
                <a:cs typeface="Times New Roman"/>
              </a:rPr>
              <a:t> </a:t>
            </a:r>
            <a:r>
              <a:rPr sz="1600" dirty="0">
                <a:latin typeface="Times New Roman"/>
                <a:cs typeface="Times New Roman"/>
              </a:rPr>
              <a:t>Designed</a:t>
            </a:r>
            <a:r>
              <a:rPr sz="1600" spc="-35" dirty="0">
                <a:latin typeface="Times New Roman"/>
                <a:cs typeface="Times New Roman"/>
              </a:rPr>
              <a:t> </a:t>
            </a:r>
            <a:r>
              <a:rPr sz="1600" dirty="0">
                <a:latin typeface="Times New Roman"/>
                <a:cs typeface="Times New Roman"/>
              </a:rPr>
              <a:t>a</a:t>
            </a:r>
            <a:r>
              <a:rPr sz="1600" spc="-40" dirty="0">
                <a:latin typeface="Times New Roman"/>
                <a:cs typeface="Times New Roman"/>
              </a:rPr>
              <a:t> </a:t>
            </a:r>
            <a:r>
              <a:rPr sz="1600" dirty="0">
                <a:latin typeface="Times New Roman"/>
                <a:cs typeface="Times New Roman"/>
              </a:rPr>
              <a:t>functional</a:t>
            </a:r>
            <a:r>
              <a:rPr sz="1600" spc="-40" dirty="0">
                <a:latin typeface="Times New Roman"/>
                <a:cs typeface="Times New Roman"/>
              </a:rPr>
              <a:t> </a:t>
            </a:r>
            <a:r>
              <a:rPr sz="1600" dirty="0">
                <a:latin typeface="Times New Roman"/>
                <a:cs typeface="Times New Roman"/>
              </a:rPr>
              <a:t>automated</a:t>
            </a:r>
            <a:r>
              <a:rPr sz="1600" spc="-5" dirty="0">
                <a:latin typeface="Times New Roman"/>
                <a:cs typeface="Times New Roman"/>
              </a:rPr>
              <a:t> </a:t>
            </a:r>
            <a:r>
              <a:rPr sz="1600" dirty="0">
                <a:latin typeface="Times New Roman"/>
                <a:cs typeface="Times New Roman"/>
              </a:rPr>
              <a:t>speed</a:t>
            </a:r>
            <a:r>
              <a:rPr sz="1600" spc="-35" dirty="0">
                <a:latin typeface="Times New Roman"/>
                <a:cs typeface="Times New Roman"/>
              </a:rPr>
              <a:t> </a:t>
            </a:r>
            <a:r>
              <a:rPr sz="1600" dirty="0">
                <a:latin typeface="Times New Roman"/>
                <a:cs typeface="Times New Roman"/>
              </a:rPr>
              <a:t>breaker</a:t>
            </a:r>
            <a:r>
              <a:rPr sz="1600" spc="-35" dirty="0">
                <a:latin typeface="Times New Roman"/>
                <a:cs typeface="Times New Roman"/>
              </a:rPr>
              <a:t> </a:t>
            </a:r>
            <a:r>
              <a:rPr sz="1600" dirty="0">
                <a:latin typeface="Times New Roman"/>
                <a:cs typeface="Times New Roman"/>
              </a:rPr>
              <a:t>system</a:t>
            </a:r>
            <a:r>
              <a:rPr sz="1600" spc="-25" dirty="0">
                <a:latin typeface="Times New Roman"/>
                <a:cs typeface="Times New Roman"/>
              </a:rPr>
              <a:t> </a:t>
            </a:r>
            <a:r>
              <a:rPr sz="1600" spc="-10" dirty="0">
                <a:latin typeface="Times New Roman"/>
                <a:cs typeface="Times New Roman"/>
              </a:rPr>
              <a:t>using </a:t>
            </a:r>
            <a:r>
              <a:rPr sz="1600" dirty="0">
                <a:latin typeface="Times New Roman"/>
                <a:cs typeface="Times New Roman"/>
              </a:rPr>
              <a:t>sensors,</a:t>
            </a:r>
            <a:r>
              <a:rPr sz="1600" spc="-35" dirty="0">
                <a:latin typeface="Times New Roman"/>
                <a:cs typeface="Times New Roman"/>
              </a:rPr>
              <a:t> </a:t>
            </a:r>
            <a:r>
              <a:rPr sz="1600" dirty="0">
                <a:latin typeface="Times New Roman"/>
                <a:cs typeface="Times New Roman"/>
              </a:rPr>
              <a:t>Arduino,</a:t>
            </a:r>
            <a:r>
              <a:rPr sz="1600" spc="-35" dirty="0">
                <a:latin typeface="Times New Roman"/>
                <a:cs typeface="Times New Roman"/>
              </a:rPr>
              <a:t> </a:t>
            </a:r>
            <a:r>
              <a:rPr sz="1600" dirty="0">
                <a:latin typeface="Times New Roman"/>
                <a:cs typeface="Times New Roman"/>
              </a:rPr>
              <a:t>and</a:t>
            </a:r>
            <a:r>
              <a:rPr sz="1600" spc="-35" dirty="0">
                <a:latin typeface="Times New Roman"/>
                <a:cs typeface="Times New Roman"/>
              </a:rPr>
              <a:t> </a:t>
            </a:r>
            <a:r>
              <a:rPr sz="1600" dirty="0">
                <a:latin typeface="Times New Roman"/>
                <a:cs typeface="Times New Roman"/>
              </a:rPr>
              <a:t>a</a:t>
            </a:r>
            <a:r>
              <a:rPr sz="1600" spc="-30" dirty="0">
                <a:latin typeface="Times New Roman"/>
                <a:cs typeface="Times New Roman"/>
              </a:rPr>
              <a:t> </a:t>
            </a:r>
            <a:r>
              <a:rPr sz="1600" dirty="0">
                <a:latin typeface="Times New Roman"/>
                <a:cs typeface="Times New Roman"/>
              </a:rPr>
              <a:t>motor</a:t>
            </a:r>
            <a:r>
              <a:rPr sz="1600" spc="-5" dirty="0">
                <a:latin typeface="Times New Roman"/>
                <a:cs typeface="Times New Roman"/>
              </a:rPr>
              <a:t> </a:t>
            </a:r>
            <a:r>
              <a:rPr sz="1600" dirty="0">
                <a:latin typeface="Times New Roman"/>
                <a:cs typeface="Times New Roman"/>
              </a:rPr>
              <a:t>mechanism</a:t>
            </a:r>
            <a:r>
              <a:rPr sz="1600" spc="-5" dirty="0">
                <a:latin typeface="Times New Roman"/>
                <a:cs typeface="Times New Roman"/>
              </a:rPr>
              <a:t> </a:t>
            </a:r>
            <a:r>
              <a:rPr sz="1600" dirty="0">
                <a:latin typeface="Times New Roman"/>
                <a:cs typeface="Times New Roman"/>
              </a:rPr>
              <a:t>to</a:t>
            </a:r>
            <a:r>
              <a:rPr sz="1600" spc="-30" dirty="0">
                <a:latin typeface="Times New Roman"/>
                <a:cs typeface="Times New Roman"/>
              </a:rPr>
              <a:t> </a:t>
            </a:r>
            <a:r>
              <a:rPr sz="1600" dirty="0">
                <a:latin typeface="Times New Roman"/>
                <a:cs typeface="Times New Roman"/>
              </a:rPr>
              <a:t>solve</a:t>
            </a:r>
            <a:r>
              <a:rPr sz="1600" spc="-30" dirty="0">
                <a:latin typeface="Times New Roman"/>
                <a:cs typeface="Times New Roman"/>
              </a:rPr>
              <a:t> </a:t>
            </a:r>
            <a:r>
              <a:rPr sz="1600" dirty="0">
                <a:latin typeface="Times New Roman"/>
                <a:cs typeface="Times New Roman"/>
              </a:rPr>
              <a:t>pedestrian</a:t>
            </a:r>
            <a:r>
              <a:rPr sz="1600" spc="-20" dirty="0">
                <a:latin typeface="Times New Roman"/>
                <a:cs typeface="Times New Roman"/>
              </a:rPr>
              <a:t> </a:t>
            </a:r>
            <a:r>
              <a:rPr sz="1600" dirty="0">
                <a:latin typeface="Times New Roman"/>
                <a:cs typeface="Times New Roman"/>
              </a:rPr>
              <a:t>safety</a:t>
            </a:r>
            <a:r>
              <a:rPr sz="1600" spc="-25" dirty="0">
                <a:latin typeface="Times New Roman"/>
                <a:cs typeface="Times New Roman"/>
              </a:rPr>
              <a:t> and </a:t>
            </a:r>
            <a:r>
              <a:rPr sz="1600" dirty="0">
                <a:latin typeface="Times New Roman"/>
                <a:cs typeface="Times New Roman"/>
              </a:rPr>
              <a:t>traffic</a:t>
            </a:r>
            <a:r>
              <a:rPr sz="1600" spc="-10" dirty="0">
                <a:latin typeface="Times New Roman"/>
                <a:cs typeface="Times New Roman"/>
              </a:rPr>
              <a:t> </a:t>
            </a:r>
            <a:r>
              <a:rPr sz="1600" dirty="0">
                <a:latin typeface="Times New Roman"/>
                <a:cs typeface="Times New Roman"/>
              </a:rPr>
              <a:t>flow</a:t>
            </a:r>
            <a:r>
              <a:rPr sz="1600" spc="-20" dirty="0">
                <a:latin typeface="Times New Roman"/>
                <a:cs typeface="Times New Roman"/>
              </a:rPr>
              <a:t> </a:t>
            </a:r>
            <a:r>
              <a:rPr sz="1600" spc="-10" dirty="0">
                <a:latin typeface="Times New Roman"/>
                <a:cs typeface="Times New Roman"/>
              </a:rPr>
              <a:t>issues</a:t>
            </a:r>
            <a:r>
              <a:rPr sz="1600" spc="-10" dirty="0">
                <a:latin typeface="Arial MT"/>
                <a:cs typeface="Arial MT"/>
              </a:rPr>
              <a:t>.</a:t>
            </a:r>
            <a:endParaRPr sz="1600">
              <a:latin typeface="Arial MT"/>
              <a:cs typeface="Arial MT"/>
            </a:endParaRPr>
          </a:p>
          <a:p>
            <a:pPr marL="343535">
              <a:lnSpc>
                <a:spcPct val="100000"/>
              </a:lnSpc>
              <a:spcBef>
                <a:spcPts val="1140"/>
              </a:spcBef>
            </a:pPr>
            <a:r>
              <a:rPr sz="1600" dirty="0">
                <a:latin typeface="Times New Roman"/>
                <a:cs typeface="Times New Roman"/>
              </a:rPr>
              <a:t>Mapped</a:t>
            </a:r>
            <a:r>
              <a:rPr sz="1600" spc="-50" dirty="0">
                <a:latin typeface="Times New Roman"/>
                <a:cs typeface="Times New Roman"/>
              </a:rPr>
              <a:t> </a:t>
            </a:r>
            <a:r>
              <a:rPr sz="1600" dirty="0">
                <a:latin typeface="Times New Roman"/>
                <a:cs typeface="Times New Roman"/>
              </a:rPr>
              <a:t>–</a:t>
            </a:r>
            <a:r>
              <a:rPr sz="1600" spc="-45" dirty="0">
                <a:latin typeface="Times New Roman"/>
                <a:cs typeface="Times New Roman"/>
              </a:rPr>
              <a:t> </a:t>
            </a:r>
            <a:r>
              <a:rPr sz="1600" dirty="0">
                <a:latin typeface="Times New Roman"/>
                <a:cs typeface="Times New Roman"/>
              </a:rPr>
              <a:t>Collected</a:t>
            </a:r>
            <a:r>
              <a:rPr sz="1600" spc="-30" dirty="0">
                <a:latin typeface="Times New Roman"/>
                <a:cs typeface="Times New Roman"/>
              </a:rPr>
              <a:t> </a:t>
            </a:r>
            <a:r>
              <a:rPr sz="1600" dirty="0">
                <a:latin typeface="Times New Roman"/>
                <a:cs typeface="Times New Roman"/>
              </a:rPr>
              <a:t>and</a:t>
            </a:r>
            <a:r>
              <a:rPr sz="1600" spc="-40" dirty="0">
                <a:latin typeface="Times New Roman"/>
                <a:cs typeface="Times New Roman"/>
              </a:rPr>
              <a:t> </a:t>
            </a:r>
            <a:r>
              <a:rPr sz="1600" dirty="0">
                <a:latin typeface="Times New Roman"/>
                <a:cs typeface="Times New Roman"/>
              </a:rPr>
              <a:t>analyzed</a:t>
            </a:r>
            <a:r>
              <a:rPr sz="1600" spc="-20" dirty="0">
                <a:latin typeface="Times New Roman"/>
                <a:cs typeface="Times New Roman"/>
              </a:rPr>
              <a:t> </a:t>
            </a:r>
            <a:r>
              <a:rPr sz="1600" dirty="0">
                <a:latin typeface="Times New Roman"/>
                <a:cs typeface="Times New Roman"/>
              </a:rPr>
              <a:t>These</a:t>
            </a:r>
            <a:r>
              <a:rPr sz="1600" spc="-40" dirty="0">
                <a:latin typeface="Times New Roman"/>
                <a:cs typeface="Times New Roman"/>
              </a:rPr>
              <a:t> </a:t>
            </a:r>
            <a:r>
              <a:rPr sz="1600" dirty="0">
                <a:latin typeface="Times New Roman"/>
                <a:cs typeface="Times New Roman"/>
              </a:rPr>
              <a:t>investigations</a:t>
            </a:r>
            <a:r>
              <a:rPr sz="1600" spc="-30" dirty="0">
                <a:latin typeface="Times New Roman"/>
                <a:cs typeface="Times New Roman"/>
              </a:rPr>
              <a:t> </a:t>
            </a:r>
            <a:r>
              <a:rPr sz="1600" dirty="0">
                <a:latin typeface="Times New Roman"/>
                <a:cs typeface="Times New Roman"/>
              </a:rPr>
              <a:t>helped</a:t>
            </a:r>
            <a:r>
              <a:rPr sz="1600" spc="-45" dirty="0">
                <a:latin typeface="Times New Roman"/>
                <a:cs typeface="Times New Roman"/>
              </a:rPr>
              <a:t> </a:t>
            </a:r>
            <a:r>
              <a:rPr sz="1600" spc="-10" dirty="0">
                <a:latin typeface="Times New Roman"/>
                <a:cs typeface="Times New Roman"/>
              </a:rPr>
              <a:t>refine</a:t>
            </a:r>
            <a:endParaRPr sz="1600">
              <a:latin typeface="Times New Roman"/>
              <a:cs typeface="Times New Roman"/>
            </a:endParaRPr>
          </a:p>
          <a:p>
            <a:pPr marL="12700">
              <a:lnSpc>
                <a:spcPct val="100000"/>
              </a:lnSpc>
            </a:pPr>
            <a:r>
              <a:rPr sz="1600" dirty="0">
                <a:latin typeface="Times New Roman"/>
                <a:cs typeface="Times New Roman"/>
              </a:rPr>
              <a:t>the</a:t>
            </a:r>
            <a:r>
              <a:rPr sz="1600" spc="-20" dirty="0">
                <a:latin typeface="Times New Roman"/>
                <a:cs typeface="Times New Roman"/>
              </a:rPr>
              <a:t> </a:t>
            </a:r>
            <a:r>
              <a:rPr sz="1600" dirty="0">
                <a:latin typeface="Times New Roman"/>
                <a:cs typeface="Times New Roman"/>
              </a:rPr>
              <a:t>design</a:t>
            </a:r>
            <a:r>
              <a:rPr sz="1600" spc="-20" dirty="0">
                <a:latin typeface="Times New Roman"/>
                <a:cs typeface="Times New Roman"/>
              </a:rPr>
              <a:t> </a:t>
            </a:r>
            <a:r>
              <a:rPr sz="1600" dirty="0">
                <a:latin typeface="Times New Roman"/>
                <a:cs typeface="Times New Roman"/>
              </a:rPr>
              <a:t>and</a:t>
            </a:r>
            <a:r>
              <a:rPr sz="1600" spc="-15" dirty="0">
                <a:latin typeface="Times New Roman"/>
                <a:cs typeface="Times New Roman"/>
              </a:rPr>
              <a:t> </a:t>
            </a:r>
            <a:r>
              <a:rPr sz="1600" dirty="0">
                <a:latin typeface="Times New Roman"/>
                <a:cs typeface="Times New Roman"/>
              </a:rPr>
              <a:t>ensure</a:t>
            </a:r>
            <a:r>
              <a:rPr sz="1600" spc="-10" dirty="0">
                <a:latin typeface="Times New Roman"/>
                <a:cs typeface="Times New Roman"/>
              </a:rPr>
              <a:t> </a:t>
            </a:r>
            <a:r>
              <a:rPr sz="1600" dirty="0">
                <a:latin typeface="Times New Roman"/>
                <a:cs typeface="Times New Roman"/>
              </a:rPr>
              <a:t>the</a:t>
            </a:r>
            <a:r>
              <a:rPr sz="1600" spc="-25" dirty="0">
                <a:latin typeface="Times New Roman"/>
                <a:cs typeface="Times New Roman"/>
              </a:rPr>
              <a:t> </a:t>
            </a:r>
            <a:r>
              <a:rPr sz="1600" dirty="0">
                <a:latin typeface="Times New Roman"/>
                <a:cs typeface="Times New Roman"/>
              </a:rPr>
              <a:t>system</a:t>
            </a:r>
            <a:r>
              <a:rPr sz="1600" spc="15" dirty="0">
                <a:latin typeface="Times New Roman"/>
                <a:cs typeface="Times New Roman"/>
              </a:rPr>
              <a:t> </a:t>
            </a:r>
            <a:r>
              <a:rPr sz="1600" dirty="0">
                <a:latin typeface="Times New Roman"/>
                <a:cs typeface="Times New Roman"/>
              </a:rPr>
              <a:t>works</a:t>
            </a:r>
            <a:r>
              <a:rPr sz="1600" spc="-25" dirty="0">
                <a:latin typeface="Times New Roman"/>
                <a:cs typeface="Times New Roman"/>
              </a:rPr>
              <a:t> </a:t>
            </a:r>
            <a:r>
              <a:rPr sz="1600" dirty="0">
                <a:latin typeface="Times New Roman"/>
                <a:cs typeface="Times New Roman"/>
              </a:rPr>
              <a:t>reliably</a:t>
            </a:r>
            <a:r>
              <a:rPr sz="1600" spc="10" dirty="0">
                <a:latin typeface="Times New Roman"/>
                <a:cs typeface="Times New Roman"/>
              </a:rPr>
              <a:t> </a:t>
            </a:r>
            <a:r>
              <a:rPr sz="1600" dirty="0">
                <a:latin typeface="Times New Roman"/>
                <a:cs typeface="Times New Roman"/>
              </a:rPr>
              <a:t>in</a:t>
            </a:r>
            <a:r>
              <a:rPr sz="1600" spc="-20" dirty="0">
                <a:latin typeface="Times New Roman"/>
                <a:cs typeface="Times New Roman"/>
              </a:rPr>
              <a:t> </a:t>
            </a:r>
            <a:r>
              <a:rPr sz="1600" spc="-25" dirty="0">
                <a:latin typeface="Times New Roman"/>
                <a:cs typeface="Times New Roman"/>
              </a:rPr>
              <a:t>real-</a:t>
            </a:r>
            <a:r>
              <a:rPr sz="1600" dirty="0">
                <a:latin typeface="Times New Roman"/>
                <a:cs typeface="Times New Roman"/>
              </a:rPr>
              <a:t>world</a:t>
            </a:r>
            <a:r>
              <a:rPr sz="1600" spc="20" dirty="0">
                <a:latin typeface="Times New Roman"/>
                <a:cs typeface="Times New Roman"/>
              </a:rPr>
              <a:t> </a:t>
            </a:r>
            <a:r>
              <a:rPr sz="1600" spc="-10" dirty="0">
                <a:latin typeface="Times New Roman"/>
                <a:cs typeface="Times New Roman"/>
              </a:rPr>
              <a:t>scenarios.</a:t>
            </a:r>
            <a:endParaRPr sz="1600">
              <a:latin typeface="Times New Roman"/>
              <a:cs typeface="Times New Roman"/>
            </a:endParaRPr>
          </a:p>
          <a:p>
            <a:pPr marL="12700" marR="252095" indent="330835">
              <a:lnSpc>
                <a:spcPct val="100000"/>
              </a:lnSpc>
              <a:spcBef>
                <a:spcPts val="1140"/>
              </a:spcBef>
            </a:pPr>
            <a:r>
              <a:rPr sz="1600" dirty="0">
                <a:latin typeface="Times New Roman"/>
                <a:cs typeface="Times New Roman"/>
              </a:rPr>
              <a:t>Mapped</a:t>
            </a:r>
            <a:r>
              <a:rPr sz="1600" spc="-45" dirty="0">
                <a:latin typeface="Times New Roman"/>
                <a:cs typeface="Times New Roman"/>
              </a:rPr>
              <a:t> </a:t>
            </a:r>
            <a:r>
              <a:rPr sz="1600" dirty="0">
                <a:latin typeface="Times New Roman"/>
                <a:cs typeface="Times New Roman"/>
              </a:rPr>
              <a:t>These</a:t>
            </a:r>
            <a:r>
              <a:rPr sz="1600" spc="-30" dirty="0">
                <a:latin typeface="Times New Roman"/>
                <a:cs typeface="Times New Roman"/>
              </a:rPr>
              <a:t> </a:t>
            </a:r>
            <a:r>
              <a:rPr sz="1600" dirty="0">
                <a:latin typeface="Times New Roman"/>
                <a:cs typeface="Times New Roman"/>
              </a:rPr>
              <a:t>tools</a:t>
            </a:r>
            <a:r>
              <a:rPr sz="1600" spc="-45" dirty="0">
                <a:latin typeface="Times New Roman"/>
                <a:cs typeface="Times New Roman"/>
              </a:rPr>
              <a:t> </a:t>
            </a:r>
            <a:r>
              <a:rPr sz="1600" dirty="0">
                <a:latin typeface="Times New Roman"/>
                <a:cs typeface="Times New Roman"/>
              </a:rPr>
              <a:t>help</a:t>
            </a:r>
            <a:r>
              <a:rPr sz="1600" spc="-35" dirty="0">
                <a:latin typeface="Times New Roman"/>
                <a:cs typeface="Times New Roman"/>
              </a:rPr>
              <a:t> </a:t>
            </a:r>
            <a:r>
              <a:rPr sz="1600" dirty="0">
                <a:latin typeface="Times New Roman"/>
                <a:cs typeface="Times New Roman"/>
              </a:rPr>
              <a:t>in</a:t>
            </a:r>
            <a:r>
              <a:rPr sz="1600" spc="-45" dirty="0">
                <a:latin typeface="Times New Roman"/>
                <a:cs typeface="Times New Roman"/>
              </a:rPr>
              <a:t> </a:t>
            </a:r>
            <a:r>
              <a:rPr sz="1600" dirty="0">
                <a:latin typeface="Times New Roman"/>
                <a:cs typeface="Times New Roman"/>
              </a:rPr>
              <a:t>coding,</a:t>
            </a:r>
            <a:r>
              <a:rPr sz="1600" spc="-45" dirty="0">
                <a:latin typeface="Times New Roman"/>
                <a:cs typeface="Times New Roman"/>
              </a:rPr>
              <a:t> </a:t>
            </a:r>
            <a:r>
              <a:rPr sz="1600" dirty="0">
                <a:latin typeface="Times New Roman"/>
                <a:cs typeface="Times New Roman"/>
              </a:rPr>
              <a:t>debugging,</a:t>
            </a:r>
            <a:r>
              <a:rPr sz="1600" spc="-60" dirty="0">
                <a:latin typeface="Times New Roman"/>
                <a:cs typeface="Times New Roman"/>
              </a:rPr>
              <a:t> </a:t>
            </a:r>
            <a:r>
              <a:rPr sz="1600" dirty="0">
                <a:latin typeface="Times New Roman"/>
                <a:cs typeface="Times New Roman"/>
              </a:rPr>
              <a:t>circuit</a:t>
            </a:r>
            <a:r>
              <a:rPr sz="1600" spc="-20" dirty="0">
                <a:latin typeface="Times New Roman"/>
                <a:cs typeface="Times New Roman"/>
              </a:rPr>
              <a:t> </a:t>
            </a:r>
            <a:r>
              <a:rPr sz="1600" dirty="0">
                <a:latin typeface="Times New Roman"/>
                <a:cs typeface="Times New Roman"/>
              </a:rPr>
              <a:t>analysis,</a:t>
            </a:r>
            <a:r>
              <a:rPr sz="1600" spc="-20" dirty="0">
                <a:latin typeface="Times New Roman"/>
                <a:cs typeface="Times New Roman"/>
              </a:rPr>
              <a:t> </a:t>
            </a:r>
            <a:r>
              <a:rPr sz="1600" spc="-25" dirty="0">
                <a:latin typeface="Times New Roman"/>
                <a:cs typeface="Times New Roman"/>
              </a:rPr>
              <a:t>and </a:t>
            </a:r>
            <a:r>
              <a:rPr sz="1600" dirty="0">
                <a:latin typeface="Times New Roman"/>
                <a:cs typeface="Times New Roman"/>
              </a:rPr>
              <a:t>performance evaluation,</a:t>
            </a:r>
            <a:r>
              <a:rPr sz="1600" spc="-30" dirty="0">
                <a:latin typeface="Times New Roman"/>
                <a:cs typeface="Times New Roman"/>
              </a:rPr>
              <a:t> </a:t>
            </a:r>
            <a:r>
              <a:rPr sz="1600" dirty="0">
                <a:latin typeface="Times New Roman"/>
                <a:cs typeface="Times New Roman"/>
              </a:rPr>
              <a:t>showing</a:t>
            </a:r>
            <a:r>
              <a:rPr sz="1600" spc="-45" dirty="0">
                <a:latin typeface="Times New Roman"/>
                <a:cs typeface="Times New Roman"/>
              </a:rPr>
              <a:t> </a:t>
            </a:r>
            <a:r>
              <a:rPr sz="1600" dirty="0">
                <a:latin typeface="Times New Roman"/>
                <a:cs typeface="Times New Roman"/>
              </a:rPr>
              <a:t>the</a:t>
            </a:r>
            <a:r>
              <a:rPr sz="1600" spc="-40" dirty="0">
                <a:latin typeface="Times New Roman"/>
                <a:cs typeface="Times New Roman"/>
              </a:rPr>
              <a:t> </a:t>
            </a:r>
            <a:r>
              <a:rPr sz="1600" dirty="0">
                <a:latin typeface="Times New Roman"/>
                <a:cs typeface="Times New Roman"/>
              </a:rPr>
              <a:t>ability</a:t>
            </a:r>
            <a:r>
              <a:rPr sz="1600" spc="-25" dirty="0">
                <a:latin typeface="Times New Roman"/>
                <a:cs typeface="Times New Roman"/>
              </a:rPr>
              <a:t> </a:t>
            </a:r>
            <a:r>
              <a:rPr sz="1600" dirty="0">
                <a:latin typeface="Times New Roman"/>
                <a:cs typeface="Times New Roman"/>
              </a:rPr>
              <a:t>to</a:t>
            </a:r>
            <a:r>
              <a:rPr sz="1600" spc="-40" dirty="0">
                <a:latin typeface="Times New Roman"/>
                <a:cs typeface="Times New Roman"/>
              </a:rPr>
              <a:t> </a:t>
            </a:r>
            <a:r>
              <a:rPr sz="1600" dirty="0">
                <a:latin typeface="Times New Roman"/>
                <a:cs typeface="Times New Roman"/>
              </a:rPr>
              <a:t>apply</a:t>
            </a:r>
            <a:r>
              <a:rPr sz="1600" spc="-45" dirty="0">
                <a:latin typeface="Times New Roman"/>
                <a:cs typeface="Times New Roman"/>
              </a:rPr>
              <a:t> </a:t>
            </a:r>
            <a:r>
              <a:rPr sz="1600" dirty="0">
                <a:latin typeface="Times New Roman"/>
                <a:cs typeface="Times New Roman"/>
              </a:rPr>
              <a:t>modern</a:t>
            </a:r>
            <a:r>
              <a:rPr sz="1600" spc="-10" dirty="0">
                <a:latin typeface="Times New Roman"/>
                <a:cs typeface="Times New Roman"/>
              </a:rPr>
              <a:t> engineering </a:t>
            </a:r>
            <a:r>
              <a:rPr sz="1600" dirty="0">
                <a:latin typeface="Times New Roman"/>
                <a:cs typeface="Times New Roman"/>
              </a:rPr>
              <a:t>techniques</a:t>
            </a:r>
            <a:r>
              <a:rPr sz="1600" spc="-30" dirty="0">
                <a:latin typeface="Times New Roman"/>
                <a:cs typeface="Times New Roman"/>
              </a:rPr>
              <a:t> </a:t>
            </a:r>
            <a:r>
              <a:rPr sz="1600" dirty="0">
                <a:latin typeface="Times New Roman"/>
                <a:cs typeface="Times New Roman"/>
              </a:rPr>
              <a:t>to</a:t>
            </a:r>
            <a:r>
              <a:rPr sz="1600" spc="-30" dirty="0">
                <a:latin typeface="Times New Roman"/>
                <a:cs typeface="Times New Roman"/>
              </a:rPr>
              <a:t> </a:t>
            </a:r>
            <a:r>
              <a:rPr sz="1600" dirty="0">
                <a:latin typeface="Times New Roman"/>
                <a:cs typeface="Times New Roman"/>
              </a:rPr>
              <a:t>develop</a:t>
            </a:r>
            <a:r>
              <a:rPr sz="1600" spc="-35" dirty="0">
                <a:latin typeface="Times New Roman"/>
                <a:cs typeface="Times New Roman"/>
              </a:rPr>
              <a:t> </a:t>
            </a:r>
            <a:r>
              <a:rPr sz="1600" dirty="0">
                <a:latin typeface="Times New Roman"/>
                <a:cs typeface="Times New Roman"/>
              </a:rPr>
              <a:t>and</a:t>
            </a:r>
            <a:r>
              <a:rPr sz="1600" spc="-35" dirty="0">
                <a:latin typeface="Times New Roman"/>
                <a:cs typeface="Times New Roman"/>
              </a:rPr>
              <a:t> </a:t>
            </a:r>
            <a:r>
              <a:rPr sz="1600" dirty="0">
                <a:latin typeface="Times New Roman"/>
                <a:cs typeface="Times New Roman"/>
              </a:rPr>
              <a:t>optimize</a:t>
            </a:r>
            <a:r>
              <a:rPr sz="1600" spc="15" dirty="0">
                <a:latin typeface="Times New Roman"/>
                <a:cs typeface="Times New Roman"/>
              </a:rPr>
              <a:t> </a:t>
            </a:r>
            <a:r>
              <a:rPr sz="1600" dirty="0">
                <a:latin typeface="Times New Roman"/>
                <a:cs typeface="Times New Roman"/>
              </a:rPr>
              <a:t>the</a:t>
            </a:r>
            <a:r>
              <a:rPr sz="1600" spc="-35" dirty="0">
                <a:latin typeface="Times New Roman"/>
                <a:cs typeface="Times New Roman"/>
              </a:rPr>
              <a:t> </a:t>
            </a:r>
            <a:r>
              <a:rPr sz="1600" spc="-10" dirty="0">
                <a:latin typeface="Times New Roman"/>
                <a:cs typeface="Times New Roman"/>
              </a:rPr>
              <a:t>solution..</a:t>
            </a:r>
            <a:endParaRPr sz="1600">
              <a:latin typeface="Times New Roman"/>
              <a:cs typeface="Times New Roman"/>
            </a:endParaRPr>
          </a:p>
          <a:p>
            <a:pPr marL="4065904">
              <a:lnSpc>
                <a:spcPct val="100000"/>
              </a:lnSpc>
              <a:spcBef>
                <a:spcPts val="1420"/>
              </a:spcBef>
            </a:pPr>
            <a:r>
              <a:rPr sz="1400" dirty="0">
                <a:latin typeface="Arial MT"/>
                <a:cs typeface="Arial MT"/>
              </a:rPr>
              <a:t>Monday,</a:t>
            </a:r>
            <a:r>
              <a:rPr sz="1400" spc="-35" dirty="0">
                <a:latin typeface="Arial MT"/>
                <a:cs typeface="Arial MT"/>
              </a:rPr>
              <a:t> </a:t>
            </a:r>
            <a:r>
              <a:rPr sz="1400" dirty="0">
                <a:latin typeface="Arial MT"/>
                <a:cs typeface="Arial MT"/>
              </a:rPr>
              <a:t>December</a:t>
            </a:r>
            <a:r>
              <a:rPr sz="1400" spc="-55" dirty="0">
                <a:latin typeface="Arial MT"/>
                <a:cs typeface="Arial MT"/>
              </a:rPr>
              <a:t> </a:t>
            </a:r>
            <a:r>
              <a:rPr sz="1400" dirty="0">
                <a:latin typeface="Arial MT"/>
                <a:cs typeface="Arial MT"/>
              </a:rPr>
              <a:t>1,</a:t>
            </a:r>
            <a:r>
              <a:rPr sz="1400" spc="-30" dirty="0">
                <a:latin typeface="Arial MT"/>
                <a:cs typeface="Arial MT"/>
              </a:rPr>
              <a:t> </a:t>
            </a:r>
            <a:r>
              <a:rPr sz="1400" spc="-20" dirty="0">
                <a:latin typeface="Arial MT"/>
                <a:cs typeface="Arial MT"/>
              </a:rPr>
              <a:t>2025</a:t>
            </a:r>
            <a:endParaRPr sz="1400">
              <a:latin typeface="Arial MT"/>
              <a:cs typeface="Arial MT"/>
            </a:endParaRPr>
          </a:p>
        </p:txBody>
      </p:sp>
      <p:sp>
        <p:nvSpPr>
          <p:cNvPr id="36" name="object 36"/>
          <p:cNvSpPr txBox="1"/>
          <p:nvPr/>
        </p:nvSpPr>
        <p:spPr>
          <a:xfrm>
            <a:off x="1078179" y="6387490"/>
            <a:ext cx="591820" cy="240029"/>
          </a:xfrm>
          <a:prstGeom prst="rect">
            <a:avLst/>
          </a:prstGeom>
        </p:spPr>
        <p:txBody>
          <a:bodyPr vert="horz" wrap="square" lIns="0" tIns="13335" rIns="0" bIns="0" rtlCol="0">
            <a:spAutoFit/>
          </a:bodyPr>
          <a:lstStyle/>
          <a:p>
            <a:pPr marL="12700">
              <a:lnSpc>
                <a:spcPct val="100000"/>
              </a:lnSpc>
              <a:spcBef>
                <a:spcPts val="105"/>
              </a:spcBef>
            </a:pPr>
            <a:r>
              <a:rPr sz="1400" dirty="0">
                <a:latin typeface="Arial MT"/>
                <a:cs typeface="Arial MT"/>
              </a:rPr>
              <a:t>EDP</a:t>
            </a:r>
            <a:r>
              <a:rPr sz="1400" spc="-20" dirty="0">
                <a:latin typeface="Arial MT"/>
                <a:cs typeface="Arial MT"/>
              </a:rPr>
              <a:t> </a:t>
            </a:r>
            <a:r>
              <a:rPr sz="1400" spc="-25" dirty="0">
                <a:latin typeface="Arial MT"/>
                <a:cs typeface="Arial MT"/>
              </a:rPr>
              <a:t>III</a:t>
            </a:r>
            <a:endParaRPr sz="1400">
              <a:latin typeface="Arial MT"/>
              <a:cs typeface="Arial M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04470" y="352524"/>
          <a:ext cx="11784330" cy="6193790"/>
        </p:xfrm>
        <a:graphic>
          <a:graphicData uri="http://schemas.openxmlformats.org/drawingml/2006/table">
            <a:tbl>
              <a:tblPr firstRow="1" bandRow="1">
                <a:tableStyleId>{2D5ABB26-0587-4C30-8999-92F81FD0307C}</a:tableStyleId>
              </a:tblPr>
              <a:tblGrid>
                <a:gridCol w="3996690"/>
                <a:gridCol w="7787640"/>
              </a:tblGrid>
              <a:tr h="279400">
                <a:tc>
                  <a:txBody>
                    <a:bodyPr/>
                    <a:lstStyle/>
                    <a:p>
                      <a:pPr marL="31750">
                        <a:lnSpc>
                          <a:spcPts val="1739"/>
                        </a:lnSpc>
                      </a:pPr>
                      <a:r>
                        <a:rPr sz="1600" b="1" spc="-10" dirty="0">
                          <a:latin typeface="Times New Roman"/>
                          <a:cs typeface="Times New Roman"/>
                        </a:rPr>
                        <a:t>PO/PSO</a:t>
                      </a:r>
                      <a:endParaRPr sz="1600">
                        <a:latin typeface="Times New Roman"/>
                        <a:cs typeface="Times New Roman"/>
                      </a:endParaRPr>
                    </a:p>
                  </a:txBody>
                  <a:tcPr marL="0" marR="0" marT="0" marB="0"/>
                </a:tc>
                <a:tc>
                  <a:txBody>
                    <a:bodyPr/>
                    <a:lstStyle/>
                    <a:p>
                      <a:pPr marL="377825">
                        <a:lnSpc>
                          <a:spcPts val="1739"/>
                        </a:lnSpc>
                      </a:pPr>
                      <a:r>
                        <a:rPr sz="1600" b="1" dirty="0">
                          <a:latin typeface="Times New Roman"/>
                          <a:cs typeface="Times New Roman"/>
                        </a:rPr>
                        <a:t>Relevance</a:t>
                      </a:r>
                      <a:r>
                        <a:rPr sz="1600" b="1" spc="-30" dirty="0">
                          <a:latin typeface="Times New Roman"/>
                          <a:cs typeface="Times New Roman"/>
                        </a:rPr>
                        <a:t> </a:t>
                      </a:r>
                      <a:r>
                        <a:rPr sz="1600" b="1" dirty="0">
                          <a:latin typeface="Times New Roman"/>
                          <a:cs typeface="Times New Roman"/>
                        </a:rPr>
                        <a:t>to</a:t>
                      </a:r>
                      <a:r>
                        <a:rPr sz="1600" b="1" spc="-30" dirty="0">
                          <a:latin typeface="Times New Roman"/>
                          <a:cs typeface="Times New Roman"/>
                        </a:rPr>
                        <a:t> </a:t>
                      </a:r>
                      <a:r>
                        <a:rPr sz="1600" b="1" dirty="0">
                          <a:latin typeface="Times New Roman"/>
                          <a:cs typeface="Times New Roman"/>
                        </a:rPr>
                        <a:t>the</a:t>
                      </a:r>
                      <a:r>
                        <a:rPr sz="1600" b="1" spc="-20" dirty="0">
                          <a:latin typeface="Times New Roman"/>
                          <a:cs typeface="Times New Roman"/>
                        </a:rPr>
                        <a:t> </a:t>
                      </a:r>
                      <a:r>
                        <a:rPr sz="1600" b="1" dirty="0">
                          <a:latin typeface="Times New Roman"/>
                          <a:cs typeface="Times New Roman"/>
                        </a:rPr>
                        <a:t>Project</a:t>
                      </a:r>
                      <a:r>
                        <a:rPr sz="1600" b="1" spc="-15" dirty="0">
                          <a:latin typeface="Times New Roman"/>
                          <a:cs typeface="Times New Roman"/>
                        </a:rPr>
                        <a:t> </a:t>
                      </a:r>
                      <a:r>
                        <a:rPr sz="1600" b="1" spc="-20" dirty="0">
                          <a:latin typeface="Times New Roman"/>
                          <a:cs typeface="Times New Roman"/>
                        </a:rPr>
                        <a:t>(AI-</a:t>
                      </a:r>
                      <a:r>
                        <a:rPr sz="1600" b="1" dirty="0">
                          <a:latin typeface="Times New Roman"/>
                          <a:cs typeface="Times New Roman"/>
                        </a:rPr>
                        <a:t>Powered</a:t>
                      </a:r>
                      <a:r>
                        <a:rPr sz="1600" b="1" spc="-45" dirty="0">
                          <a:latin typeface="Times New Roman"/>
                          <a:cs typeface="Times New Roman"/>
                        </a:rPr>
                        <a:t> </a:t>
                      </a:r>
                      <a:r>
                        <a:rPr sz="1600" b="1" spc="-20" dirty="0">
                          <a:latin typeface="Times New Roman"/>
                          <a:cs typeface="Times New Roman"/>
                        </a:rPr>
                        <a:t>EMG-</a:t>
                      </a:r>
                      <a:r>
                        <a:rPr sz="1600" b="1" dirty="0">
                          <a:latin typeface="Times New Roman"/>
                          <a:cs typeface="Times New Roman"/>
                        </a:rPr>
                        <a:t>Controlled</a:t>
                      </a:r>
                      <a:r>
                        <a:rPr sz="1600" b="1" spc="5" dirty="0">
                          <a:latin typeface="Times New Roman"/>
                          <a:cs typeface="Times New Roman"/>
                        </a:rPr>
                        <a:t> </a:t>
                      </a:r>
                      <a:r>
                        <a:rPr sz="1600" b="1" dirty="0">
                          <a:latin typeface="Times New Roman"/>
                          <a:cs typeface="Times New Roman"/>
                        </a:rPr>
                        <a:t>Assistive</a:t>
                      </a:r>
                      <a:r>
                        <a:rPr sz="1600" b="1" spc="-25" dirty="0">
                          <a:latin typeface="Times New Roman"/>
                          <a:cs typeface="Times New Roman"/>
                        </a:rPr>
                        <a:t> </a:t>
                      </a:r>
                      <a:r>
                        <a:rPr sz="1600" b="1" spc="-10" dirty="0">
                          <a:latin typeface="Times New Roman"/>
                          <a:cs typeface="Times New Roman"/>
                        </a:rPr>
                        <a:t>Glove)</a:t>
                      </a:r>
                      <a:endParaRPr sz="1600">
                        <a:latin typeface="Times New Roman"/>
                        <a:cs typeface="Times New Roman"/>
                      </a:endParaRPr>
                    </a:p>
                  </a:txBody>
                  <a:tcPr marL="0" marR="0" marT="0" marB="0"/>
                </a:tc>
              </a:tr>
              <a:tr h="593090">
                <a:tc>
                  <a:txBody>
                    <a:bodyPr/>
                    <a:lstStyle/>
                    <a:p>
                      <a:pPr marL="31750">
                        <a:lnSpc>
                          <a:spcPct val="100000"/>
                        </a:lnSpc>
                        <a:spcBef>
                          <a:spcPts val="1840"/>
                        </a:spcBef>
                      </a:pPr>
                      <a:r>
                        <a:rPr sz="1600" b="1" dirty="0">
                          <a:latin typeface="Times New Roman"/>
                          <a:cs typeface="Times New Roman"/>
                        </a:rPr>
                        <a:t>PO6</a:t>
                      </a:r>
                      <a:r>
                        <a:rPr sz="1600" b="1" spc="-15" dirty="0">
                          <a:latin typeface="Times New Roman"/>
                          <a:cs typeface="Times New Roman"/>
                        </a:rPr>
                        <a:t> </a:t>
                      </a:r>
                      <a:r>
                        <a:rPr sz="1600" b="1" dirty="0">
                          <a:latin typeface="Times New Roman"/>
                          <a:cs typeface="Times New Roman"/>
                        </a:rPr>
                        <a:t>–</a:t>
                      </a:r>
                      <a:r>
                        <a:rPr sz="1600" b="1" spc="-25" dirty="0">
                          <a:latin typeface="Times New Roman"/>
                          <a:cs typeface="Times New Roman"/>
                        </a:rPr>
                        <a:t> </a:t>
                      </a:r>
                      <a:r>
                        <a:rPr sz="1600" b="1" dirty="0">
                          <a:latin typeface="Times New Roman"/>
                          <a:cs typeface="Times New Roman"/>
                        </a:rPr>
                        <a:t>The</a:t>
                      </a:r>
                      <a:r>
                        <a:rPr sz="1600" b="1" spc="-15" dirty="0">
                          <a:latin typeface="Times New Roman"/>
                          <a:cs typeface="Times New Roman"/>
                        </a:rPr>
                        <a:t> </a:t>
                      </a:r>
                      <a:r>
                        <a:rPr sz="1600" b="1" dirty="0">
                          <a:latin typeface="Times New Roman"/>
                          <a:cs typeface="Times New Roman"/>
                        </a:rPr>
                        <a:t>Engineer</a:t>
                      </a:r>
                      <a:r>
                        <a:rPr sz="1600" b="1" spc="-20" dirty="0">
                          <a:latin typeface="Times New Roman"/>
                          <a:cs typeface="Times New Roman"/>
                        </a:rPr>
                        <a:t> </a:t>
                      </a:r>
                      <a:r>
                        <a:rPr sz="1600" b="1" dirty="0">
                          <a:latin typeface="Times New Roman"/>
                          <a:cs typeface="Times New Roman"/>
                        </a:rPr>
                        <a:t>and</a:t>
                      </a:r>
                      <a:r>
                        <a:rPr sz="1600" b="1" spc="-30" dirty="0">
                          <a:latin typeface="Times New Roman"/>
                          <a:cs typeface="Times New Roman"/>
                        </a:rPr>
                        <a:t> </a:t>
                      </a:r>
                      <a:r>
                        <a:rPr sz="1600" b="1" dirty="0">
                          <a:latin typeface="Times New Roman"/>
                          <a:cs typeface="Times New Roman"/>
                        </a:rPr>
                        <a:t>The</a:t>
                      </a:r>
                      <a:r>
                        <a:rPr sz="1600" b="1" spc="-25" dirty="0">
                          <a:latin typeface="Times New Roman"/>
                          <a:cs typeface="Times New Roman"/>
                        </a:rPr>
                        <a:t> </a:t>
                      </a:r>
                      <a:r>
                        <a:rPr sz="1600" b="1" spc="-10" dirty="0">
                          <a:latin typeface="Times New Roman"/>
                          <a:cs typeface="Times New Roman"/>
                        </a:rPr>
                        <a:t>World</a:t>
                      </a:r>
                      <a:endParaRPr sz="1600">
                        <a:latin typeface="Times New Roman"/>
                        <a:cs typeface="Times New Roman"/>
                      </a:endParaRPr>
                    </a:p>
                  </a:txBody>
                  <a:tcPr marL="0" marR="0" marT="233680" marB="0"/>
                </a:tc>
                <a:tc>
                  <a:txBody>
                    <a:bodyPr/>
                    <a:lstStyle/>
                    <a:p>
                      <a:pPr marL="377825" marR="25400" indent="328930">
                        <a:lnSpc>
                          <a:spcPct val="100000"/>
                        </a:lnSpc>
                        <a:spcBef>
                          <a:spcPts val="730"/>
                        </a:spcBef>
                      </a:pPr>
                      <a:r>
                        <a:rPr sz="1600" dirty="0">
                          <a:latin typeface="Times New Roman"/>
                          <a:cs typeface="Times New Roman"/>
                        </a:rPr>
                        <a:t>Mapped</a:t>
                      </a:r>
                      <a:r>
                        <a:rPr sz="1600" spc="-35" dirty="0">
                          <a:latin typeface="Times New Roman"/>
                          <a:cs typeface="Times New Roman"/>
                        </a:rPr>
                        <a:t> </a:t>
                      </a:r>
                      <a:r>
                        <a:rPr sz="1600" dirty="0">
                          <a:latin typeface="Times New Roman"/>
                          <a:cs typeface="Times New Roman"/>
                        </a:rPr>
                        <a:t>–</a:t>
                      </a:r>
                      <a:r>
                        <a:rPr sz="1600" spc="-35" dirty="0">
                          <a:latin typeface="Times New Roman"/>
                          <a:cs typeface="Times New Roman"/>
                        </a:rPr>
                        <a:t> </a:t>
                      </a:r>
                      <a:r>
                        <a:rPr sz="1600" dirty="0">
                          <a:latin typeface="Times New Roman"/>
                          <a:cs typeface="Times New Roman"/>
                        </a:rPr>
                        <a:t>Developed</a:t>
                      </a:r>
                      <a:r>
                        <a:rPr sz="1600" spc="-35" dirty="0">
                          <a:latin typeface="Times New Roman"/>
                          <a:cs typeface="Times New Roman"/>
                        </a:rPr>
                        <a:t> </a:t>
                      </a:r>
                      <a:r>
                        <a:rPr sz="1600" dirty="0">
                          <a:latin typeface="Times New Roman"/>
                          <a:cs typeface="Times New Roman"/>
                        </a:rPr>
                        <a:t>a</a:t>
                      </a:r>
                      <a:r>
                        <a:rPr sz="1600" spc="-40" dirty="0">
                          <a:latin typeface="Times New Roman"/>
                          <a:cs typeface="Times New Roman"/>
                        </a:rPr>
                        <a:t> </a:t>
                      </a:r>
                      <a:r>
                        <a:rPr sz="1600" dirty="0">
                          <a:latin typeface="Times New Roman"/>
                          <a:cs typeface="Times New Roman"/>
                        </a:rPr>
                        <a:t>socially</a:t>
                      </a:r>
                      <a:r>
                        <a:rPr sz="1600" spc="-40" dirty="0">
                          <a:latin typeface="Times New Roman"/>
                          <a:cs typeface="Times New Roman"/>
                        </a:rPr>
                        <a:t> </a:t>
                      </a:r>
                      <a:r>
                        <a:rPr sz="1600" dirty="0">
                          <a:latin typeface="Times New Roman"/>
                          <a:cs typeface="Times New Roman"/>
                        </a:rPr>
                        <a:t>beneficial</a:t>
                      </a:r>
                      <a:r>
                        <a:rPr sz="1600" spc="-25" dirty="0">
                          <a:latin typeface="Times New Roman"/>
                          <a:cs typeface="Times New Roman"/>
                        </a:rPr>
                        <a:t> </a:t>
                      </a:r>
                      <a:r>
                        <a:rPr sz="1600" dirty="0">
                          <a:latin typeface="Times New Roman"/>
                          <a:cs typeface="Times New Roman"/>
                        </a:rPr>
                        <a:t>device</a:t>
                      </a:r>
                      <a:r>
                        <a:rPr sz="1600" spc="-35" dirty="0">
                          <a:latin typeface="Times New Roman"/>
                          <a:cs typeface="Times New Roman"/>
                        </a:rPr>
                        <a:t> </a:t>
                      </a:r>
                      <a:r>
                        <a:rPr sz="1600" dirty="0">
                          <a:latin typeface="Times New Roman"/>
                          <a:cs typeface="Times New Roman"/>
                        </a:rPr>
                        <a:t>aimed</a:t>
                      </a:r>
                      <a:r>
                        <a:rPr sz="1600" spc="-25" dirty="0">
                          <a:latin typeface="Times New Roman"/>
                          <a:cs typeface="Times New Roman"/>
                        </a:rPr>
                        <a:t> </a:t>
                      </a:r>
                      <a:r>
                        <a:rPr sz="1600" dirty="0">
                          <a:latin typeface="Times New Roman"/>
                          <a:cs typeface="Times New Roman"/>
                        </a:rPr>
                        <a:t>at</a:t>
                      </a:r>
                      <a:r>
                        <a:rPr sz="1600" spc="-20" dirty="0">
                          <a:latin typeface="Times New Roman"/>
                          <a:cs typeface="Times New Roman"/>
                        </a:rPr>
                        <a:t> </a:t>
                      </a:r>
                      <a:r>
                        <a:rPr sz="1600" dirty="0">
                          <a:latin typeface="Times New Roman"/>
                          <a:cs typeface="Times New Roman"/>
                        </a:rPr>
                        <a:t>rehabilitation</a:t>
                      </a:r>
                      <a:r>
                        <a:rPr sz="1600" spc="-30" dirty="0">
                          <a:latin typeface="Times New Roman"/>
                          <a:cs typeface="Times New Roman"/>
                        </a:rPr>
                        <a:t> </a:t>
                      </a:r>
                      <a:r>
                        <a:rPr sz="1600" dirty="0">
                          <a:latin typeface="Times New Roman"/>
                          <a:cs typeface="Times New Roman"/>
                        </a:rPr>
                        <a:t>and</a:t>
                      </a:r>
                      <a:r>
                        <a:rPr sz="1600" spc="-40" dirty="0">
                          <a:latin typeface="Times New Roman"/>
                          <a:cs typeface="Times New Roman"/>
                        </a:rPr>
                        <a:t> </a:t>
                      </a:r>
                      <a:r>
                        <a:rPr sz="1600" spc="-10" dirty="0">
                          <a:latin typeface="Times New Roman"/>
                          <a:cs typeface="Times New Roman"/>
                        </a:rPr>
                        <a:t>inclusion </a:t>
                      </a:r>
                      <a:r>
                        <a:rPr sz="1600" dirty="0">
                          <a:latin typeface="Times New Roman"/>
                          <a:cs typeface="Times New Roman"/>
                        </a:rPr>
                        <a:t>of</a:t>
                      </a:r>
                      <a:r>
                        <a:rPr sz="1600" spc="-5" dirty="0">
                          <a:latin typeface="Times New Roman"/>
                          <a:cs typeface="Times New Roman"/>
                        </a:rPr>
                        <a:t> </a:t>
                      </a:r>
                      <a:r>
                        <a:rPr sz="1600" spc="-10" dirty="0">
                          <a:latin typeface="Times New Roman"/>
                          <a:cs typeface="Times New Roman"/>
                        </a:rPr>
                        <a:t>differently-</a:t>
                      </a:r>
                      <a:r>
                        <a:rPr sz="1600" dirty="0">
                          <a:latin typeface="Times New Roman"/>
                          <a:cs typeface="Times New Roman"/>
                        </a:rPr>
                        <a:t>abled</a:t>
                      </a:r>
                      <a:r>
                        <a:rPr sz="1600" spc="45" dirty="0">
                          <a:latin typeface="Times New Roman"/>
                          <a:cs typeface="Times New Roman"/>
                        </a:rPr>
                        <a:t> </a:t>
                      </a:r>
                      <a:r>
                        <a:rPr sz="1600" spc="-10" dirty="0">
                          <a:latin typeface="Times New Roman"/>
                          <a:cs typeface="Times New Roman"/>
                        </a:rPr>
                        <a:t>individuals.</a:t>
                      </a:r>
                      <a:endParaRPr sz="1600">
                        <a:latin typeface="Times New Roman"/>
                        <a:cs typeface="Times New Roman"/>
                      </a:endParaRPr>
                    </a:p>
                  </a:txBody>
                  <a:tcPr marL="0" marR="0" marT="92710" marB="0"/>
                </a:tc>
              </a:tr>
              <a:tr h="535940">
                <a:tc>
                  <a:txBody>
                    <a:bodyPr/>
                    <a:lstStyle/>
                    <a:p>
                      <a:pPr marL="31750">
                        <a:lnSpc>
                          <a:spcPct val="100000"/>
                        </a:lnSpc>
                        <a:spcBef>
                          <a:spcPts val="1385"/>
                        </a:spcBef>
                      </a:pPr>
                      <a:r>
                        <a:rPr sz="1600" b="1" dirty="0">
                          <a:latin typeface="Times New Roman"/>
                          <a:cs typeface="Times New Roman"/>
                        </a:rPr>
                        <a:t>PO7</a:t>
                      </a:r>
                      <a:r>
                        <a:rPr sz="1600" b="1" spc="-15" dirty="0">
                          <a:latin typeface="Times New Roman"/>
                          <a:cs typeface="Times New Roman"/>
                        </a:rPr>
                        <a:t> </a:t>
                      </a:r>
                      <a:r>
                        <a:rPr sz="1600" b="1" dirty="0">
                          <a:latin typeface="Times New Roman"/>
                          <a:cs typeface="Times New Roman"/>
                        </a:rPr>
                        <a:t>–</a:t>
                      </a:r>
                      <a:r>
                        <a:rPr sz="1600" b="1" spc="-25" dirty="0">
                          <a:latin typeface="Times New Roman"/>
                          <a:cs typeface="Times New Roman"/>
                        </a:rPr>
                        <a:t> </a:t>
                      </a:r>
                      <a:r>
                        <a:rPr sz="1600" b="1" spc="-10" dirty="0">
                          <a:latin typeface="Times New Roman"/>
                          <a:cs typeface="Times New Roman"/>
                        </a:rPr>
                        <a:t>Ethics</a:t>
                      </a:r>
                      <a:endParaRPr sz="1600">
                        <a:latin typeface="Times New Roman"/>
                        <a:cs typeface="Times New Roman"/>
                      </a:endParaRPr>
                    </a:p>
                  </a:txBody>
                  <a:tcPr marL="0" marR="0" marT="175895" marB="0"/>
                </a:tc>
                <a:tc>
                  <a:txBody>
                    <a:bodyPr/>
                    <a:lstStyle/>
                    <a:p>
                      <a:pPr marL="377825" marR="25400" indent="351790">
                        <a:lnSpc>
                          <a:spcPct val="100000"/>
                        </a:lnSpc>
                        <a:spcBef>
                          <a:spcPts val="280"/>
                        </a:spcBef>
                      </a:pPr>
                      <a:r>
                        <a:rPr sz="1600" dirty="0">
                          <a:latin typeface="Times New Roman"/>
                          <a:cs typeface="Times New Roman"/>
                        </a:rPr>
                        <a:t>Mapped</a:t>
                      </a:r>
                      <a:r>
                        <a:rPr sz="1600" spc="145" dirty="0">
                          <a:latin typeface="Times New Roman"/>
                          <a:cs typeface="Times New Roman"/>
                        </a:rPr>
                        <a:t> </a:t>
                      </a:r>
                      <a:r>
                        <a:rPr sz="1600" dirty="0">
                          <a:latin typeface="Times New Roman"/>
                          <a:cs typeface="Times New Roman"/>
                        </a:rPr>
                        <a:t>–</a:t>
                      </a:r>
                      <a:r>
                        <a:rPr sz="1600" spc="140" dirty="0">
                          <a:latin typeface="Times New Roman"/>
                          <a:cs typeface="Times New Roman"/>
                        </a:rPr>
                        <a:t> </a:t>
                      </a:r>
                      <a:r>
                        <a:rPr sz="1600" dirty="0">
                          <a:latin typeface="Times New Roman"/>
                          <a:cs typeface="Times New Roman"/>
                        </a:rPr>
                        <a:t>Ensured</a:t>
                      </a:r>
                      <a:r>
                        <a:rPr sz="1600" spc="140" dirty="0">
                          <a:latin typeface="Times New Roman"/>
                          <a:cs typeface="Times New Roman"/>
                        </a:rPr>
                        <a:t> </a:t>
                      </a:r>
                      <a:r>
                        <a:rPr sz="1600" dirty="0">
                          <a:latin typeface="Times New Roman"/>
                          <a:cs typeface="Times New Roman"/>
                        </a:rPr>
                        <a:t>ethical</a:t>
                      </a:r>
                      <a:r>
                        <a:rPr sz="1600" spc="155" dirty="0">
                          <a:latin typeface="Times New Roman"/>
                          <a:cs typeface="Times New Roman"/>
                        </a:rPr>
                        <a:t> </a:t>
                      </a:r>
                      <a:r>
                        <a:rPr sz="1600" dirty="0">
                          <a:latin typeface="Times New Roman"/>
                          <a:cs typeface="Times New Roman"/>
                        </a:rPr>
                        <a:t>handling</a:t>
                      </a:r>
                      <a:r>
                        <a:rPr sz="1600" spc="145" dirty="0">
                          <a:latin typeface="Times New Roman"/>
                          <a:cs typeface="Times New Roman"/>
                        </a:rPr>
                        <a:t> </a:t>
                      </a:r>
                      <a:r>
                        <a:rPr sz="1600" dirty="0">
                          <a:latin typeface="Times New Roman"/>
                          <a:cs typeface="Times New Roman"/>
                        </a:rPr>
                        <a:t>of</a:t>
                      </a:r>
                      <a:r>
                        <a:rPr sz="1600" spc="140" dirty="0">
                          <a:latin typeface="Times New Roman"/>
                          <a:cs typeface="Times New Roman"/>
                        </a:rPr>
                        <a:t> </a:t>
                      </a:r>
                      <a:r>
                        <a:rPr sz="1600" dirty="0">
                          <a:latin typeface="Times New Roman"/>
                          <a:cs typeface="Times New Roman"/>
                        </a:rPr>
                        <a:t>biosignals,</a:t>
                      </a:r>
                      <a:r>
                        <a:rPr sz="1600" spc="150" dirty="0">
                          <a:latin typeface="Times New Roman"/>
                          <a:cs typeface="Times New Roman"/>
                        </a:rPr>
                        <a:t> </a:t>
                      </a:r>
                      <a:r>
                        <a:rPr sz="1600" dirty="0">
                          <a:latin typeface="Times New Roman"/>
                          <a:cs typeface="Times New Roman"/>
                        </a:rPr>
                        <a:t>user</a:t>
                      </a:r>
                      <a:r>
                        <a:rPr sz="1600" spc="150" dirty="0">
                          <a:latin typeface="Times New Roman"/>
                          <a:cs typeface="Times New Roman"/>
                        </a:rPr>
                        <a:t> </a:t>
                      </a:r>
                      <a:r>
                        <a:rPr sz="1600" dirty="0">
                          <a:latin typeface="Times New Roman"/>
                          <a:cs typeface="Times New Roman"/>
                        </a:rPr>
                        <a:t>safety,</a:t>
                      </a:r>
                      <a:r>
                        <a:rPr sz="1600" spc="150" dirty="0">
                          <a:latin typeface="Times New Roman"/>
                          <a:cs typeface="Times New Roman"/>
                        </a:rPr>
                        <a:t> </a:t>
                      </a:r>
                      <a:r>
                        <a:rPr sz="1600" dirty="0">
                          <a:latin typeface="Times New Roman"/>
                          <a:cs typeface="Times New Roman"/>
                        </a:rPr>
                        <a:t>and</a:t>
                      </a:r>
                      <a:r>
                        <a:rPr sz="1600" spc="145" dirty="0">
                          <a:latin typeface="Times New Roman"/>
                          <a:cs typeface="Times New Roman"/>
                        </a:rPr>
                        <a:t> </a:t>
                      </a:r>
                      <a:r>
                        <a:rPr sz="1600" dirty="0">
                          <a:latin typeface="Times New Roman"/>
                          <a:cs typeface="Times New Roman"/>
                        </a:rPr>
                        <a:t>compliance</a:t>
                      </a:r>
                      <a:r>
                        <a:rPr sz="1600" spc="155" dirty="0">
                          <a:latin typeface="Times New Roman"/>
                          <a:cs typeface="Times New Roman"/>
                        </a:rPr>
                        <a:t> </a:t>
                      </a:r>
                      <a:r>
                        <a:rPr sz="1600" spc="-20" dirty="0">
                          <a:latin typeface="Times New Roman"/>
                          <a:cs typeface="Times New Roman"/>
                        </a:rPr>
                        <a:t>with </a:t>
                      </a:r>
                      <a:r>
                        <a:rPr sz="1600" dirty="0">
                          <a:latin typeface="Times New Roman"/>
                          <a:cs typeface="Times New Roman"/>
                        </a:rPr>
                        <a:t>medical</a:t>
                      </a:r>
                      <a:r>
                        <a:rPr sz="1600" spc="-10" dirty="0">
                          <a:latin typeface="Times New Roman"/>
                          <a:cs typeface="Times New Roman"/>
                        </a:rPr>
                        <a:t> </a:t>
                      </a:r>
                      <a:r>
                        <a:rPr sz="1600" dirty="0">
                          <a:latin typeface="Times New Roman"/>
                          <a:cs typeface="Times New Roman"/>
                        </a:rPr>
                        <a:t>and</a:t>
                      </a:r>
                      <a:r>
                        <a:rPr sz="1600" spc="-55" dirty="0">
                          <a:latin typeface="Times New Roman"/>
                          <a:cs typeface="Times New Roman"/>
                        </a:rPr>
                        <a:t> </a:t>
                      </a:r>
                      <a:r>
                        <a:rPr sz="1600" dirty="0">
                          <a:latin typeface="Times New Roman"/>
                          <a:cs typeface="Times New Roman"/>
                        </a:rPr>
                        <a:t>engineering</a:t>
                      </a:r>
                      <a:r>
                        <a:rPr sz="1600" spc="-30" dirty="0">
                          <a:latin typeface="Times New Roman"/>
                          <a:cs typeface="Times New Roman"/>
                        </a:rPr>
                        <a:t> </a:t>
                      </a:r>
                      <a:r>
                        <a:rPr sz="1600" spc="-10" dirty="0">
                          <a:latin typeface="Times New Roman"/>
                          <a:cs typeface="Times New Roman"/>
                        </a:rPr>
                        <a:t>ethics.</a:t>
                      </a:r>
                      <a:endParaRPr sz="1600">
                        <a:latin typeface="Times New Roman"/>
                        <a:cs typeface="Times New Roman"/>
                      </a:endParaRPr>
                    </a:p>
                  </a:txBody>
                  <a:tcPr marL="0" marR="0" marT="35560" marB="0"/>
                </a:tc>
              </a:tr>
              <a:tr h="534670">
                <a:tc>
                  <a:txBody>
                    <a:bodyPr/>
                    <a:lstStyle/>
                    <a:p>
                      <a:pPr marL="31750">
                        <a:lnSpc>
                          <a:spcPct val="100000"/>
                        </a:lnSpc>
                        <a:spcBef>
                          <a:spcPts val="1380"/>
                        </a:spcBef>
                      </a:pPr>
                      <a:r>
                        <a:rPr sz="1600" b="1" dirty="0">
                          <a:latin typeface="Times New Roman"/>
                          <a:cs typeface="Times New Roman"/>
                        </a:rPr>
                        <a:t>PO8</a:t>
                      </a:r>
                      <a:r>
                        <a:rPr sz="1600" b="1" spc="-25" dirty="0">
                          <a:latin typeface="Times New Roman"/>
                          <a:cs typeface="Times New Roman"/>
                        </a:rPr>
                        <a:t> </a:t>
                      </a:r>
                      <a:r>
                        <a:rPr sz="1600" b="1" dirty="0">
                          <a:latin typeface="Times New Roman"/>
                          <a:cs typeface="Times New Roman"/>
                        </a:rPr>
                        <a:t>–</a:t>
                      </a:r>
                      <a:r>
                        <a:rPr sz="1600" b="1" spc="-35" dirty="0">
                          <a:latin typeface="Times New Roman"/>
                          <a:cs typeface="Times New Roman"/>
                        </a:rPr>
                        <a:t> </a:t>
                      </a:r>
                      <a:r>
                        <a:rPr sz="1600" b="1" dirty="0">
                          <a:latin typeface="Times New Roman"/>
                          <a:cs typeface="Times New Roman"/>
                        </a:rPr>
                        <a:t>Individual</a:t>
                      </a:r>
                      <a:r>
                        <a:rPr sz="1600" b="1" spc="-25" dirty="0">
                          <a:latin typeface="Times New Roman"/>
                          <a:cs typeface="Times New Roman"/>
                        </a:rPr>
                        <a:t> </a:t>
                      </a:r>
                      <a:r>
                        <a:rPr sz="1600" b="1" dirty="0">
                          <a:latin typeface="Times New Roman"/>
                          <a:cs typeface="Times New Roman"/>
                        </a:rPr>
                        <a:t>and</a:t>
                      </a:r>
                      <a:r>
                        <a:rPr sz="1600" b="1" spc="-40" dirty="0">
                          <a:latin typeface="Times New Roman"/>
                          <a:cs typeface="Times New Roman"/>
                        </a:rPr>
                        <a:t> </a:t>
                      </a:r>
                      <a:r>
                        <a:rPr sz="1600" b="1" dirty="0">
                          <a:latin typeface="Times New Roman"/>
                          <a:cs typeface="Times New Roman"/>
                        </a:rPr>
                        <a:t>Team</a:t>
                      </a:r>
                      <a:r>
                        <a:rPr sz="1600" b="1" spc="-25" dirty="0">
                          <a:latin typeface="Times New Roman"/>
                          <a:cs typeface="Times New Roman"/>
                        </a:rPr>
                        <a:t> </a:t>
                      </a:r>
                      <a:r>
                        <a:rPr sz="1600" b="1" spc="-20" dirty="0">
                          <a:latin typeface="Times New Roman"/>
                          <a:cs typeface="Times New Roman"/>
                        </a:rPr>
                        <a:t>Work</a:t>
                      </a:r>
                      <a:endParaRPr sz="1600">
                        <a:latin typeface="Times New Roman"/>
                        <a:cs typeface="Times New Roman"/>
                      </a:endParaRPr>
                    </a:p>
                  </a:txBody>
                  <a:tcPr marL="0" marR="0" marT="175260" marB="0"/>
                </a:tc>
                <a:tc>
                  <a:txBody>
                    <a:bodyPr/>
                    <a:lstStyle/>
                    <a:p>
                      <a:pPr marL="831850">
                        <a:lnSpc>
                          <a:spcPct val="100000"/>
                        </a:lnSpc>
                        <a:spcBef>
                          <a:spcPts val="420"/>
                        </a:spcBef>
                        <a:tabLst>
                          <a:tab pos="1674495" algn="l"/>
                          <a:tab pos="1951989" algn="l"/>
                          <a:tab pos="2907665" algn="l"/>
                          <a:tab pos="3718560" algn="l"/>
                          <a:tab pos="4606925" algn="l"/>
                          <a:tab pos="5596255" algn="l"/>
                          <a:tab pos="5930265" algn="l"/>
                          <a:tab pos="6690995" algn="l"/>
                          <a:tab pos="7460615" algn="l"/>
                        </a:tabLst>
                      </a:pPr>
                      <a:r>
                        <a:rPr sz="1600" spc="-10" dirty="0">
                          <a:latin typeface="Times New Roman"/>
                          <a:cs typeface="Times New Roman"/>
                        </a:rPr>
                        <a:t>Mapped</a:t>
                      </a:r>
                      <a:r>
                        <a:rPr sz="1600" dirty="0">
                          <a:latin typeface="Times New Roman"/>
                          <a:cs typeface="Times New Roman"/>
                        </a:rPr>
                        <a:t>	</a:t>
                      </a:r>
                      <a:r>
                        <a:rPr sz="1600" spc="-50" dirty="0">
                          <a:latin typeface="Times New Roman"/>
                          <a:cs typeface="Times New Roman"/>
                        </a:rPr>
                        <a:t>–</a:t>
                      </a:r>
                      <a:r>
                        <a:rPr sz="1600" dirty="0">
                          <a:latin typeface="Times New Roman"/>
                          <a:cs typeface="Times New Roman"/>
                        </a:rPr>
                        <a:t>	</a:t>
                      </a:r>
                      <a:r>
                        <a:rPr sz="1600" spc="-10" dirty="0">
                          <a:latin typeface="Times New Roman"/>
                          <a:cs typeface="Times New Roman"/>
                        </a:rPr>
                        <a:t>Achieved</a:t>
                      </a:r>
                      <a:r>
                        <a:rPr sz="1600" dirty="0">
                          <a:latin typeface="Times New Roman"/>
                          <a:cs typeface="Times New Roman"/>
                        </a:rPr>
                        <a:t>	</a:t>
                      </a:r>
                      <a:r>
                        <a:rPr sz="1600" spc="-10" dirty="0">
                          <a:latin typeface="Times New Roman"/>
                          <a:cs typeface="Times New Roman"/>
                        </a:rPr>
                        <a:t>through</a:t>
                      </a:r>
                      <a:r>
                        <a:rPr sz="1600" dirty="0">
                          <a:latin typeface="Times New Roman"/>
                          <a:cs typeface="Times New Roman"/>
                        </a:rPr>
                        <a:t>	</a:t>
                      </a:r>
                      <a:r>
                        <a:rPr sz="1600" spc="-10" dirty="0">
                          <a:latin typeface="Times New Roman"/>
                          <a:cs typeface="Times New Roman"/>
                        </a:rPr>
                        <a:t>effective</a:t>
                      </a:r>
                      <a:r>
                        <a:rPr sz="1600" dirty="0">
                          <a:latin typeface="Times New Roman"/>
                          <a:cs typeface="Times New Roman"/>
                        </a:rPr>
                        <a:t>	</a:t>
                      </a:r>
                      <a:r>
                        <a:rPr sz="1600" spc="-10" dirty="0">
                          <a:latin typeface="Times New Roman"/>
                          <a:cs typeface="Times New Roman"/>
                        </a:rPr>
                        <a:t>teamwork</a:t>
                      </a:r>
                      <a:r>
                        <a:rPr sz="1600" dirty="0">
                          <a:latin typeface="Times New Roman"/>
                          <a:cs typeface="Times New Roman"/>
                        </a:rPr>
                        <a:t>	</a:t>
                      </a:r>
                      <a:r>
                        <a:rPr sz="1600" spc="-25" dirty="0">
                          <a:latin typeface="Times New Roman"/>
                          <a:cs typeface="Times New Roman"/>
                        </a:rPr>
                        <a:t>in</a:t>
                      </a:r>
                      <a:r>
                        <a:rPr sz="1600" dirty="0">
                          <a:latin typeface="Times New Roman"/>
                          <a:cs typeface="Times New Roman"/>
                        </a:rPr>
                        <a:t>	</a:t>
                      </a:r>
                      <a:r>
                        <a:rPr sz="1600" spc="-10" dirty="0">
                          <a:latin typeface="Times New Roman"/>
                          <a:cs typeface="Times New Roman"/>
                        </a:rPr>
                        <a:t>design,</a:t>
                      </a:r>
                      <a:r>
                        <a:rPr sz="1600" dirty="0">
                          <a:latin typeface="Times New Roman"/>
                          <a:cs typeface="Times New Roman"/>
                        </a:rPr>
                        <a:t>	</a:t>
                      </a:r>
                      <a:r>
                        <a:rPr sz="1600" spc="-10" dirty="0">
                          <a:latin typeface="Times New Roman"/>
                          <a:cs typeface="Times New Roman"/>
                        </a:rPr>
                        <a:t>testing,</a:t>
                      </a:r>
                      <a:r>
                        <a:rPr sz="1600" dirty="0">
                          <a:latin typeface="Times New Roman"/>
                          <a:cs typeface="Times New Roman"/>
                        </a:rPr>
                        <a:t>	</a:t>
                      </a:r>
                      <a:r>
                        <a:rPr sz="1600" spc="-25" dirty="0">
                          <a:latin typeface="Times New Roman"/>
                          <a:cs typeface="Times New Roman"/>
                        </a:rPr>
                        <a:t>and</a:t>
                      </a:r>
                      <a:endParaRPr sz="1600">
                        <a:latin typeface="Times New Roman"/>
                        <a:cs typeface="Times New Roman"/>
                      </a:endParaRPr>
                    </a:p>
                    <a:p>
                      <a:pPr marL="377825">
                        <a:lnSpc>
                          <a:spcPts val="1770"/>
                        </a:lnSpc>
                      </a:pPr>
                      <a:r>
                        <a:rPr sz="1600" dirty="0">
                          <a:latin typeface="Times New Roman"/>
                          <a:cs typeface="Times New Roman"/>
                        </a:rPr>
                        <a:t>documentation phases</a:t>
                      </a:r>
                      <a:r>
                        <a:rPr sz="1600" spc="-40" dirty="0">
                          <a:latin typeface="Times New Roman"/>
                          <a:cs typeface="Times New Roman"/>
                        </a:rPr>
                        <a:t> </a:t>
                      </a:r>
                      <a:r>
                        <a:rPr sz="1600" dirty="0">
                          <a:latin typeface="Times New Roman"/>
                          <a:cs typeface="Times New Roman"/>
                        </a:rPr>
                        <a:t>of</a:t>
                      </a:r>
                      <a:r>
                        <a:rPr sz="1600" spc="-50" dirty="0">
                          <a:latin typeface="Times New Roman"/>
                          <a:cs typeface="Times New Roman"/>
                        </a:rPr>
                        <a:t> </a:t>
                      </a:r>
                      <a:r>
                        <a:rPr sz="1600" dirty="0">
                          <a:latin typeface="Times New Roman"/>
                          <a:cs typeface="Times New Roman"/>
                        </a:rPr>
                        <a:t>the</a:t>
                      </a:r>
                      <a:r>
                        <a:rPr sz="1600" spc="-60" dirty="0">
                          <a:latin typeface="Times New Roman"/>
                          <a:cs typeface="Times New Roman"/>
                        </a:rPr>
                        <a:t> </a:t>
                      </a:r>
                      <a:r>
                        <a:rPr sz="1600" spc="-10" dirty="0">
                          <a:latin typeface="Times New Roman"/>
                          <a:cs typeface="Times New Roman"/>
                        </a:rPr>
                        <a:t>project.</a:t>
                      </a:r>
                      <a:endParaRPr sz="1600">
                        <a:latin typeface="Times New Roman"/>
                        <a:cs typeface="Times New Roman"/>
                      </a:endParaRPr>
                    </a:p>
                  </a:txBody>
                  <a:tcPr marL="0" marR="0" marT="53340" marB="0"/>
                </a:tc>
              </a:tr>
              <a:tr h="535940">
                <a:tc>
                  <a:txBody>
                    <a:bodyPr/>
                    <a:lstStyle/>
                    <a:p>
                      <a:pPr marL="31750">
                        <a:lnSpc>
                          <a:spcPct val="100000"/>
                        </a:lnSpc>
                        <a:spcBef>
                          <a:spcPts val="1385"/>
                        </a:spcBef>
                      </a:pPr>
                      <a:r>
                        <a:rPr sz="1600" b="1" dirty="0">
                          <a:latin typeface="Times New Roman"/>
                          <a:cs typeface="Times New Roman"/>
                        </a:rPr>
                        <a:t>PO9</a:t>
                      </a:r>
                      <a:r>
                        <a:rPr sz="1600" b="1" spc="-15" dirty="0">
                          <a:latin typeface="Times New Roman"/>
                          <a:cs typeface="Times New Roman"/>
                        </a:rPr>
                        <a:t> </a:t>
                      </a:r>
                      <a:r>
                        <a:rPr sz="1600" b="1" dirty="0">
                          <a:latin typeface="Times New Roman"/>
                          <a:cs typeface="Times New Roman"/>
                        </a:rPr>
                        <a:t>–</a:t>
                      </a:r>
                      <a:r>
                        <a:rPr sz="1600" b="1" spc="-25" dirty="0">
                          <a:latin typeface="Times New Roman"/>
                          <a:cs typeface="Times New Roman"/>
                        </a:rPr>
                        <a:t> </a:t>
                      </a:r>
                      <a:r>
                        <a:rPr sz="1600" b="1" spc="-10" dirty="0">
                          <a:latin typeface="Times New Roman"/>
                          <a:cs typeface="Times New Roman"/>
                        </a:rPr>
                        <a:t>Communication</a:t>
                      </a:r>
                      <a:endParaRPr sz="1600">
                        <a:latin typeface="Times New Roman"/>
                        <a:cs typeface="Times New Roman"/>
                      </a:endParaRPr>
                    </a:p>
                  </a:txBody>
                  <a:tcPr marL="0" marR="0" marT="175895" marB="0"/>
                </a:tc>
                <a:tc>
                  <a:txBody>
                    <a:bodyPr/>
                    <a:lstStyle/>
                    <a:p>
                      <a:pPr marL="796925">
                        <a:lnSpc>
                          <a:spcPct val="100000"/>
                        </a:lnSpc>
                        <a:spcBef>
                          <a:spcPts val="425"/>
                        </a:spcBef>
                        <a:tabLst>
                          <a:tab pos="1602740" algn="l"/>
                          <a:tab pos="1845310" algn="l"/>
                          <a:tab pos="3229610" algn="l"/>
                          <a:tab pos="4105910" algn="l"/>
                          <a:tab pos="5210810" algn="l"/>
                          <a:tab pos="5904230" algn="l"/>
                          <a:tab pos="6680200" algn="l"/>
                          <a:tab pos="7434580" algn="l"/>
                        </a:tabLst>
                      </a:pPr>
                      <a:r>
                        <a:rPr sz="1600" spc="-10" dirty="0">
                          <a:latin typeface="Times New Roman"/>
                          <a:cs typeface="Times New Roman"/>
                        </a:rPr>
                        <a:t>Mapped</a:t>
                      </a:r>
                      <a:r>
                        <a:rPr sz="1600" dirty="0">
                          <a:latin typeface="Times New Roman"/>
                          <a:cs typeface="Times New Roman"/>
                        </a:rPr>
                        <a:t>	</a:t>
                      </a:r>
                      <a:r>
                        <a:rPr sz="1600" spc="-50" dirty="0">
                          <a:latin typeface="Times New Roman"/>
                          <a:cs typeface="Times New Roman"/>
                        </a:rPr>
                        <a:t>–</a:t>
                      </a:r>
                      <a:r>
                        <a:rPr sz="1600" dirty="0">
                          <a:latin typeface="Times New Roman"/>
                          <a:cs typeface="Times New Roman"/>
                        </a:rPr>
                        <a:t>	</a:t>
                      </a:r>
                      <a:r>
                        <a:rPr sz="1600" spc="-10" dirty="0">
                          <a:latin typeface="Times New Roman"/>
                          <a:cs typeface="Times New Roman"/>
                        </a:rPr>
                        <a:t>Communicated</a:t>
                      </a:r>
                      <a:r>
                        <a:rPr sz="1600" dirty="0">
                          <a:latin typeface="Times New Roman"/>
                          <a:cs typeface="Times New Roman"/>
                        </a:rPr>
                        <a:t>	</a:t>
                      </a:r>
                      <a:r>
                        <a:rPr sz="1600" spc="-10" dirty="0">
                          <a:latin typeface="Times New Roman"/>
                          <a:cs typeface="Times New Roman"/>
                        </a:rPr>
                        <a:t>technical</a:t>
                      </a:r>
                      <a:r>
                        <a:rPr sz="1600" dirty="0">
                          <a:latin typeface="Times New Roman"/>
                          <a:cs typeface="Times New Roman"/>
                        </a:rPr>
                        <a:t>	</a:t>
                      </a:r>
                      <a:r>
                        <a:rPr sz="1600" spc="-10" dirty="0">
                          <a:latin typeface="Times New Roman"/>
                          <a:cs typeface="Times New Roman"/>
                        </a:rPr>
                        <a:t>information</a:t>
                      </a:r>
                      <a:r>
                        <a:rPr sz="1600" dirty="0">
                          <a:latin typeface="Times New Roman"/>
                          <a:cs typeface="Times New Roman"/>
                        </a:rPr>
                        <a:t>	</a:t>
                      </a:r>
                      <a:r>
                        <a:rPr sz="1600" spc="-10" dirty="0">
                          <a:latin typeface="Times New Roman"/>
                          <a:cs typeface="Times New Roman"/>
                        </a:rPr>
                        <a:t>clearly</a:t>
                      </a:r>
                      <a:r>
                        <a:rPr sz="1600" dirty="0">
                          <a:latin typeface="Times New Roman"/>
                          <a:cs typeface="Times New Roman"/>
                        </a:rPr>
                        <a:t>	</a:t>
                      </a:r>
                      <a:r>
                        <a:rPr sz="1600" spc="-10" dirty="0">
                          <a:latin typeface="Times New Roman"/>
                          <a:cs typeface="Times New Roman"/>
                        </a:rPr>
                        <a:t>through</a:t>
                      </a:r>
                      <a:r>
                        <a:rPr sz="1600" dirty="0">
                          <a:latin typeface="Times New Roman"/>
                          <a:cs typeface="Times New Roman"/>
                        </a:rPr>
                        <a:t>	</a:t>
                      </a:r>
                      <a:r>
                        <a:rPr sz="1600" spc="-10" dirty="0">
                          <a:latin typeface="Times New Roman"/>
                          <a:cs typeface="Times New Roman"/>
                        </a:rPr>
                        <a:t>reports,</a:t>
                      </a:r>
                      <a:r>
                        <a:rPr sz="1600" dirty="0">
                          <a:latin typeface="Times New Roman"/>
                          <a:cs typeface="Times New Roman"/>
                        </a:rPr>
                        <a:t>	</a:t>
                      </a:r>
                      <a:r>
                        <a:rPr sz="1600" spc="-20" dirty="0">
                          <a:latin typeface="Times New Roman"/>
                          <a:cs typeface="Times New Roman"/>
                        </a:rPr>
                        <a:t>oral</a:t>
                      </a:r>
                      <a:endParaRPr sz="1600">
                        <a:latin typeface="Times New Roman"/>
                        <a:cs typeface="Times New Roman"/>
                      </a:endParaRPr>
                    </a:p>
                    <a:p>
                      <a:pPr marL="377825">
                        <a:lnSpc>
                          <a:spcPts val="1775"/>
                        </a:lnSpc>
                      </a:pPr>
                      <a:r>
                        <a:rPr sz="1600" dirty="0">
                          <a:latin typeface="Times New Roman"/>
                          <a:cs typeface="Times New Roman"/>
                        </a:rPr>
                        <a:t>presentations,</a:t>
                      </a:r>
                      <a:r>
                        <a:rPr sz="1600" spc="-30" dirty="0">
                          <a:latin typeface="Times New Roman"/>
                          <a:cs typeface="Times New Roman"/>
                        </a:rPr>
                        <a:t> </a:t>
                      </a:r>
                      <a:r>
                        <a:rPr sz="1600" dirty="0">
                          <a:latin typeface="Times New Roman"/>
                          <a:cs typeface="Times New Roman"/>
                        </a:rPr>
                        <a:t>and</a:t>
                      </a:r>
                      <a:r>
                        <a:rPr sz="1600" spc="-60" dirty="0">
                          <a:latin typeface="Times New Roman"/>
                          <a:cs typeface="Times New Roman"/>
                        </a:rPr>
                        <a:t> </a:t>
                      </a:r>
                      <a:r>
                        <a:rPr sz="1600" spc="-10" dirty="0">
                          <a:latin typeface="Times New Roman"/>
                          <a:cs typeface="Times New Roman"/>
                        </a:rPr>
                        <a:t>documentation.</a:t>
                      </a:r>
                      <a:endParaRPr sz="1600">
                        <a:latin typeface="Times New Roman"/>
                        <a:cs typeface="Times New Roman"/>
                      </a:endParaRPr>
                    </a:p>
                  </a:txBody>
                  <a:tcPr marL="0" marR="0" marT="53975" marB="0"/>
                </a:tc>
              </a:tr>
              <a:tr h="599440">
                <a:tc>
                  <a:txBody>
                    <a:bodyPr/>
                    <a:lstStyle/>
                    <a:p>
                      <a:pPr marL="31750">
                        <a:lnSpc>
                          <a:spcPct val="100000"/>
                        </a:lnSpc>
                        <a:spcBef>
                          <a:spcPts val="1380"/>
                        </a:spcBef>
                      </a:pPr>
                      <a:r>
                        <a:rPr sz="1600" b="1" dirty="0">
                          <a:latin typeface="Times New Roman"/>
                          <a:cs typeface="Times New Roman"/>
                        </a:rPr>
                        <a:t>PO10</a:t>
                      </a:r>
                      <a:r>
                        <a:rPr sz="1600" b="1" spc="-35" dirty="0">
                          <a:latin typeface="Times New Roman"/>
                          <a:cs typeface="Times New Roman"/>
                        </a:rPr>
                        <a:t> </a:t>
                      </a:r>
                      <a:r>
                        <a:rPr sz="1600" b="1" dirty="0">
                          <a:latin typeface="Times New Roman"/>
                          <a:cs typeface="Times New Roman"/>
                        </a:rPr>
                        <a:t>–</a:t>
                      </a:r>
                      <a:r>
                        <a:rPr sz="1600" b="1" spc="-45" dirty="0">
                          <a:latin typeface="Times New Roman"/>
                          <a:cs typeface="Times New Roman"/>
                        </a:rPr>
                        <a:t> </a:t>
                      </a:r>
                      <a:r>
                        <a:rPr sz="1600" b="1" dirty="0">
                          <a:latin typeface="Times New Roman"/>
                          <a:cs typeface="Times New Roman"/>
                        </a:rPr>
                        <a:t>Project</a:t>
                      </a:r>
                      <a:r>
                        <a:rPr sz="1600" b="1" spc="-30" dirty="0">
                          <a:latin typeface="Times New Roman"/>
                          <a:cs typeface="Times New Roman"/>
                        </a:rPr>
                        <a:t> </a:t>
                      </a:r>
                      <a:r>
                        <a:rPr sz="1600" b="1" dirty="0">
                          <a:latin typeface="Times New Roman"/>
                          <a:cs typeface="Times New Roman"/>
                        </a:rPr>
                        <a:t>Management</a:t>
                      </a:r>
                      <a:r>
                        <a:rPr sz="1600" b="1" spc="-20" dirty="0">
                          <a:latin typeface="Times New Roman"/>
                          <a:cs typeface="Times New Roman"/>
                        </a:rPr>
                        <a:t> </a:t>
                      </a:r>
                      <a:r>
                        <a:rPr sz="1600" b="1" dirty="0">
                          <a:latin typeface="Times New Roman"/>
                          <a:cs typeface="Times New Roman"/>
                        </a:rPr>
                        <a:t>and</a:t>
                      </a:r>
                      <a:r>
                        <a:rPr sz="1600" b="1" spc="-50" dirty="0">
                          <a:latin typeface="Times New Roman"/>
                          <a:cs typeface="Times New Roman"/>
                        </a:rPr>
                        <a:t> </a:t>
                      </a:r>
                      <a:r>
                        <a:rPr sz="1600" b="1" spc="-10" dirty="0">
                          <a:latin typeface="Times New Roman"/>
                          <a:cs typeface="Times New Roman"/>
                        </a:rPr>
                        <a:t>Finance</a:t>
                      </a:r>
                      <a:endParaRPr sz="1600">
                        <a:latin typeface="Times New Roman"/>
                        <a:cs typeface="Times New Roman"/>
                      </a:endParaRPr>
                    </a:p>
                  </a:txBody>
                  <a:tcPr marL="0" marR="0" marT="175260" marB="0"/>
                </a:tc>
                <a:tc>
                  <a:txBody>
                    <a:bodyPr/>
                    <a:lstStyle/>
                    <a:p>
                      <a:pPr marL="377825" marR="25400" indent="334010">
                        <a:lnSpc>
                          <a:spcPct val="100000"/>
                        </a:lnSpc>
                        <a:spcBef>
                          <a:spcPts val="420"/>
                        </a:spcBef>
                      </a:pPr>
                      <a:r>
                        <a:rPr sz="1600" dirty="0">
                          <a:latin typeface="Times New Roman"/>
                          <a:cs typeface="Times New Roman"/>
                        </a:rPr>
                        <a:t>Mapped</a:t>
                      </a:r>
                      <a:r>
                        <a:rPr sz="1600" spc="-25" dirty="0">
                          <a:latin typeface="Times New Roman"/>
                          <a:cs typeface="Times New Roman"/>
                        </a:rPr>
                        <a:t> </a:t>
                      </a:r>
                      <a:r>
                        <a:rPr sz="1600" dirty="0">
                          <a:latin typeface="Times New Roman"/>
                          <a:cs typeface="Times New Roman"/>
                        </a:rPr>
                        <a:t>–</a:t>
                      </a:r>
                      <a:r>
                        <a:rPr sz="1600" spc="-15" dirty="0">
                          <a:latin typeface="Times New Roman"/>
                          <a:cs typeface="Times New Roman"/>
                        </a:rPr>
                        <a:t> </a:t>
                      </a:r>
                      <a:r>
                        <a:rPr sz="1600" dirty="0">
                          <a:latin typeface="Times New Roman"/>
                          <a:cs typeface="Times New Roman"/>
                        </a:rPr>
                        <a:t>Efficiently</a:t>
                      </a:r>
                      <a:r>
                        <a:rPr sz="1600" spc="-5" dirty="0">
                          <a:latin typeface="Times New Roman"/>
                          <a:cs typeface="Times New Roman"/>
                        </a:rPr>
                        <a:t> </a:t>
                      </a:r>
                      <a:r>
                        <a:rPr sz="1600" dirty="0">
                          <a:latin typeface="Times New Roman"/>
                          <a:cs typeface="Times New Roman"/>
                        </a:rPr>
                        <a:t>managed</a:t>
                      </a:r>
                      <a:r>
                        <a:rPr sz="1600" spc="-5" dirty="0">
                          <a:latin typeface="Times New Roman"/>
                          <a:cs typeface="Times New Roman"/>
                        </a:rPr>
                        <a:t> </a:t>
                      </a:r>
                      <a:r>
                        <a:rPr sz="1600" dirty="0">
                          <a:latin typeface="Times New Roman"/>
                          <a:cs typeface="Times New Roman"/>
                        </a:rPr>
                        <a:t>project</a:t>
                      </a:r>
                      <a:r>
                        <a:rPr sz="1600" spc="-20" dirty="0">
                          <a:latin typeface="Times New Roman"/>
                          <a:cs typeface="Times New Roman"/>
                        </a:rPr>
                        <a:t> </a:t>
                      </a:r>
                      <a:r>
                        <a:rPr sz="1600" dirty="0">
                          <a:latin typeface="Times New Roman"/>
                          <a:cs typeface="Times New Roman"/>
                        </a:rPr>
                        <a:t>components,</a:t>
                      </a:r>
                      <a:r>
                        <a:rPr sz="1600" spc="-10" dirty="0">
                          <a:latin typeface="Times New Roman"/>
                          <a:cs typeface="Times New Roman"/>
                        </a:rPr>
                        <a:t> </a:t>
                      </a:r>
                      <a:r>
                        <a:rPr sz="1600" dirty="0">
                          <a:latin typeface="Times New Roman"/>
                          <a:cs typeface="Times New Roman"/>
                        </a:rPr>
                        <a:t>budgeting,</a:t>
                      </a:r>
                      <a:r>
                        <a:rPr sz="1600" spc="-15" dirty="0">
                          <a:latin typeface="Times New Roman"/>
                          <a:cs typeface="Times New Roman"/>
                        </a:rPr>
                        <a:t> </a:t>
                      </a:r>
                      <a:r>
                        <a:rPr sz="1600" dirty="0">
                          <a:latin typeface="Times New Roman"/>
                          <a:cs typeface="Times New Roman"/>
                        </a:rPr>
                        <a:t>and</a:t>
                      </a:r>
                      <a:r>
                        <a:rPr sz="1600" spc="-20" dirty="0">
                          <a:latin typeface="Times New Roman"/>
                          <a:cs typeface="Times New Roman"/>
                        </a:rPr>
                        <a:t> </a:t>
                      </a:r>
                      <a:r>
                        <a:rPr sz="1600" dirty="0">
                          <a:latin typeface="Times New Roman"/>
                          <a:cs typeface="Times New Roman"/>
                        </a:rPr>
                        <a:t>scheduling</a:t>
                      </a:r>
                      <a:r>
                        <a:rPr sz="1600" spc="-20" dirty="0">
                          <a:latin typeface="Times New Roman"/>
                          <a:cs typeface="Times New Roman"/>
                        </a:rPr>
                        <a:t> </a:t>
                      </a:r>
                      <a:r>
                        <a:rPr sz="1600" spc="-10" dirty="0">
                          <a:latin typeface="Times New Roman"/>
                          <a:cs typeface="Times New Roman"/>
                        </a:rPr>
                        <a:t>during </a:t>
                      </a:r>
                      <a:r>
                        <a:rPr sz="1600" dirty="0">
                          <a:latin typeface="Times New Roman"/>
                          <a:cs typeface="Times New Roman"/>
                        </a:rPr>
                        <a:t>the</a:t>
                      </a:r>
                      <a:r>
                        <a:rPr sz="1600" spc="-20" dirty="0">
                          <a:latin typeface="Times New Roman"/>
                          <a:cs typeface="Times New Roman"/>
                        </a:rPr>
                        <a:t> </a:t>
                      </a:r>
                      <a:r>
                        <a:rPr sz="1600" dirty="0">
                          <a:latin typeface="Times New Roman"/>
                          <a:cs typeface="Times New Roman"/>
                        </a:rPr>
                        <a:t>design</a:t>
                      </a:r>
                      <a:r>
                        <a:rPr sz="1600" spc="-30" dirty="0">
                          <a:latin typeface="Times New Roman"/>
                          <a:cs typeface="Times New Roman"/>
                        </a:rPr>
                        <a:t> </a:t>
                      </a:r>
                      <a:r>
                        <a:rPr sz="1600" dirty="0">
                          <a:latin typeface="Times New Roman"/>
                          <a:cs typeface="Times New Roman"/>
                        </a:rPr>
                        <a:t>and</a:t>
                      </a:r>
                      <a:r>
                        <a:rPr sz="1600" spc="-30" dirty="0">
                          <a:latin typeface="Times New Roman"/>
                          <a:cs typeface="Times New Roman"/>
                        </a:rPr>
                        <a:t> </a:t>
                      </a:r>
                      <a:r>
                        <a:rPr sz="1600" dirty="0">
                          <a:latin typeface="Times New Roman"/>
                          <a:cs typeface="Times New Roman"/>
                        </a:rPr>
                        <a:t>testing</a:t>
                      </a:r>
                      <a:r>
                        <a:rPr sz="1600" spc="-5" dirty="0">
                          <a:latin typeface="Times New Roman"/>
                          <a:cs typeface="Times New Roman"/>
                        </a:rPr>
                        <a:t> </a:t>
                      </a:r>
                      <a:r>
                        <a:rPr sz="1600" spc="-10" dirty="0">
                          <a:latin typeface="Times New Roman"/>
                          <a:cs typeface="Times New Roman"/>
                        </a:rPr>
                        <a:t>phases.</a:t>
                      </a:r>
                      <a:endParaRPr sz="1600">
                        <a:latin typeface="Times New Roman"/>
                        <a:cs typeface="Times New Roman"/>
                      </a:endParaRPr>
                    </a:p>
                  </a:txBody>
                  <a:tcPr marL="0" marR="0" marT="53340" marB="0"/>
                </a:tc>
              </a:tr>
              <a:tr h="720725">
                <a:tc>
                  <a:txBody>
                    <a:bodyPr/>
                    <a:lstStyle/>
                    <a:p>
                      <a:pPr>
                        <a:lnSpc>
                          <a:spcPct val="100000"/>
                        </a:lnSpc>
                        <a:spcBef>
                          <a:spcPts val="10"/>
                        </a:spcBef>
                      </a:pPr>
                      <a:endParaRPr sz="1600">
                        <a:latin typeface="Times New Roman"/>
                        <a:cs typeface="Times New Roman"/>
                      </a:endParaRPr>
                    </a:p>
                    <a:p>
                      <a:pPr marL="31750">
                        <a:lnSpc>
                          <a:spcPct val="100000"/>
                        </a:lnSpc>
                      </a:pPr>
                      <a:r>
                        <a:rPr sz="1600" b="1" dirty="0">
                          <a:latin typeface="Times New Roman"/>
                          <a:cs typeface="Times New Roman"/>
                        </a:rPr>
                        <a:t>PO11</a:t>
                      </a:r>
                      <a:r>
                        <a:rPr sz="1600" b="1" spc="-5" dirty="0">
                          <a:latin typeface="Times New Roman"/>
                          <a:cs typeface="Times New Roman"/>
                        </a:rPr>
                        <a:t> </a:t>
                      </a:r>
                      <a:r>
                        <a:rPr sz="1600" b="1" dirty="0">
                          <a:latin typeface="Times New Roman"/>
                          <a:cs typeface="Times New Roman"/>
                        </a:rPr>
                        <a:t>–</a:t>
                      </a:r>
                      <a:r>
                        <a:rPr sz="1600" b="1" spc="-20" dirty="0">
                          <a:latin typeface="Times New Roman"/>
                          <a:cs typeface="Times New Roman"/>
                        </a:rPr>
                        <a:t> </a:t>
                      </a:r>
                      <a:r>
                        <a:rPr sz="1600" b="1" spc="-10" dirty="0">
                          <a:latin typeface="Times New Roman"/>
                          <a:cs typeface="Times New Roman"/>
                        </a:rPr>
                        <a:t>Life-</a:t>
                      </a:r>
                      <a:r>
                        <a:rPr sz="1600" b="1" dirty="0">
                          <a:latin typeface="Times New Roman"/>
                          <a:cs typeface="Times New Roman"/>
                        </a:rPr>
                        <a:t>Long</a:t>
                      </a:r>
                      <a:r>
                        <a:rPr sz="1600" b="1" spc="-5" dirty="0">
                          <a:latin typeface="Times New Roman"/>
                          <a:cs typeface="Times New Roman"/>
                        </a:rPr>
                        <a:t> </a:t>
                      </a:r>
                      <a:r>
                        <a:rPr sz="1600" b="1" spc="-10" dirty="0">
                          <a:latin typeface="Times New Roman"/>
                          <a:cs typeface="Times New Roman"/>
                        </a:rPr>
                        <a:t>Learning</a:t>
                      </a:r>
                      <a:endParaRPr sz="1600">
                        <a:latin typeface="Times New Roman"/>
                        <a:cs typeface="Times New Roman"/>
                      </a:endParaRPr>
                    </a:p>
                  </a:txBody>
                  <a:tcPr marL="0" marR="0" marT="1270" marB="0"/>
                </a:tc>
                <a:tc>
                  <a:txBody>
                    <a:bodyPr/>
                    <a:lstStyle/>
                    <a:p>
                      <a:pPr marL="728345">
                        <a:lnSpc>
                          <a:spcPct val="100000"/>
                        </a:lnSpc>
                        <a:spcBef>
                          <a:spcPts val="890"/>
                        </a:spcBef>
                      </a:pPr>
                      <a:r>
                        <a:rPr sz="1600" dirty="0">
                          <a:latin typeface="Times New Roman"/>
                          <a:cs typeface="Times New Roman"/>
                        </a:rPr>
                        <a:t>Mapped</a:t>
                      </a:r>
                      <a:r>
                        <a:rPr sz="1600" spc="130" dirty="0">
                          <a:latin typeface="Times New Roman"/>
                          <a:cs typeface="Times New Roman"/>
                        </a:rPr>
                        <a:t> </a:t>
                      </a:r>
                      <a:r>
                        <a:rPr sz="1600" dirty="0">
                          <a:latin typeface="Times New Roman"/>
                          <a:cs typeface="Times New Roman"/>
                        </a:rPr>
                        <a:t>–</a:t>
                      </a:r>
                      <a:r>
                        <a:rPr sz="1600" spc="130" dirty="0">
                          <a:latin typeface="Times New Roman"/>
                          <a:cs typeface="Times New Roman"/>
                        </a:rPr>
                        <a:t> </a:t>
                      </a:r>
                      <a:r>
                        <a:rPr sz="1600" dirty="0">
                          <a:latin typeface="Times New Roman"/>
                          <a:cs typeface="Times New Roman"/>
                        </a:rPr>
                        <a:t>Encouraged</a:t>
                      </a:r>
                      <a:r>
                        <a:rPr sz="1600" spc="135" dirty="0">
                          <a:latin typeface="Times New Roman"/>
                          <a:cs typeface="Times New Roman"/>
                        </a:rPr>
                        <a:t> </a:t>
                      </a:r>
                      <a:r>
                        <a:rPr sz="1600" dirty="0">
                          <a:latin typeface="Times New Roman"/>
                          <a:cs typeface="Times New Roman"/>
                        </a:rPr>
                        <a:t>continuous</a:t>
                      </a:r>
                      <a:r>
                        <a:rPr sz="1600" spc="135" dirty="0">
                          <a:latin typeface="Times New Roman"/>
                          <a:cs typeface="Times New Roman"/>
                        </a:rPr>
                        <a:t> </a:t>
                      </a:r>
                      <a:r>
                        <a:rPr sz="1600" dirty="0">
                          <a:latin typeface="Times New Roman"/>
                          <a:cs typeface="Times New Roman"/>
                        </a:rPr>
                        <a:t>learning</a:t>
                      </a:r>
                      <a:r>
                        <a:rPr sz="1600" spc="130" dirty="0">
                          <a:latin typeface="Times New Roman"/>
                          <a:cs typeface="Times New Roman"/>
                        </a:rPr>
                        <a:t> </a:t>
                      </a:r>
                      <a:r>
                        <a:rPr sz="1600" dirty="0">
                          <a:latin typeface="Times New Roman"/>
                          <a:cs typeface="Times New Roman"/>
                        </a:rPr>
                        <a:t>of</a:t>
                      </a:r>
                      <a:r>
                        <a:rPr sz="1600" spc="130" dirty="0">
                          <a:latin typeface="Times New Roman"/>
                          <a:cs typeface="Times New Roman"/>
                        </a:rPr>
                        <a:t> </a:t>
                      </a:r>
                      <a:r>
                        <a:rPr sz="1600" dirty="0">
                          <a:latin typeface="Times New Roman"/>
                          <a:cs typeface="Times New Roman"/>
                        </a:rPr>
                        <a:t>AI,</a:t>
                      </a:r>
                      <a:r>
                        <a:rPr sz="1600" spc="114" dirty="0">
                          <a:latin typeface="Times New Roman"/>
                          <a:cs typeface="Times New Roman"/>
                        </a:rPr>
                        <a:t> </a:t>
                      </a:r>
                      <a:r>
                        <a:rPr sz="1600" dirty="0">
                          <a:latin typeface="Times New Roman"/>
                          <a:cs typeface="Times New Roman"/>
                        </a:rPr>
                        <a:t>embedded</a:t>
                      </a:r>
                      <a:r>
                        <a:rPr sz="1600" spc="140" dirty="0">
                          <a:latin typeface="Times New Roman"/>
                          <a:cs typeface="Times New Roman"/>
                        </a:rPr>
                        <a:t> </a:t>
                      </a:r>
                      <a:r>
                        <a:rPr sz="1600" dirty="0">
                          <a:latin typeface="Times New Roman"/>
                          <a:cs typeface="Times New Roman"/>
                        </a:rPr>
                        <a:t>systems,</a:t>
                      </a:r>
                      <a:r>
                        <a:rPr sz="1600" spc="125" dirty="0">
                          <a:latin typeface="Times New Roman"/>
                          <a:cs typeface="Times New Roman"/>
                        </a:rPr>
                        <a:t> </a:t>
                      </a:r>
                      <a:r>
                        <a:rPr sz="1600" dirty="0">
                          <a:latin typeface="Times New Roman"/>
                          <a:cs typeface="Times New Roman"/>
                        </a:rPr>
                        <a:t>and</a:t>
                      </a:r>
                      <a:r>
                        <a:rPr sz="1600" spc="130" dirty="0">
                          <a:latin typeface="Times New Roman"/>
                          <a:cs typeface="Times New Roman"/>
                        </a:rPr>
                        <a:t> </a:t>
                      </a:r>
                      <a:r>
                        <a:rPr sz="1600" spc="-10" dirty="0">
                          <a:latin typeface="Times New Roman"/>
                          <a:cs typeface="Times New Roman"/>
                        </a:rPr>
                        <a:t>biosignal</a:t>
                      </a:r>
                      <a:endParaRPr sz="1600">
                        <a:latin typeface="Times New Roman"/>
                        <a:cs typeface="Times New Roman"/>
                      </a:endParaRPr>
                    </a:p>
                    <a:p>
                      <a:pPr marL="377825">
                        <a:lnSpc>
                          <a:spcPct val="100000"/>
                        </a:lnSpc>
                      </a:pPr>
                      <a:r>
                        <a:rPr sz="1600" dirty="0">
                          <a:latin typeface="Times New Roman"/>
                          <a:cs typeface="Times New Roman"/>
                        </a:rPr>
                        <a:t>processing</a:t>
                      </a:r>
                      <a:r>
                        <a:rPr sz="1600" spc="-35" dirty="0">
                          <a:latin typeface="Times New Roman"/>
                          <a:cs typeface="Times New Roman"/>
                        </a:rPr>
                        <a:t> </a:t>
                      </a:r>
                      <a:r>
                        <a:rPr sz="1600" dirty="0">
                          <a:latin typeface="Times New Roman"/>
                          <a:cs typeface="Times New Roman"/>
                        </a:rPr>
                        <a:t>to</a:t>
                      </a:r>
                      <a:r>
                        <a:rPr sz="1600" spc="-40" dirty="0">
                          <a:latin typeface="Times New Roman"/>
                          <a:cs typeface="Times New Roman"/>
                        </a:rPr>
                        <a:t> </a:t>
                      </a:r>
                      <a:r>
                        <a:rPr sz="1600" dirty="0">
                          <a:latin typeface="Times New Roman"/>
                          <a:cs typeface="Times New Roman"/>
                        </a:rPr>
                        <a:t>adapt</a:t>
                      </a:r>
                      <a:r>
                        <a:rPr sz="1600" spc="-45" dirty="0">
                          <a:latin typeface="Times New Roman"/>
                          <a:cs typeface="Times New Roman"/>
                        </a:rPr>
                        <a:t> </a:t>
                      </a:r>
                      <a:r>
                        <a:rPr sz="1600" dirty="0">
                          <a:latin typeface="Times New Roman"/>
                          <a:cs typeface="Times New Roman"/>
                        </a:rPr>
                        <a:t>to</a:t>
                      </a:r>
                      <a:r>
                        <a:rPr sz="1600" spc="-45" dirty="0">
                          <a:latin typeface="Times New Roman"/>
                          <a:cs typeface="Times New Roman"/>
                        </a:rPr>
                        <a:t> </a:t>
                      </a:r>
                      <a:r>
                        <a:rPr sz="1600" dirty="0">
                          <a:latin typeface="Times New Roman"/>
                          <a:cs typeface="Times New Roman"/>
                        </a:rPr>
                        <a:t>emerging</a:t>
                      </a:r>
                      <a:r>
                        <a:rPr sz="1600" spc="15" dirty="0">
                          <a:latin typeface="Times New Roman"/>
                          <a:cs typeface="Times New Roman"/>
                        </a:rPr>
                        <a:t> </a:t>
                      </a:r>
                      <a:r>
                        <a:rPr sz="1600" spc="-10" dirty="0">
                          <a:latin typeface="Times New Roman"/>
                          <a:cs typeface="Times New Roman"/>
                        </a:rPr>
                        <a:t>technologies.</a:t>
                      </a:r>
                      <a:endParaRPr sz="1600">
                        <a:latin typeface="Times New Roman"/>
                        <a:cs typeface="Times New Roman"/>
                      </a:endParaRPr>
                    </a:p>
                  </a:txBody>
                  <a:tcPr marL="0" marR="0" marT="113030" marB="0"/>
                </a:tc>
              </a:tr>
              <a:tr h="720090">
                <a:tc>
                  <a:txBody>
                    <a:bodyPr/>
                    <a:lstStyle/>
                    <a:p>
                      <a:pPr>
                        <a:lnSpc>
                          <a:spcPct val="100000"/>
                        </a:lnSpc>
                        <a:spcBef>
                          <a:spcPts val="495"/>
                        </a:spcBef>
                      </a:pPr>
                      <a:endParaRPr sz="1600">
                        <a:latin typeface="Times New Roman"/>
                        <a:cs typeface="Times New Roman"/>
                      </a:endParaRPr>
                    </a:p>
                    <a:p>
                      <a:pPr marL="31750">
                        <a:lnSpc>
                          <a:spcPct val="100000"/>
                        </a:lnSpc>
                      </a:pPr>
                      <a:r>
                        <a:rPr sz="1600" b="1" dirty="0">
                          <a:latin typeface="Times New Roman"/>
                          <a:cs typeface="Times New Roman"/>
                        </a:rPr>
                        <a:t>PO12</a:t>
                      </a:r>
                      <a:r>
                        <a:rPr sz="1600" b="1" spc="-25" dirty="0">
                          <a:latin typeface="Times New Roman"/>
                          <a:cs typeface="Times New Roman"/>
                        </a:rPr>
                        <a:t> </a:t>
                      </a:r>
                      <a:r>
                        <a:rPr sz="1600" b="1" dirty="0">
                          <a:latin typeface="Times New Roman"/>
                          <a:cs typeface="Times New Roman"/>
                        </a:rPr>
                        <a:t>–</a:t>
                      </a:r>
                      <a:r>
                        <a:rPr sz="1600" b="1" spc="-40" dirty="0">
                          <a:latin typeface="Times New Roman"/>
                          <a:cs typeface="Times New Roman"/>
                        </a:rPr>
                        <a:t> </a:t>
                      </a:r>
                      <a:r>
                        <a:rPr sz="1600" b="1" dirty="0">
                          <a:latin typeface="Times New Roman"/>
                          <a:cs typeface="Times New Roman"/>
                        </a:rPr>
                        <a:t>Environment</a:t>
                      </a:r>
                      <a:r>
                        <a:rPr sz="1600" b="1" spc="-5" dirty="0">
                          <a:latin typeface="Times New Roman"/>
                          <a:cs typeface="Times New Roman"/>
                        </a:rPr>
                        <a:t> </a:t>
                      </a:r>
                      <a:r>
                        <a:rPr sz="1600" b="1" dirty="0">
                          <a:latin typeface="Times New Roman"/>
                          <a:cs typeface="Times New Roman"/>
                        </a:rPr>
                        <a:t>and</a:t>
                      </a:r>
                      <a:r>
                        <a:rPr sz="1600" b="1" spc="-40" dirty="0">
                          <a:latin typeface="Times New Roman"/>
                          <a:cs typeface="Times New Roman"/>
                        </a:rPr>
                        <a:t> </a:t>
                      </a:r>
                      <a:r>
                        <a:rPr sz="1600" b="1" spc="-10" dirty="0">
                          <a:latin typeface="Times New Roman"/>
                          <a:cs typeface="Times New Roman"/>
                        </a:rPr>
                        <a:t>Sustainability</a:t>
                      </a:r>
                      <a:endParaRPr sz="1600">
                        <a:latin typeface="Times New Roman"/>
                        <a:cs typeface="Times New Roman"/>
                      </a:endParaRPr>
                    </a:p>
                  </a:txBody>
                  <a:tcPr marL="0" marR="0" marT="62865" marB="0"/>
                </a:tc>
                <a:tc>
                  <a:txBody>
                    <a:bodyPr/>
                    <a:lstStyle/>
                    <a:p>
                      <a:pPr marL="377825" marR="26670" indent="362585">
                        <a:lnSpc>
                          <a:spcPct val="100000"/>
                        </a:lnSpc>
                        <a:spcBef>
                          <a:spcPts val="1375"/>
                        </a:spcBef>
                      </a:pPr>
                      <a:r>
                        <a:rPr sz="1600" dirty="0">
                          <a:latin typeface="Times New Roman"/>
                          <a:cs typeface="Times New Roman"/>
                        </a:rPr>
                        <a:t>Not</a:t>
                      </a:r>
                      <a:r>
                        <a:rPr sz="1600" spc="240" dirty="0">
                          <a:latin typeface="Times New Roman"/>
                          <a:cs typeface="Times New Roman"/>
                        </a:rPr>
                        <a:t> </a:t>
                      </a:r>
                      <a:r>
                        <a:rPr sz="1600" dirty="0">
                          <a:latin typeface="Times New Roman"/>
                          <a:cs typeface="Times New Roman"/>
                        </a:rPr>
                        <a:t>Mapped</a:t>
                      </a:r>
                      <a:r>
                        <a:rPr sz="1600" spc="250" dirty="0">
                          <a:latin typeface="Times New Roman"/>
                          <a:cs typeface="Times New Roman"/>
                        </a:rPr>
                        <a:t> </a:t>
                      </a:r>
                      <a:r>
                        <a:rPr sz="1600" dirty="0">
                          <a:latin typeface="Times New Roman"/>
                          <a:cs typeface="Times New Roman"/>
                        </a:rPr>
                        <a:t>–</a:t>
                      </a:r>
                      <a:r>
                        <a:rPr sz="1600" spc="235" dirty="0">
                          <a:latin typeface="Times New Roman"/>
                          <a:cs typeface="Times New Roman"/>
                        </a:rPr>
                        <a:t> </a:t>
                      </a:r>
                      <a:r>
                        <a:rPr sz="1600" dirty="0">
                          <a:latin typeface="Times New Roman"/>
                          <a:cs typeface="Times New Roman"/>
                        </a:rPr>
                        <a:t>The</a:t>
                      </a:r>
                      <a:r>
                        <a:rPr sz="1600" spc="235" dirty="0">
                          <a:latin typeface="Times New Roman"/>
                          <a:cs typeface="Times New Roman"/>
                        </a:rPr>
                        <a:t> </a:t>
                      </a:r>
                      <a:r>
                        <a:rPr sz="1600" dirty="0">
                          <a:latin typeface="Times New Roman"/>
                          <a:cs typeface="Times New Roman"/>
                        </a:rPr>
                        <a:t>project</a:t>
                      </a:r>
                      <a:r>
                        <a:rPr sz="1600" spc="245" dirty="0">
                          <a:latin typeface="Times New Roman"/>
                          <a:cs typeface="Times New Roman"/>
                        </a:rPr>
                        <a:t> </a:t>
                      </a:r>
                      <a:r>
                        <a:rPr sz="1600" dirty="0">
                          <a:latin typeface="Times New Roman"/>
                          <a:cs typeface="Times New Roman"/>
                        </a:rPr>
                        <a:t>does</a:t>
                      </a:r>
                      <a:r>
                        <a:rPr sz="1600" spc="235" dirty="0">
                          <a:latin typeface="Times New Roman"/>
                          <a:cs typeface="Times New Roman"/>
                        </a:rPr>
                        <a:t> </a:t>
                      </a:r>
                      <a:r>
                        <a:rPr sz="1600" dirty="0">
                          <a:latin typeface="Times New Roman"/>
                          <a:cs typeface="Times New Roman"/>
                        </a:rPr>
                        <a:t>not</a:t>
                      </a:r>
                      <a:r>
                        <a:rPr sz="1600" spc="229" dirty="0">
                          <a:latin typeface="Times New Roman"/>
                          <a:cs typeface="Times New Roman"/>
                        </a:rPr>
                        <a:t> </a:t>
                      </a:r>
                      <a:r>
                        <a:rPr sz="1600" dirty="0">
                          <a:latin typeface="Times New Roman"/>
                          <a:cs typeface="Times New Roman"/>
                        </a:rPr>
                        <a:t>directly</a:t>
                      </a:r>
                      <a:r>
                        <a:rPr sz="1600" spc="245" dirty="0">
                          <a:latin typeface="Times New Roman"/>
                          <a:cs typeface="Times New Roman"/>
                        </a:rPr>
                        <a:t> </a:t>
                      </a:r>
                      <a:r>
                        <a:rPr sz="1600" dirty="0">
                          <a:latin typeface="Times New Roman"/>
                          <a:cs typeface="Times New Roman"/>
                        </a:rPr>
                        <a:t>address</a:t>
                      </a:r>
                      <a:r>
                        <a:rPr sz="1600" spc="250" dirty="0">
                          <a:latin typeface="Times New Roman"/>
                          <a:cs typeface="Times New Roman"/>
                        </a:rPr>
                        <a:t> </a:t>
                      </a:r>
                      <a:r>
                        <a:rPr sz="1600" dirty="0">
                          <a:latin typeface="Times New Roman"/>
                          <a:cs typeface="Times New Roman"/>
                        </a:rPr>
                        <a:t>environmental</a:t>
                      </a:r>
                      <a:r>
                        <a:rPr sz="1600" spc="240" dirty="0">
                          <a:latin typeface="Times New Roman"/>
                          <a:cs typeface="Times New Roman"/>
                        </a:rPr>
                        <a:t> </a:t>
                      </a:r>
                      <a:r>
                        <a:rPr sz="1600" dirty="0">
                          <a:latin typeface="Times New Roman"/>
                          <a:cs typeface="Times New Roman"/>
                        </a:rPr>
                        <a:t>or</a:t>
                      </a:r>
                      <a:r>
                        <a:rPr sz="1600" spc="235" dirty="0">
                          <a:latin typeface="Times New Roman"/>
                          <a:cs typeface="Times New Roman"/>
                        </a:rPr>
                        <a:t> </a:t>
                      </a:r>
                      <a:r>
                        <a:rPr sz="1600" spc="-10" dirty="0">
                          <a:latin typeface="Times New Roman"/>
                          <a:cs typeface="Times New Roman"/>
                        </a:rPr>
                        <a:t>sustainable </a:t>
                      </a:r>
                      <a:r>
                        <a:rPr sz="1600" dirty="0">
                          <a:latin typeface="Times New Roman"/>
                          <a:cs typeface="Times New Roman"/>
                        </a:rPr>
                        <a:t>material</a:t>
                      </a:r>
                      <a:r>
                        <a:rPr sz="1600" spc="-10" dirty="0">
                          <a:latin typeface="Times New Roman"/>
                          <a:cs typeface="Times New Roman"/>
                        </a:rPr>
                        <a:t> </a:t>
                      </a:r>
                      <a:r>
                        <a:rPr sz="1600" dirty="0">
                          <a:latin typeface="Times New Roman"/>
                          <a:cs typeface="Times New Roman"/>
                        </a:rPr>
                        <a:t>considerations</a:t>
                      </a:r>
                      <a:r>
                        <a:rPr sz="1600" spc="-30" dirty="0">
                          <a:latin typeface="Times New Roman"/>
                          <a:cs typeface="Times New Roman"/>
                        </a:rPr>
                        <a:t> </a:t>
                      </a:r>
                      <a:r>
                        <a:rPr sz="1600" dirty="0">
                          <a:latin typeface="Times New Roman"/>
                          <a:cs typeface="Times New Roman"/>
                        </a:rPr>
                        <a:t>but</a:t>
                      </a:r>
                      <a:r>
                        <a:rPr sz="1600" spc="-60" dirty="0">
                          <a:latin typeface="Times New Roman"/>
                          <a:cs typeface="Times New Roman"/>
                        </a:rPr>
                        <a:t> </a:t>
                      </a:r>
                      <a:r>
                        <a:rPr sz="1600" dirty="0">
                          <a:latin typeface="Times New Roman"/>
                          <a:cs typeface="Times New Roman"/>
                        </a:rPr>
                        <a:t>promotes</a:t>
                      </a:r>
                      <a:r>
                        <a:rPr sz="1600" spc="-5" dirty="0">
                          <a:latin typeface="Times New Roman"/>
                          <a:cs typeface="Times New Roman"/>
                        </a:rPr>
                        <a:t> </a:t>
                      </a:r>
                      <a:r>
                        <a:rPr sz="1600" dirty="0">
                          <a:latin typeface="Times New Roman"/>
                          <a:cs typeface="Times New Roman"/>
                        </a:rPr>
                        <a:t>inclusive</a:t>
                      </a:r>
                      <a:r>
                        <a:rPr sz="1600" spc="-50" dirty="0">
                          <a:latin typeface="Times New Roman"/>
                          <a:cs typeface="Times New Roman"/>
                        </a:rPr>
                        <a:t> </a:t>
                      </a:r>
                      <a:r>
                        <a:rPr sz="1600" dirty="0">
                          <a:latin typeface="Times New Roman"/>
                          <a:cs typeface="Times New Roman"/>
                        </a:rPr>
                        <a:t>health</a:t>
                      </a:r>
                      <a:r>
                        <a:rPr sz="1600" spc="-35" dirty="0">
                          <a:latin typeface="Times New Roman"/>
                          <a:cs typeface="Times New Roman"/>
                        </a:rPr>
                        <a:t> </a:t>
                      </a:r>
                      <a:r>
                        <a:rPr sz="1600" spc="-10" dirty="0">
                          <a:latin typeface="Times New Roman"/>
                          <a:cs typeface="Times New Roman"/>
                        </a:rPr>
                        <a:t>innovation.</a:t>
                      </a:r>
                      <a:endParaRPr sz="1600">
                        <a:latin typeface="Times New Roman"/>
                        <a:cs typeface="Times New Roman"/>
                      </a:endParaRPr>
                    </a:p>
                  </a:txBody>
                  <a:tcPr marL="0" marR="0" marT="174625" marB="0"/>
                </a:tc>
              </a:tr>
              <a:tr h="594360">
                <a:tc>
                  <a:txBody>
                    <a:bodyPr/>
                    <a:lstStyle/>
                    <a:p>
                      <a:pPr>
                        <a:lnSpc>
                          <a:spcPct val="100000"/>
                        </a:lnSpc>
                        <a:spcBef>
                          <a:spcPts val="10"/>
                        </a:spcBef>
                      </a:pPr>
                      <a:endParaRPr sz="1600">
                        <a:latin typeface="Times New Roman"/>
                        <a:cs typeface="Times New Roman"/>
                      </a:endParaRPr>
                    </a:p>
                    <a:p>
                      <a:pPr marL="31750">
                        <a:lnSpc>
                          <a:spcPct val="100000"/>
                        </a:lnSpc>
                      </a:pPr>
                      <a:r>
                        <a:rPr sz="1600" b="1" dirty="0">
                          <a:latin typeface="Times New Roman"/>
                          <a:cs typeface="Times New Roman"/>
                        </a:rPr>
                        <a:t>PSO1</a:t>
                      </a:r>
                      <a:r>
                        <a:rPr sz="1600" b="1" spc="-40" dirty="0">
                          <a:latin typeface="Times New Roman"/>
                          <a:cs typeface="Times New Roman"/>
                        </a:rPr>
                        <a:t> </a:t>
                      </a:r>
                      <a:r>
                        <a:rPr sz="1600" b="1" dirty="0">
                          <a:latin typeface="Times New Roman"/>
                          <a:cs typeface="Times New Roman"/>
                        </a:rPr>
                        <a:t>–</a:t>
                      </a:r>
                      <a:r>
                        <a:rPr sz="1600" b="1" spc="-45" dirty="0">
                          <a:latin typeface="Times New Roman"/>
                          <a:cs typeface="Times New Roman"/>
                        </a:rPr>
                        <a:t> </a:t>
                      </a:r>
                      <a:r>
                        <a:rPr sz="1600" b="1" dirty="0">
                          <a:latin typeface="Times New Roman"/>
                          <a:cs typeface="Times New Roman"/>
                        </a:rPr>
                        <a:t>Applied</a:t>
                      </a:r>
                      <a:r>
                        <a:rPr sz="1600" b="1" spc="-30" dirty="0">
                          <a:latin typeface="Times New Roman"/>
                          <a:cs typeface="Times New Roman"/>
                        </a:rPr>
                        <a:t> </a:t>
                      </a:r>
                      <a:r>
                        <a:rPr sz="1600" b="1" spc="-10" dirty="0">
                          <a:latin typeface="Times New Roman"/>
                          <a:cs typeface="Times New Roman"/>
                        </a:rPr>
                        <a:t>Electronics</a:t>
                      </a:r>
                      <a:endParaRPr sz="1600">
                        <a:latin typeface="Times New Roman"/>
                        <a:cs typeface="Times New Roman"/>
                      </a:endParaRPr>
                    </a:p>
                  </a:txBody>
                  <a:tcPr marL="0" marR="0" marT="1270" marB="0"/>
                </a:tc>
                <a:tc>
                  <a:txBody>
                    <a:bodyPr/>
                    <a:lstStyle/>
                    <a:p>
                      <a:pPr marL="377825" marR="24130" indent="382270">
                        <a:lnSpc>
                          <a:spcPct val="100000"/>
                        </a:lnSpc>
                        <a:spcBef>
                          <a:spcPts val="740"/>
                        </a:spcBef>
                      </a:pPr>
                      <a:r>
                        <a:rPr sz="1600" dirty="0">
                          <a:latin typeface="Times New Roman"/>
                          <a:cs typeface="Times New Roman"/>
                        </a:rPr>
                        <a:t>Mapped</a:t>
                      </a:r>
                      <a:r>
                        <a:rPr sz="1600" spc="385" dirty="0">
                          <a:latin typeface="Times New Roman"/>
                          <a:cs typeface="Times New Roman"/>
                        </a:rPr>
                        <a:t> </a:t>
                      </a:r>
                      <a:r>
                        <a:rPr sz="1600" dirty="0">
                          <a:latin typeface="Times New Roman"/>
                          <a:cs typeface="Times New Roman"/>
                        </a:rPr>
                        <a:t>–</a:t>
                      </a:r>
                      <a:r>
                        <a:rPr sz="1600" spc="380" dirty="0">
                          <a:latin typeface="Times New Roman"/>
                          <a:cs typeface="Times New Roman"/>
                        </a:rPr>
                        <a:t> </a:t>
                      </a:r>
                      <a:r>
                        <a:rPr sz="1600" dirty="0">
                          <a:latin typeface="Times New Roman"/>
                          <a:cs typeface="Times New Roman"/>
                        </a:rPr>
                        <a:t>Designed</a:t>
                      </a:r>
                      <a:r>
                        <a:rPr sz="1600" spc="385" dirty="0">
                          <a:latin typeface="Times New Roman"/>
                          <a:cs typeface="Times New Roman"/>
                        </a:rPr>
                        <a:t> </a:t>
                      </a:r>
                      <a:r>
                        <a:rPr sz="1600" dirty="0">
                          <a:latin typeface="Times New Roman"/>
                          <a:cs typeface="Times New Roman"/>
                        </a:rPr>
                        <a:t>and</a:t>
                      </a:r>
                      <a:r>
                        <a:rPr sz="1600" spc="385" dirty="0">
                          <a:latin typeface="Times New Roman"/>
                          <a:cs typeface="Times New Roman"/>
                        </a:rPr>
                        <a:t> </a:t>
                      </a:r>
                      <a:r>
                        <a:rPr sz="1600" dirty="0">
                          <a:latin typeface="Times New Roman"/>
                          <a:cs typeface="Times New Roman"/>
                        </a:rPr>
                        <a:t>integrated</a:t>
                      </a:r>
                      <a:r>
                        <a:rPr sz="1600" spc="390" dirty="0">
                          <a:latin typeface="Times New Roman"/>
                          <a:cs typeface="Times New Roman"/>
                        </a:rPr>
                        <a:t> </a:t>
                      </a:r>
                      <a:r>
                        <a:rPr sz="1600" dirty="0">
                          <a:latin typeface="Times New Roman"/>
                          <a:cs typeface="Times New Roman"/>
                        </a:rPr>
                        <a:t>EMG</a:t>
                      </a:r>
                      <a:r>
                        <a:rPr sz="1600" spc="370" dirty="0">
                          <a:latin typeface="Times New Roman"/>
                          <a:cs typeface="Times New Roman"/>
                        </a:rPr>
                        <a:t> </a:t>
                      </a:r>
                      <a:r>
                        <a:rPr sz="1600" dirty="0">
                          <a:latin typeface="Times New Roman"/>
                          <a:cs typeface="Times New Roman"/>
                        </a:rPr>
                        <a:t>signal</a:t>
                      </a:r>
                      <a:r>
                        <a:rPr sz="1600" spc="390" dirty="0">
                          <a:latin typeface="Times New Roman"/>
                          <a:cs typeface="Times New Roman"/>
                        </a:rPr>
                        <a:t> </a:t>
                      </a:r>
                      <a:r>
                        <a:rPr sz="1600" dirty="0">
                          <a:latin typeface="Times New Roman"/>
                          <a:cs typeface="Times New Roman"/>
                        </a:rPr>
                        <a:t>acquisition</a:t>
                      </a:r>
                      <a:r>
                        <a:rPr sz="1600" spc="385" dirty="0">
                          <a:latin typeface="Times New Roman"/>
                          <a:cs typeface="Times New Roman"/>
                        </a:rPr>
                        <a:t> </a:t>
                      </a:r>
                      <a:r>
                        <a:rPr sz="1600" dirty="0">
                          <a:latin typeface="Times New Roman"/>
                          <a:cs typeface="Times New Roman"/>
                        </a:rPr>
                        <a:t>circuits,</a:t>
                      </a:r>
                      <a:r>
                        <a:rPr sz="1600" spc="390" dirty="0">
                          <a:latin typeface="Times New Roman"/>
                          <a:cs typeface="Times New Roman"/>
                        </a:rPr>
                        <a:t> </a:t>
                      </a:r>
                      <a:r>
                        <a:rPr sz="1600" dirty="0">
                          <a:latin typeface="Times New Roman"/>
                          <a:cs typeface="Times New Roman"/>
                        </a:rPr>
                        <a:t>filters,</a:t>
                      </a:r>
                      <a:r>
                        <a:rPr sz="1600" spc="395" dirty="0">
                          <a:latin typeface="Times New Roman"/>
                          <a:cs typeface="Times New Roman"/>
                        </a:rPr>
                        <a:t> </a:t>
                      </a:r>
                      <a:r>
                        <a:rPr sz="1600" spc="-25" dirty="0">
                          <a:latin typeface="Times New Roman"/>
                          <a:cs typeface="Times New Roman"/>
                        </a:rPr>
                        <a:t>and </a:t>
                      </a:r>
                      <a:r>
                        <a:rPr sz="1600" dirty="0">
                          <a:latin typeface="Times New Roman"/>
                          <a:cs typeface="Times New Roman"/>
                        </a:rPr>
                        <a:t>actuators</a:t>
                      </a:r>
                      <a:r>
                        <a:rPr sz="1600" spc="-20" dirty="0">
                          <a:latin typeface="Times New Roman"/>
                          <a:cs typeface="Times New Roman"/>
                        </a:rPr>
                        <a:t> </a:t>
                      </a:r>
                      <a:r>
                        <a:rPr sz="1600" dirty="0">
                          <a:latin typeface="Times New Roman"/>
                          <a:cs typeface="Times New Roman"/>
                        </a:rPr>
                        <a:t>for</a:t>
                      </a:r>
                      <a:r>
                        <a:rPr sz="1600" spc="-50" dirty="0">
                          <a:latin typeface="Times New Roman"/>
                          <a:cs typeface="Times New Roman"/>
                        </a:rPr>
                        <a:t> </a:t>
                      </a:r>
                      <a:r>
                        <a:rPr sz="1600" dirty="0">
                          <a:latin typeface="Times New Roman"/>
                          <a:cs typeface="Times New Roman"/>
                        </a:rPr>
                        <a:t>assistive</a:t>
                      </a:r>
                      <a:r>
                        <a:rPr sz="1600" spc="-15" dirty="0">
                          <a:latin typeface="Times New Roman"/>
                          <a:cs typeface="Times New Roman"/>
                        </a:rPr>
                        <a:t> </a:t>
                      </a:r>
                      <a:r>
                        <a:rPr sz="1600" spc="-10" dirty="0">
                          <a:latin typeface="Times New Roman"/>
                          <a:cs typeface="Times New Roman"/>
                        </a:rPr>
                        <a:t>control.</a:t>
                      </a:r>
                      <a:endParaRPr sz="1600">
                        <a:latin typeface="Times New Roman"/>
                        <a:cs typeface="Times New Roman"/>
                      </a:endParaRPr>
                    </a:p>
                  </a:txBody>
                  <a:tcPr marL="0" marR="0" marT="93980" marB="0"/>
                </a:tc>
              </a:tr>
              <a:tr h="534670">
                <a:tc>
                  <a:txBody>
                    <a:bodyPr/>
                    <a:lstStyle/>
                    <a:p>
                      <a:pPr marL="31750">
                        <a:lnSpc>
                          <a:spcPct val="100000"/>
                        </a:lnSpc>
                        <a:spcBef>
                          <a:spcPts val="1390"/>
                        </a:spcBef>
                      </a:pPr>
                      <a:r>
                        <a:rPr sz="1600" b="1" dirty="0">
                          <a:latin typeface="Times New Roman"/>
                          <a:cs typeface="Times New Roman"/>
                        </a:rPr>
                        <a:t>PSO2</a:t>
                      </a:r>
                      <a:r>
                        <a:rPr sz="1600" b="1" spc="-50" dirty="0">
                          <a:latin typeface="Times New Roman"/>
                          <a:cs typeface="Times New Roman"/>
                        </a:rPr>
                        <a:t> </a:t>
                      </a:r>
                      <a:r>
                        <a:rPr sz="1600" b="1" dirty="0">
                          <a:latin typeface="Times New Roman"/>
                          <a:cs typeface="Times New Roman"/>
                        </a:rPr>
                        <a:t>–</a:t>
                      </a:r>
                      <a:r>
                        <a:rPr sz="1600" b="1" spc="-60" dirty="0">
                          <a:latin typeface="Times New Roman"/>
                          <a:cs typeface="Times New Roman"/>
                        </a:rPr>
                        <a:t> </a:t>
                      </a:r>
                      <a:r>
                        <a:rPr sz="1600" b="1" dirty="0">
                          <a:latin typeface="Times New Roman"/>
                          <a:cs typeface="Times New Roman"/>
                        </a:rPr>
                        <a:t>Communication</a:t>
                      </a:r>
                      <a:r>
                        <a:rPr sz="1600" b="1" spc="-10" dirty="0">
                          <a:latin typeface="Times New Roman"/>
                          <a:cs typeface="Times New Roman"/>
                        </a:rPr>
                        <a:t> Systems</a:t>
                      </a:r>
                      <a:endParaRPr sz="1600">
                        <a:latin typeface="Times New Roman"/>
                        <a:cs typeface="Times New Roman"/>
                      </a:endParaRPr>
                    </a:p>
                  </a:txBody>
                  <a:tcPr marL="0" marR="0" marT="176530" marB="0"/>
                </a:tc>
                <a:tc>
                  <a:txBody>
                    <a:bodyPr/>
                    <a:lstStyle/>
                    <a:p>
                      <a:pPr marL="377825" marR="24765" indent="350520">
                        <a:lnSpc>
                          <a:spcPct val="100000"/>
                        </a:lnSpc>
                        <a:spcBef>
                          <a:spcPts val="270"/>
                        </a:spcBef>
                      </a:pPr>
                      <a:r>
                        <a:rPr sz="1600" dirty="0">
                          <a:latin typeface="Times New Roman"/>
                          <a:cs typeface="Times New Roman"/>
                        </a:rPr>
                        <a:t>Mapped</a:t>
                      </a:r>
                      <a:r>
                        <a:rPr sz="1600" spc="110" dirty="0">
                          <a:latin typeface="Times New Roman"/>
                          <a:cs typeface="Times New Roman"/>
                        </a:rPr>
                        <a:t> </a:t>
                      </a:r>
                      <a:r>
                        <a:rPr sz="1600" dirty="0">
                          <a:latin typeface="Times New Roman"/>
                          <a:cs typeface="Times New Roman"/>
                        </a:rPr>
                        <a:t>–</a:t>
                      </a:r>
                      <a:r>
                        <a:rPr sz="1600" spc="125" dirty="0">
                          <a:latin typeface="Times New Roman"/>
                          <a:cs typeface="Times New Roman"/>
                        </a:rPr>
                        <a:t> </a:t>
                      </a:r>
                      <a:r>
                        <a:rPr sz="1600" dirty="0">
                          <a:latin typeface="Times New Roman"/>
                          <a:cs typeface="Times New Roman"/>
                        </a:rPr>
                        <a:t>Implemented</a:t>
                      </a:r>
                      <a:r>
                        <a:rPr sz="1600" spc="120" dirty="0">
                          <a:latin typeface="Times New Roman"/>
                          <a:cs typeface="Times New Roman"/>
                        </a:rPr>
                        <a:t> </a:t>
                      </a:r>
                      <a:r>
                        <a:rPr sz="1600" dirty="0">
                          <a:latin typeface="Times New Roman"/>
                          <a:cs typeface="Times New Roman"/>
                        </a:rPr>
                        <a:t>Bluetooth</a:t>
                      </a:r>
                      <a:r>
                        <a:rPr sz="1600" spc="120" dirty="0">
                          <a:latin typeface="Times New Roman"/>
                          <a:cs typeface="Times New Roman"/>
                        </a:rPr>
                        <a:t> </a:t>
                      </a:r>
                      <a:r>
                        <a:rPr sz="1600" dirty="0">
                          <a:latin typeface="Times New Roman"/>
                          <a:cs typeface="Times New Roman"/>
                        </a:rPr>
                        <a:t>communication</a:t>
                      </a:r>
                      <a:r>
                        <a:rPr sz="1600" spc="120" dirty="0">
                          <a:latin typeface="Times New Roman"/>
                          <a:cs typeface="Times New Roman"/>
                        </a:rPr>
                        <a:t> </a:t>
                      </a:r>
                      <a:r>
                        <a:rPr sz="1600" dirty="0">
                          <a:latin typeface="Times New Roman"/>
                          <a:cs typeface="Times New Roman"/>
                        </a:rPr>
                        <a:t>for</a:t>
                      </a:r>
                      <a:r>
                        <a:rPr sz="1600" spc="105" dirty="0">
                          <a:latin typeface="Times New Roman"/>
                          <a:cs typeface="Times New Roman"/>
                        </a:rPr>
                        <a:t> </a:t>
                      </a:r>
                      <a:r>
                        <a:rPr sz="1600" dirty="0">
                          <a:latin typeface="Times New Roman"/>
                          <a:cs typeface="Times New Roman"/>
                        </a:rPr>
                        <a:t>data</a:t>
                      </a:r>
                      <a:r>
                        <a:rPr sz="1600" spc="120" dirty="0">
                          <a:latin typeface="Times New Roman"/>
                          <a:cs typeface="Times New Roman"/>
                        </a:rPr>
                        <a:t> </a:t>
                      </a:r>
                      <a:r>
                        <a:rPr sz="1600" dirty="0">
                          <a:latin typeface="Times New Roman"/>
                          <a:cs typeface="Times New Roman"/>
                        </a:rPr>
                        <a:t>transmission</a:t>
                      </a:r>
                      <a:r>
                        <a:rPr sz="1600" spc="120" dirty="0">
                          <a:latin typeface="Times New Roman"/>
                          <a:cs typeface="Times New Roman"/>
                        </a:rPr>
                        <a:t> </a:t>
                      </a:r>
                      <a:r>
                        <a:rPr sz="1600" dirty="0">
                          <a:latin typeface="Times New Roman"/>
                          <a:cs typeface="Times New Roman"/>
                        </a:rPr>
                        <a:t>and</a:t>
                      </a:r>
                      <a:r>
                        <a:rPr sz="1600" spc="125" dirty="0">
                          <a:latin typeface="Times New Roman"/>
                          <a:cs typeface="Times New Roman"/>
                        </a:rPr>
                        <a:t> </a:t>
                      </a:r>
                      <a:r>
                        <a:rPr sz="1600" spc="-10" dirty="0">
                          <a:latin typeface="Times New Roman"/>
                          <a:cs typeface="Times New Roman"/>
                        </a:rPr>
                        <a:t>remote </a:t>
                      </a:r>
                      <a:r>
                        <a:rPr sz="1600" dirty="0">
                          <a:latin typeface="Times New Roman"/>
                          <a:cs typeface="Times New Roman"/>
                        </a:rPr>
                        <a:t>therapy</a:t>
                      </a:r>
                      <a:r>
                        <a:rPr sz="1600" spc="-35" dirty="0">
                          <a:latin typeface="Times New Roman"/>
                          <a:cs typeface="Times New Roman"/>
                        </a:rPr>
                        <a:t> </a:t>
                      </a:r>
                      <a:r>
                        <a:rPr sz="1600" spc="-10" dirty="0">
                          <a:latin typeface="Times New Roman"/>
                          <a:cs typeface="Times New Roman"/>
                        </a:rPr>
                        <a:t>interface.</a:t>
                      </a:r>
                      <a:endParaRPr sz="1600">
                        <a:latin typeface="Times New Roman"/>
                        <a:cs typeface="Times New Roman"/>
                      </a:endParaRPr>
                    </a:p>
                  </a:txBody>
                  <a:tcPr marL="0" marR="0" marT="34290" marB="0"/>
                </a:tc>
              </a:tr>
              <a:tr h="545465">
                <a:tc>
                  <a:txBody>
                    <a:bodyPr/>
                    <a:lstStyle/>
                    <a:p>
                      <a:pPr marL="31750">
                        <a:lnSpc>
                          <a:spcPts val="1540"/>
                        </a:lnSpc>
                        <a:spcBef>
                          <a:spcPts val="1395"/>
                        </a:spcBef>
                      </a:pPr>
                      <a:r>
                        <a:rPr sz="1600" b="1" dirty="0">
                          <a:latin typeface="Times New Roman"/>
                          <a:cs typeface="Times New Roman"/>
                        </a:rPr>
                        <a:t>PSO3</a:t>
                      </a:r>
                      <a:r>
                        <a:rPr sz="1600" b="1" spc="-45" dirty="0">
                          <a:latin typeface="Times New Roman"/>
                          <a:cs typeface="Times New Roman"/>
                        </a:rPr>
                        <a:t> </a:t>
                      </a:r>
                      <a:r>
                        <a:rPr sz="1600" b="1" dirty="0">
                          <a:latin typeface="Times New Roman"/>
                          <a:cs typeface="Times New Roman"/>
                        </a:rPr>
                        <a:t>–</a:t>
                      </a:r>
                      <a:r>
                        <a:rPr sz="1600" b="1" spc="-50" dirty="0">
                          <a:latin typeface="Times New Roman"/>
                          <a:cs typeface="Times New Roman"/>
                        </a:rPr>
                        <a:t> </a:t>
                      </a:r>
                      <a:r>
                        <a:rPr sz="1600" b="1" dirty="0">
                          <a:latin typeface="Times New Roman"/>
                          <a:cs typeface="Times New Roman"/>
                        </a:rPr>
                        <a:t>Embedded</a:t>
                      </a:r>
                      <a:r>
                        <a:rPr sz="1600" b="1" spc="-30" dirty="0">
                          <a:latin typeface="Times New Roman"/>
                          <a:cs typeface="Times New Roman"/>
                        </a:rPr>
                        <a:t> </a:t>
                      </a:r>
                      <a:r>
                        <a:rPr sz="1600" b="1" dirty="0">
                          <a:latin typeface="Times New Roman"/>
                          <a:cs typeface="Times New Roman"/>
                        </a:rPr>
                        <a:t>Systems</a:t>
                      </a:r>
                      <a:r>
                        <a:rPr sz="1600" b="1" spc="-10" dirty="0">
                          <a:latin typeface="Times New Roman"/>
                          <a:cs typeface="Times New Roman"/>
                        </a:rPr>
                        <a:t> </a:t>
                      </a:r>
                      <a:r>
                        <a:rPr sz="1600" b="1" dirty="0">
                          <a:latin typeface="Times New Roman"/>
                          <a:cs typeface="Times New Roman"/>
                        </a:rPr>
                        <a:t>and</a:t>
                      </a:r>
                      <a:r>
                        <a:rPr sz="1600" b="1" spc="-55" dirty="0">
                          <a:latin typeface="Times New Roman"/>
                          <a:cs typeface="Times New Roman"/>
                        </a:rPr>
                        <a:t> </a:t>
                      </a:r>
                      <a:r>
                        <a:rPr sz="1600" b="1" spc="-20" dirty="0">
                          <a:latin typeface="Times New Roman"/>
                          <a:cs typeface="Times New Roman"/>
                        </a:rPr>
                        <a:t>VLSI</a:t>
                      </a:r>
                      <a:endParaRPr sz="1600">
                        <a:latin typeface="Times New Roman"/>
                        <a:cs typeface="Times New Roman"/>
                      </a:endParaRPr>
                    </a:p>
                    <a:p>
                      <a:pPr marL="244475">
                        <a:lnSpc>
                          <a:spcPts val="1265"/>
                        </a:lnSpc>
                      </a:pPr>
                      <a:r>
                        <a:rPr sz="1400" spc="-50" dirty="0">
                          <a:solidFill>
                            <a:srgbClr val="FFFFFF"/>
                          </a:solidFill>
                          <a:latin typeface="Tahoma"/>
                          <a:cs typeface="Tahoma"/>
                        </a:rPr>
                        <a:t>4</a:t>
                      </a:r>
                      <a:endParaRPr sz="1400">
                        <a:latin typeface="Tahoma"/>
                        <a:cs typeface="Tahoma"/>
                      </a:endParaRPr>
                    </a:p>
                  </a:txBody>
                  <a:tcPr marL="0" marR="0" marT="177165" marB="0"/>
                </a:tc>
                <a:tc>
                  <a:txBody>
                    <a:bodyPr/>
                    <a:lstStyle/>
                    <a:p>
                      <a:pPr marL="377825" marR="24130" indent="347345">
                        <a:lnSpc>
                          <a:spcPct val="100000"/>
                        </a:lnSpc>
                        <a:spcBef>
                          <a:spcPts val="359"/>
                        </a:spcBef>
                      </a:pPr>
                      <a:r>
                        <a:rPr sz="1600" dirty="0">
                          <a:latin typeface="Times New Roman"/>
                          <a:cs typeface="Times New Roman"/>
                        </a:rPr>
                        <a:t>Mapped</a:t>
                      </a:r>
                      <a:r>
                        <a:rPr sz="1600" spc="114" dirty="0">
                          <a:latin typeface="Times New Roman"/>
                          <a:cs typeface="Times New Roman"/>
                        </a:rPr>
                        <a:t> </a:t>
                      </a:r>
                      <a:r>
                        <a:rPr sz="1600" dirty="0">
                          <a:latin typeface="Times New Roman"/>
                          <a:cs typeface="Times New Roman"/>
                        </a:rPr>
                        <a:t>–</a:t>
                      </a:r>
                      <a:r>
                        <a:rPr sz="1600" spc="120" dirty="0">
                          <a:latin typeface="Times New Roman"/>
                          <a:cs typeface="Times New Roman"/>
                        </a:rPr>
                        <a:t> </a:t>
                      </a:r>
                      <a:r>
                        <a:rPr sz="1600" dirty="0">
                          <a:latin typeface="Times New Roman"/>
                          <a:cs typeface="Times New Roman"/>
                        </a:rPr>
                        <a:t>Developed</a:t>
                      </a:r>
                      <a:r>
                        <a:rPr sz="1600" spc="120" dirty="0">
                          <a:latin typeface="Times New Roman"/>
                          <a:cs typeface="Times New Roman"/>
                        </a:rPr>
                        <a:t> </a:t>
                      </a:r>
                      <a:r>
                        <a:rPr sz="1600" dirty="0">
                          <a:latin typeface="Times New Roman"/>
                          <a:cs typeface="Times New Roman"/>
                        </a:rPr>
                        <a:t>a</a:t>
                      </a:r>
                      <a:r>
                        <a:rPr sz="1600" spc="125" dirty="0">
                          <a:latin typeface="Times New Roman"/>
                          <a:cs typeface="Times New Roman"/>
                        </a:rPr>
                        <a:t> </a:t>
                      </a:r>
                      <a:r>
                        <a:rPr sz="1600" spc="-10" dirty="0">
                          <a:latin typeface="Times New Roman"/>
                          <a:cs typeface="Times New Roman"/>
                        </a:rPr>
                        <a:t>microcontroller-</a:t>
                      </a:r>
                      <a:r>
                        <a:rPr sz="1600" dirty="0">
                          <a:latin typeface="Times New Roman"/>
                          <a:cs typeface="Times New Roman"/>
                        </a:rPr>
                        <a:t>based</a:t>
                      </a:r>
                      <a:r>
                        <a:rPr sz="1600" spc="120" dirty="0">
                          <a:latin typeface="Times New Roman"/>
                          <a:cs typeface="Times New Roman"/>
                        </a:rPr>
                        <a:t> </a:t>
                      </a:r>
                      <a:r>
                        <a:rPr sz="1600" dirty="0">
                          <a:latin typeface="Times New Roman"/>
                          <a:cs typeface="Times New Roman"/>
                        </a:rPr>
                        <a:t>embedded</a:t>
                      </a:r>
                      <a:r>
                        <a:rPr sz="1600" spc="120" dirty="0">
                          <a:latin typeface="Times New Roman"/>
                          <a:cs typeface="Times New Roman"/>
                        </a:rPr>
                        <a:t> </a:t>
                      </a:r>
                      <a:r>
                        <a:rPr sz="1600" dirty="0">
                          <a:latin typeface="Times New Roman"/>
                          <a:cs typeface="Times New Roman"/>
                        </a:rPr>
                        <a:t>system</a:t>
                      </a:r>
                      <a:r>
                        <a:rPr sz="1600" spc="110" dirty="0">
                          <a:latin typeface="Times New Roman"/>
                          <a:cs typeface="Times New Roman"/>
                        </a:rPr>
                        <a:t> </a:t>
                      </a:r>
                      <a:r>
                        <a:rPr sz="1600" dirty="0">
                          <a:latin typeface="Times New Roman"/>
                          <a:cs typeface="Times New Roman"/>
                        </a:rPr>
                        <a:t>integrating</a:t>
                      </a:r>
                      <a:r>
                        <a:rPr sz="1600" spc="130" dirty="0">
                          <a:latin typeface="Times New Roman"/>
                          <a:cs typeface="Times New Roman"/>
                        </a:rPr>
                        <a:t> </a:t>
                      </a:r>
                      <a:r>
                        <a:rPr sz="1600" spc="-10" dirty="0">
                          <a:latin typeface="Times New Roman"/>
                          <a:cs typeface="Times New Roman"/>
                        </a:rPr>
                        <a:t>sensors, </a:t>
                      </a:r>
                      <a:r>
                        <a:rPr sz="1600" dirty="0">
                          <a:latin typeface="Times New Roman"/>
                          <a:cs typeface="Times New Roman"/>
                        </a:rPr>
                        <a:t>machine</a:t>
                      </a:r>
                      <a:r>
                        <a:rPr sz="1600" spc="-10" dirty="0">
                          <a:latin typeface="Times New Roman"/>
                          <a:cs typeface="Times New Roman"/>
                        </a:rPr>
                        <a:t> </a:t>
                      </a:r>
                      <a:r>
                        <a:rPr sz="1600" dirty="0">
                          <a:latin typeface="Times New Roman"/>
                          <a:cs typeface="Times New Roman"/>
                        </a:rPr>
                        <a:t>learning,</a:t>
                      </a:r>
                      <a:r>
                        <a:rPr sz="1600" spc="-20" dirty="0">
                          <a:latin typeface="Times New Roman"/>
                          <a:cs typeface="Times New Roman"/>
                        </a:rPr>
                        <a:t> </a:t>
                      </a:r>
                      <a:r>
                        <a:rPr sz="1600" dirty="0">
                          <a:latin typeface="Times New Roman"/>
                          <a:cs typeface="Times New Roman"/>
                        </a:rPr>
                        <a:t>and</a:t>
                      </a:r>
                      <a:r>
                        <a:rPr sz="1600" spc="-50" dirty="0">
                          <a:latin typeface="Times New Roman"/>
                          <a:cs typeface="Times New Roman"/>
                        </a:rPr>
                        <a:t> </a:t>
                      </a:r>
                      <a:r>
                        <a:rPr sz="1600" spc="-10" dirty="0">
                          <a:latin typeface="Times New Roman"/>
                          <a:cs typeface="Times New Roman"/>
                        </a:rPr>
                        <a:t>real-</a:t>
                      </a:r>
                      <a:r>
                        <a:rPr sz="1600" dirty="0">
                          <a:latin typeface="Times New Roman"/>
                          <a:cs typeface="Times New Roman"/>
                        </a:rPr>
                        <a:t>time </a:t>
                      </a:r>
                      <a:r>
                        <a:rPr sz="1600" spc="-10" dirty="0">
                          <a:latin typeface="Times New Roman"/>
                          <a:cs typeface="Times New Roman"/>
                        </a:rPr>
                        <a:t>actuation.</a:t>
                      </a:r>
                      <a:endParaRPr sz="1600">
                        <a:latin typeface="Times New Roman"/>
                        <a:cs typeface="Times New Roman"/>
                      </a:endParaRPr>
                    </a:p>
                  </a:txBody>
                  <a:tcPr marL="0" marR="0" marT="45719" marB="0"/>
                </a:tc>
              </a:tr>
            </a:tbl>
          </a:graphicData>
        </a:graphic>
      </p:graphicFrame>
      <p:pic>
        <p:nvPicPr>
          <p:cNvPr id="3" name="object 3"/>
          <p:cNvPicPr/>
          <p:nvPr/>
        </p:nvPicPr>
        <p:blipFill>
          <a:blip r:embed="rId2" cstate="print"/>
          <a:stretch>
            <a:fillRect/>
          </a:stretch>
        </p:blipFill>
        <p:spPr>
          <a:xfrm>
            <a:off x="4619102" y="774659"/>
            <a:ext cx="200822" cy="202249"/>
          </a:xfrm>
          <a:prstGeom prst="rect">
            <a:avLst/>
          </a:prstGeom>
        </p:spPr>
      </p:pic>
      <p:pic>
        <p:nvPicPr>
          <p:cNvPr id="4" name="object 4"/>
          <p:cNvPicPr/>
          <p:nvPr/>
        </p:nvPicPr>
        <p:blipFill>
          <a:blip r:embed="rId3" cstate="print"/>
          <a:stretch>
            <a:fillRect/>
          </a:stretch>
        </p:blipFill>
        <p:spPr>
          <a:xfrm>
            <a:off x="4619102" y="3575770"/>
            <a:ext cx="200822" cy="202249"/>
          </a:xfrm>
          <a:prstGeom prst="rect">
            <a:avLst/>
          </a:prstGeom>
        </p:spPr>
      </p:pic>
      <p:pic>
        <p:nvPicPr>
          <p:cNvPr id="5" name="object 5"/>
          <p:cNvPicPr/>
          <p:nvPr/>
        </p:nvPicPr>
        <p:blipFill>
          <a:blip r:embed="rId4" cstate="print"/>
          <a:stretch>
            <a:fillRect/>
          </a:stretch>
        </p:blipFill>
        <p:spPr>
          <a:xfrm>
            <a:off x="4619102" y="4359107"/>
            <a:ext cx="200822" cy="202249"/>
          </a:xfrm>
          <a:prstGeom prst="rect">
            <a:avLst/>
          </a:prstGeom>
        </p:spPr>
      </p:pic>
      <p:pic>
        <p:nvPicPr>
          <p:cNvPr id="6" name="object 6"/>
          <p:cNvPicPr/>
          <p:nvPr/>
        </p:nvPicPr>
        <p:blipFill>
          <a:blip r:embed="rId3" cstate="print"/>
          <a:stretch>
            <a:fillRect/>
          </a:stretch>
        </p:blipFill>
        <p:spPr>
          <a:xfrm>
            <a:off x="4619102" y="5017475"/>
            <a:ext cx="200822" cy="202249"/>
          </a:xfrm>
          <a:prstGeom prst="rect">
            <a:avLst/>
          </a:prstGeom>
        </p:spPr>
      </p:pic>
      <p:sp>
        <p:nvSpPr>
          <p:cNvPr id="7" name="object 7"/>
          <p:cNvSpPr txBox="1"/>
          <p:nvPr/>
        </p:nvSpPr>
        <p:spPr>
          <a:xfrm>
            <a:off x="9703689" y="6467043"/>
            <a:ext cx="221932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Monday,</a:t>
            </a:r>
            <a:r>
              <a:rPr sz="1400" spc="-20" dirty="0">
                <a:latin typeface="Arial MT"/>
                <a:cs typeface="Arial MT"/>
              </a:rPr>
              <a:t> </a:t>
            </a:r>
            <a:r>
              <a:rPr sz="1400" dirty="0">
                <a:latin typeface="Arial MT"/>
                <a:cs typeface="Arial MT"/>
              </a:rPr>
              <a:t>December</a:t>
            </a:r>
            <a:r>
              <a:rPr sz="1400" spc="-35" dirty="0">
                <a:latin typeface="Arial MT"/>
                <a:cs typeface="Arial MT"/>
              </a:rPr>
              <a:t> </a:t>
            </a:r>
            <a:r>
              <a:rPr sz="1400" dirty="0">
                <a:latin typeface="Arial MT"/>
                <a:cs typeface="Arial MT"/>
              </a:rPr>
              <a:t>1,</a:t>
            </a:r>
            <a:r>
              <a:rPr sz="1400" spc="-15" dirty="0">
                <a:latin typeface="Arial MT"/>
                <a:cs typeface="Arial MT"/>
              </a:rPr>
              <a:t> </a:t>
            </a:r>
            <a:r>
              <a:rPr sz="1400" spc="-20" dirty="0">
                <a:latin typeface="Arial MT"/>
                <a:cs typeface="Arial MT"/>
              </a:rPr>
              <a:t>2025</a:t>
            </a:r>
            <a:endParaRPr sz="1400">
              <a:latin typeface="Arial MT"/>
              <a:cs typeface="Arial MT"/>
            </a:endParaRPr>
          </a:p>
        </p:txBody>
      </p:sp>
      <p:sp>
        <p:nvSpPr>
          <p:cNvPr id="8" name="object 8"/>
          <p:cNvSpPr txBox="1"/>
          <p:nvPr/>
        </p:nvSpPr>
        <p:spPr>
          <a:xfrm>
            <a:off x="1084580" y="6451498"/>
            <a:ext cx="59245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EDP</a:t>
            </a:r>
            <a:r>
              <a:rPr sz="1400" spc="-25" dirty="0">
                <a:latin typeface="Arial MT"/>
                <a:cs typeface="Arial MT"/>
              </a:rPr>
              <a:t> III</a:t>
            </a:r>
            <a:endParaRPr sz="1400">
              <a:latin typeface="Arial MT"/>
              <a:cs typeface="Arial M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00550" y="310337"/>
            <a:ext cx="2366645" cy="635000"/>
          </a:xfrm>
          <a:prstGeom prst="rect">
            <a:avLst/>
          </a:prstGeom>
        </p:spPr>
        <p:txBody>
          <a:bodyPr vert="horz" wrap="square" lIns="0" tIns="12065" rIns="0" bIns="0" rtlCol="0">
            <a:spAutoFit/>
          </a:bodyPr>
          <a:lstStyle/>
          <a:p>
            <a:pPr marL="12700">
              <a:lnSpc>
                <a:spcPct val="100000"/>
              </a:lnSpc>
              <a:spcBef>
                <a:spcPts val="95"/>
              </a:spcBef>
            </a:pPr>
            <a:r>
              <a:rPr b="1" spc="-10" dirty="0">
                <a:latin typeface="Times New Roman"/>
                <a:cs typeface="Times New Roman"/>
              </a:rPr>
              <a:t>OUTLINE</a:t>
            </a:r>
          </a:p>
        </p:txBody>
      </p:sp>
      <p:sp>
        <p:nvSpPr>
          <p:cNvPr id="3" name="object 3"/>
          <p:cNvSpPr txBox="1"/>
          <p:nvPr/>
        </p:nvSpPr>
        <p:spPr>
          <a:xfrm>
            <a:off x="9431273" y="6305194"/>
            <a:ext cx="2019300"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232852"/>
                </a:solidFill>
                <a:latin typeface="Times New Roman"/>
                <a:cs typeface="Times New Roman"/>
              </a:rPr>
              <a:t>Monday,</a:t>
            </a:r>
            <a:r>
              <a:rPr sz="1400" spc="-35"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25" dirty="0">
                <a:solidFill>
                  <a:srgbClr val="232852"/>
                </a:solidFill>
                <a:latin typeface="Times New Roman"/>
                <a:cs typeface="Times New Roman"/>
              </a:rPr>
              <a:t> </a:t>
            </a:r>
            <a:r>
              <a:rPr sz="1400" dirty="0">
                <a:solidFill>
                  <a:srgbClr val="232852"/>
                </a:solidFill>
                <a:latin typeface="Times New Roman"/>
                <a:cs typeface="Times New Roman"/>
              </a:rPr>
              <a:t>1,</a:t>
            </a:r>
            <a:r>
              <a:rPr sz="1400" spc="-30" dirty="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a:latin typeface="Times New Roman"/>
              <a:cs typeface="Times New Roman"/>
            </a:endParaRPr>
          </a:p>
        </p:txBody>
      </p:sp>
      <p:sp>
        <p:nvSpPr>
          <p:cNvPr id="4" name="object 4"/>
          <p:cNvSpPr txBox="1"/>
          <p:nvPr/>
        </p:nvSpPr>
        <p:spPr>
          <a:xfrm>
            <a:off x="891641" y="6427419"/>
            <a:ext cx="58356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232852"/>
                </a:solidFill>
                <a:latin typeface="Times New Roman"/>
                <a:cs typeface="Times New Roman"/>
              </a:rPr>
              <a:t>EDP</a:t>
            </a:r>
            <a:r>
              <a:rPr sz="1400" spc="-20" dirty="0">
                <a:solidFill>
                  <a:srgbClr val="232852"/>
                </a:solidFill>
                <a:latin typeface="Times New Roman"/>
                <a:cs typeface="Times New Roman"/>
              </a:rPr>
              <a:t> </a:t>
            </a:r>
            <a:r>
              <a:rPr sz="1400" spc="-25" dirty="0">
                <a:solidFill>
                  <a:srgbClr val="232852"/>
                </a:solidFill>
                <a:latin typeface="Times New Roman"/>
                <a:cs typeface="Times New Roman"/>
              </a:rPr>
              <a:t>III</a:t>
            </a:r>
            <a:endParaRPr sz="1400">
              <a:latin typeface="Times New Roman"/>
              <a:cs typeface="Times New Roman"/>
            </a:endParaRPr>
          </a:p>
        </p:txBody>
      </p:sp>
      <p:sp>
        <p:nvSpPr>
          <p:cNvPr id="5" name="object 5"/>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6" name="object 6"/>
          <p:cNvSpPr txBox="1"/>
          <p:nvPr/>
        </p:nvSpPr>
        <p:spPr>
          <a:xfrm>
            <a:off x="436880" y="6316167"/>
            <a:ext cx="124460" cy="23939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FFFFFF"/>
                </a:solidFill>
                <a:latin typeface="Tahoma"/>
                <a:cs typeface="Tahoma"/>
              </a:rPr>
              <a:t>5</a:t>
            </a:r>
            <a:endParaRPr sz="1400">
              <a:latin typeface="Tahoma"/>
              <a:cs typeface="Tahoma"/>
            </a:endParaRPr>
          </a:p>
        </p:txBody>
      </p:sp>
      <p:pic>
        <p:nvPicPr>
          <p:cNvPr id="7" name="object 7"/>
          <p:cNvPicPr/>
          <p:nvPr/>
        </p:nvPicPr>
        <p:blipFill>
          <a:blip r:embed="rId2" cstate="print"/>
          <a:stretch>
            <a:fillRect/>
          </a:stretch>
        </p:blipFill>
        <p:spPr>
          <a:xfrm>
            <a:off x="311962" y="362099"/>
            <a:ext cx="944525" cy="640691"/>
          </a:xfrm>
          <a:prstGeom prst="rect">
            <a:avLst/>
          </a:prstGeom>
        </p:spPr>
      </p:pic>
      <p:pic>
        <p:nvPicPr>
          <p:cNvPr id="8" name="object 8"/>
          <p:cNvPicPr/>
          <p:nvPr/>
        </p:nvPicPr>
        <p:blipFill>
          <a:blip r:embed="rId3" cstate="print"/>
          <a:stretch>
            <a:fillRect/>
          </a:stretch>
        </p:blipFill>
        <p:spPr>
          <a:xfrm>
            <a:off x="10786998" y="123825"/>
            <a:ext cx="928687" cy="1193800"/>
          </a:xfrm>
          <a:prstGeom prst="rect">
            <a:avLst/>
          </a:prstGeom>
        </p:spPr>
      </p:pic>
      <p:sp>
        <p:nvSpPr>
          <p:cNvPr id="9" name="object 9"/>
          <p:cNvSpPr/>
          <p:nvPr/>
        </p:nvSpPr>
        <p:spPr>
          <a:xfrm>
            <a:off x="287781" y="1195133"/>
            <a:ext cx="9794240" cy="5356860"/>
          </a:xfrm>
          <a:custGeom>
            <a:avLst/>
            <a:gdLst/>
            <a:ahLst/>
            <a:cxnLst/>
            <a:rect l="l" t="t" r="r" b="b"/>
            <a:pathLst>
              <a:path w="9794240" h="5356859">
                <a:moveTo>
                  <a:pt x="0" y="5356479"/>
                </a:moveTo>
                <a:lnTo>
                  <a:pt x="9793859" y="5356479"/>
                </a:lnTo>
                <a:lnTo>
                  <a:pt x="9793859" y="0"/>
                </a:lnTo>
                <a:lnTo>
                  <a:pt x="0" y="0"/>
                </a:lnTo>
                <a:lnTo>
                  <a:pt x="0" y="5356479"/>
                </a:lnTo>
                <a:close/>
              </a:path>
            </a:pathLst>
          </a:custGeom>
          <a:ln w="9525">
            <a:solidFill>
              <a:srgbClr val="ACCAF8"/>
            </a:solidFill>
          </a:ln>
        </p:spPr>
        <p:txBody>
          <a:bodyPr wrap="square" lIns="0" tIns="0" rIns="0" bIns="0" rtlCol="0"/>
          <a:lstStyle/>
          <a:p>
            <a:endParaRPr/>
          </a:p>
        </p:txBody>
      </p:sp>
      <p:sp>
        <p:nvSpPr>
          <p:cNvPr id="10" name="object 10"/>
          <p:cNvSpPr txBox="1"/>
          <p:nvPr/>
        </p:nvSpPr>
        <p:spPr>
          <a:xfrm>
            <a:off x="2778632" y="1104646"/>
            <a:ext cx="4810125" cy="4852670"/>
          </a:xfrm>
          <a:prstGeom prst="rect">
            <a:avLst/>
          </a:prstGeom>
        </p:spPr>
        <p:txBody>
          <a:bodyPr vert="horz" wrap="square" lIns="0" tIns="114300" rIns="0" bIns="0" rtlCol="0">
            <a:spAutoFit/>
          </a:bodyPr>
          <a:lstStyle/>
          <a:p>
            <a:pPr marL="323850" indent="-273050">
              <a:lnSpc>
                <a:spcPct val="100000"/>
              </a:lnSpc>
              <a:spcBef>
                <a:spcPts val="900"/>
              </a:spcBef>
              <a:buSzPct val="150000"/>
              <a:buFont typeface="Segoe UI Symbol"/>
              <a:buChar char="⮚"/>
              <a:tabLst>
                <a:tab pos="323850" algn="l"/>
              </a:tabLst>
            </a:pPr>
            <a:r>
              <a:rPr sz="1200" dirty="0">
                <a:latin typeface="Times New Roman"/>
                <a:cs typeface="Times New Roman"/>
              </a:rPr>
              <a:t>PROBLEM</a:t>
            </a:r>
            <a:r>
              <a:rPr sz="1200" spc="-35" dirty="0">
                <a:latin typeface="Times New Roman"/>
                <a:cs typeface="Times New Roman"/>
              </a:rPr>
              <a:t> </a:t>
            </a:r>
            <a:r>
              <a:rPr sz="1200" spc="-10" dirty="0">
                <a:latin typeface="Times New Roman"/>
                <a:cs typeface="Times New Roman"/>
              </a:rPr>
              <a:t>STATEMENT</a:t>
            </a:r>
            <a:endParaRPr sz="1200">
              <a:latin typeface="Times New Roman"/>
              <a:cs typeface="Times New Roman"/>
            </a:endParaRPr>
          </a:p>
          <a:p>
            <a:pPr>
              <a:lnSpc>
                <a:spcPct val="100000"/>
              </a:lnSpc>
              <a:spcBef>
                <a:spcPts val="420"/>
              </a:spcBef>
              <a:buFont typeface="Segoe UI Symbol"/>
              <a:buChar char="⮚"/>
            </a:pPr>
            <a:endParaRPr sz="1200">
              <a:latin typeface="Times New Roman"/>
              <a:cs typeface="Times New Roman"/>
            </a:endParaRPr>
          </a:p>
          <a:p>
            <a:pPr marL="323850" indent="-273050">
              <a:lnSpc>
                <a:spcPct val="100000"/>
              </a:lnSpc>
              <a:buSzPct val="150000"/>
              <a:buFont typeface="Segoe UI Symbol"/>
              <a:buChar char="⮚"/>
              <a:tabLst>
                <a:tab pos="323850" algn="l"/>
              </a:tabLst>
            </a:pPr>
            <a:r>
              <a:rPr sz="1200" spc="-10" dirty="0">
                <a:latin typeface="Times New Roman"/>
                <a:cs typeface="Times New Roman"/>
              </a:rPr>
              <a:t>ABSTRACT</a:t>
            </a:r>
            <a:endParaRPr sz="1200">
              <a:latin typeface="Times New Roman"/>
              <a:cs typeface="Times New Roman"/>
            </a:endParaRPr>
          </a:p>
          <a:p>
            <a:pPr>
              <a:lnSpc>
                <a:spcPct val="100000"/>
              </a:lnSpc>
              <a:spcBef>
                <a:spcPts val="420"/>
              </a:spcBef>
              <a:buFont typeface="Segoe UI Symbol"/>
              <a:buChar char="⮚"/>
            </a:pPr>
            <a:endParaRPr sz="1200">
              <a:latin typeface="Times New Roman"/>
              <a:cs typeface="Times New Roman"/>
            </a:endParaRPr>
          </a:p>
          <a:p>
            <a:pPr marL="323850" indent="-273050">
              <a:lnSpc>
                <a:spcPct val="100000"/>
              </a:lnSpc>
              <a:buSzPct val="150000"/>
              <a:buFont typeface="Segoe UI Symbol"/>
              <a:buChar char="⮚"/>
              <a:tabLst>
                <a:tab pos="323850" algn="l"/>
              </a:tabLst>
            </a:pPr>
            <a:r>
              <a:rPr sz="1200" spc="-10" dirty="0">
                <a:latin typeface="Times New Roman"/>
                <a:cs typeface="Times New Roman"/>
              </a:rPr>
              <a:t>INTRODUCTION</a:t>
            </a:r>
            <a:endParaRPr sz="1200">
              <a:latin typeface="Times New Roman"/>
              <a:cs typeface="Times New Roman"/>
            </a:endParaRPr>
          </a:p>
          <a:p>
            <a:pPr>
              <a:lnSpc>
                <a:spcPct val="100000"/>
              </a:lnSpc>
              <a:spcBef>
                <a:spcPts val="420"/>
              </a:spcBef>
              <a:buFont typeface="Segoe UI Symbol"/>
              <a:buChar char="⮚"/>
            </a:pPr>
            <a:endParaRPr sz="1200">
              <a:latin typeface="Times New Roman"/>
              <a:cs typeface="Times New Roman"/>
            </a:endParaRPr>
          </a:p>
          <a:p>
            <a:pPr marL="323850" indent="-273050">
              <a:lnSpc>
                <a:spcPct val="100000"/>
              </a:lnSpc>
              <a:buSzPct val="150000"/>
              <a:buFont typeface="Segoe UI Symbol"/>
              <a:buChar char="⮚"/>
              <a:tabLst>
                <a:tab pos="323850" algn="l"/>
              </a:tabLst>
            </a:pPr>
            <a:r>
              <a:rPr sz="1200" dirty="0">
                <a:latin typeface="Times New Roman"/>
                <a:cs typeface="Times New Roman"/>
              </a:rPr>
              <a:t>OBJECTIVES</a:t>
            </a:r>
            <a:r>
              <a:rPr sz="1200" spc="-25" dirty="0">
                <a:latin typeface="Times New Roman"/>
                <a:cs typeface="Times New Roman"/>
              </a:rPr>
              <a:t> </a:t>
            </a:r>
            <a:r>
              <a:rPr sz="1200" dirty="0">
                <a:latin typeface="Times New Roman"/>
                <a:cs typeface="Times New Roman"/>
              </a:rPr>
              <a:t>AND</a:t>
            </a:r>
            <a:r>
              <a:rPr sz="1200" spc="-60" dirty="0">
                <a:latin typeface="Times New Roman"/>
                <a:cs typeface="Times New Roman"/>
              </a:rPr>
              <a:t> </a:t>
            </a:r>
            <a:r>
              <a:rPr sz="1200" spc="-10" dirty="0">
                <a:latin typeface="Times New Roman"/>
                <a:cs typeface="Times New Roman"/>
              </a:rPr>
              <a:t>GOALS</a:t>
            </a:r>
            <a:endParaRPr sz="1200">
              <a:latin typeface="Times New Roman"/>
              <a:cs typeface="Times New Roman"/>
            </a:endParaRPr>
          </a:p>
          <a:p>
            <a:pPr>
              <a:lnSpc>
                <a:spcPct val="100000"/>
              </a:lnSpc>
              <a:spcBef>
                <a:spcPts val="420"/>
              </a:spcBef>
              <a:buFont typeface="Segoe UI Symbol"/>
              <a:buChar char="⮚"/>
            </a:pPr>
            <a:endParaRPr sz="1200">
              <a:latin typeface="Times New Roman"/>
              <a:cs typeface="Times New Roman"/>
            </a:endParaRPr>
          </a:p>
          <a:p>
            <a:pPr marL="323850" indent="-273050">
              <a:lnSpc>
                <a:spcPct val="100000"/>
              </a:lnSpc>
              <a:buSzPct val="150000"/>
              <a:buFont typeface="Segoe UI Symbol"/>
              <a:buChar char="⮚"/>
              <a:tabLst>
                <a:tab pos="323850" algn="l"/>
              </a:tabLst>
            </a:pPr>
            <a:r>
              <a:rPr sz="1200" dirty="0">
                <a:latin typeface="Times New Roman"/>
                <a:cs typeface="Times New Roman"/>
              </a:rPr>
              <a:t>NOVELTY</a:t>
            </a:r>
            <a:r>
              <a:rPr sz="1200" spc="-15" dirty="0">
                <a:latin typeface="Times New Roman"/>
                <a:cs typeface="Times New Roman"/>
              </a:rPr>
              <a:t> </a:t>
            </a:r>
            <a:r>
              <a:rPr sz="1200" dirty="0">
                <a:latin typeface="Times New Roman"/>
                <a:cs typeface="Times New Roman"/>
              </a:rPr>
              <a:t>OF</a:t>
            </a:r>
            <a:r>
              <a:rPr sz="1200" spc="-50" dirty="0">
                <a:latin typeface="Times New Roman"/>
                <a:cs typeface="Times New Roman"/>
              </a:rPr>
              <a:t> </a:t>
            </a:r>
            <a:r>
              <a:rPr sz="1200" dirty="0">
                <a:latin typeface="Times New Roman"/>
                <a:cs typeface="Times New Roman"/>
              </a:rPr>
              <a:t>THE</a:t>
            </a:r>
            <a:r>
              <a:rPr sz="1200" spc="-35" dirty="0">
                <a:latin typeface="Times New Roman"/>
                <a:cs typeface="Times New Roman"/>
              </a:rPr>
              <a:t> </a:t>
            </a:r>
            <a:r>
              <a:rPr sz="1200" spc="-10" dirty="0">
                <a:latin typeface="Times New Roman"/>
                <a:cs typeface="Times New Roman"/>
              </a:rPr>
              <a:t>PROJECT</a:t>
            </a:r>
            <a:endParaRPr sz="1200">
              <a:latin typeface="Times New Roman"/>
              <a:cs typeface="Times New Roman"/>
            </a:endParaRPr>
          </a:p>
          <a:p>
            <a:pPr>
              <a:lnSpc>
                <a:spcPct val="100000"/>
              </a:lnSpc>
              <a:spcBef>
                <a:spcPts val="420"/>
              </a:spcBef>
              <a:buFont typeface="Segoe UI Symbol"/>
              <a:buChar char="⮚"/>
            </a:pPr>
            <a:endParaRPr sz="1200">
              <a:latin typeface="Times New Roman"/>
              <a:cs typeface="Times New Roman"/>
            </a:endParaRPr>
          </a:p>
          <a:p>
            <a:pPr marL="323850" indent="-273050">
              <a:lnSpc>
                <a:spcPct val="100000"/>
              </a:lnSpc>
              <a:buSzPct val="150000"/>
              <a:buFont typeface="Segoe UI Symbol"/>
              <a:buChar char="⮚"/>
              <a:tabLst>
                <a:tab pos="323850" algn="l"/>
              </a:tabLst>
            </a:pPr>
            <a:r>
              <a:rPr sz="1200" spc="-10" dirty="0">
                <a:latin typeface="Times New Roman"/>
                <a:cs typeface="Times New Roman"/>
              </a:rPr>
              <a:t>LITERATURE</a:t>
            </a:r>
            <a:r>
              <a:rPr sz="1200" spc="10" dirty="0">
                <a:latin typeface="Times New Roman"/>
                <a:cs typeface="Times New Roman"/>
              </a:rPr>
              <a:t> </a:t>
            </a:r>
            <a:r>
              <a:rPr sz="1200" spc="-10" dirty="0">
                <a:latin typeface="Times New Roman"/>
                <a:cs typeface="Times New Roman"/>
              </a:rPr>
              <a:t>SURVEY</a:t>
            </a:r>
            <a:endParaRPr sz="1200">
              <a:latin typeface="Times New Roman"/>
              <a:cs typeface="Times New Roman"/>
            </a:endParaRPr>
          </a:p>
          <a:p>
            <a:pPr>
              <a:lnSpc>
                <a:spcPct val="100000"/>
              </a:lnSpc>
              <a:spcBef>
                <a:spcPts val="420"/>
              </a:spcBef>
              <a:buFont typeface="Segoe UI Symbol"/>
              <a:buChar char="⮚"/>
            </a:pPr>
            <a:endParaRPr sz="1200">
              <a:latin typeface="Times New Roman"/>
              <a:cs typeface="Times New Roman"/>
            </a:endParaRPr>
          </a:p>
          <a:p>
            <a:pPr marL="323850" indent="-273050">
              <a:lnSpc>
                <a:spcPct val="100000"/>
              </a:lnSpc>
              <a:buSzPct val="150000"/>
              <a:buFont typeface="Segoe UI Symbol"/>
              <a:buChar char="⮚"/>
              <a:tabLst>
                <a:tab pos="323850" algn="l"/>
              </a:tabLst>
            </a:pPr>
            <a:r>
              <a:rPr sz="1200" dirty="0">
                <a:latin typeface="Times New Roman"/>
                <a:cs typeface="Times New Roman"/>
              </a:rPr>
              <a:t>EXISTING</a:t>
            </a:r>
            <a:r>
              <a:rPr sz="1200" spc="-40" dirty="0">
                <a:latin typeface="Times New Roman"/>
                <a:cs typeface="Times New Roman"/>
              </a:rPr>
              <a:t> </a:t>
            </a:r>
            <a:r>
              <a:rPr sz="1200" spc="-10" dirty="0">
                <a:latin typeface="Times New Roman"/>
                <a:cs typeface="Times New Roman"/>
              </a:rPr>
              <a:t>METHOD</a:t>
            </a:r>
            <a:endParaRPr sz="1200">
              <a:latin typeface="Times New Roman"/>
              <a:cs typeface="Times New Roman"/>
            </a:endParaRPr>
          </a:p>
          <a:p>
            <a:pPr>
              <a:lnSpc>
                <a:spcPct val="100000"/>
              </a:lnSpc>
              <a:spcBef>
                <a:spcPts val="420"/>
              </a:spcBef>
              <a:buFont typeface="Segoe UI Symbol"/>
              <a:buChar char="⮚"/>
            </a:pPr>
            <a:endParaRPr sz="1200">
              <a:latin typeface="Times New Roman"/>
              <a:cs typeface="Times New Roman"/>
            </a:endParaRPr>
          </a:p>
          <a:p>
            <a:pPr marL="323850" indent="-273050">
              <a:lnSpc>
                <a:spcPct val="100000"/>
              </a:lnSpc>
              <a:spcBef>
                <a:spcPts val="5"/>
              </a:spcBef>
              <a:buSzPct val="150000"/>
              <a:buFont typeface="Segoe UI Symbol"/>
              <a:buChar char="⮚"/>
              <a:tabLst>
                <a:tab pos="323850" algn="l"/>
              </a:tabLst>
            </a:pPr>
            <a:r>
              <a:rPr sz="1200" dirty="0">
                <a:latin typeface="Times New Roman"/>
                <a:cs typeface="Times New Roman"/>
              </a:rPr>
              <a:t>ANALYSIS</a:t>
            </a:r>
            <a:r>
              <a:rPr sz="1200" spc="-15" dirty="0">
                <a:latin typeface="Times New Roman"/>
                <a:cs typeface="Times New Roman"/>
              </a:rPr>
              <a:t> </a:t>
            </a:r>
            <a:r>
              <a:rPr sz="1200" dirty="0">
                <a:latin typeface="Times New Roman"/>
                <a:cs typeface="Times New Roman"/>
              </a:rPr>
              <a:t>AND</a:t>
            </a:r>
            <a:r>
              <a:rPr sz="1200" spc="-55" dirty="0">
                <a:latin typeface="Times New Roman"/>
                <a:cs typeface="Times New Roman"/>
              </a:rPr>
              <a:t> </a:t>
            </a:r>
            <a:r>
              <a:rPr sz="1200" spc="-10" dirty="0">
                <a:latin typeface="Times New Roman"/>
                <a:cs typeface="Times New Roman"/>
              </a:rPr>
              <a:t>EXPLANATION</a:t>
            </a:r>
            <a:r>
              <a:rPr sz="1200" dirty="0">
                <a:latin typeface="Times New Roman"/>
                <a:cs typeface="Times New Roman"/>
              </a:rPr>
              <a:t> OF</a:t>
            </a:r>
            <a:r>
              <a:rPr sz="1200" spc="-50" dirty="0">
                <a:latin typeface="Times New Roman"/>
                <a:cs typeface="Times New Roman"/>
              </a:rPr>
              <a:t> </a:t>
            </a:r>
            <a:r>
              <a:rPr sz="1200" dirty="0">
                <a:latin typeface="Times New Roman"/>
                <a:cs typeface="Times New Roman"/>
              </a:rPr>
              <a:t>THE</a:t>
            </a:r>
            <a:r>
              <a:rPr sz="1200" spc="-40" dirty="0">
                <a:latin typeface="Times New Roman"/>
                <a:cs typeface="Times New Roman"/>
              </a:rPr>
              <a:t> </a:t>
            </a:r>
            <a:r>
              <a:rPr sz="1200" dirty="0">
                <a:latin typeface="Times New Roman"/>
                <a:cs typeface="Times New Roman"/>
              </a:rPr>
              <a:t>IDENTIFIED</a:t>
            </a:r>
            <a:r>
              <a:rPr sz="1200" spc="5" dirty="0">
                <a:latin typeface="Times New Roman"/>
                <a:cs typeface="Times New Roman"/>
              </a:rPr>
              <a:t> </a:t>
            </a:r>
            <a:r>
              <a:rPr sz="1200" spc="-10" dirty="0">
                <a:latin typeface="Times New Roman"/>
                <a:cs typeface="Times New Roman"/>
              </a:rPr>
              <a:t>PROBLEM</a:t>
            </a:r>
            <a:endParaRPr sz="1200">
              <a:latin typeface="Times New Roman"/>
              <a:cs typeface="Times New Roman"/>
            </a:endParaRPr>
          </a:p>
          <a:p>
            <a:pPr>
              <a:lnSpc>
                <a:spcPct val="100000"/>
              </a:lnSpc>
              <a:spcBef>
                <a:spcPts val="415"/>
              </a:spcBef>
              <a:buFont typeface="Segoe UI Symbol"/>
              <a:buChar char="⮚"/>
            </a:pPr>
            <a:endParaRPr sz="1200">
              <a:latin typeface="Times New Roman"/>
              <a:cs typeface="Times New Roman"/>
            </a:endParaRPr>
          </a:p>
          <a:p>
            <a:pPr marL="323850" indent="-273050">
              <a:lnSpc>
                <a:spcPct val="100000"/>
              </a:lnSpc>
              <a:spcBef>
                <a:spcPts val="5"/>
              </a:spcBef>
              <a:buSzPct val="150000"/>
              <a:buFont typeface="Segoe UI Symbol"/>
              <a:buChar char="⮚"/>
              <a:tabLst>
                <a:tab pos="323850" algn="l"/>
              </a:tabLst>
            </a:pPr>
            <a:r>
              <a:rPr sz="1200" spc="-10" dirty="0">
                <a:latin typeface="Times New Roman"/>
                <a:cs typeface="Times New Roman"/>
              </a:rPr>
              <a:t>PROPOSED</a:t>
            </a:r>
            <a:r>
              <a:rPr sz="1200" dirty="0">
                <a:latin typeface="Times New Roman"/>
                <a:cs typeface="Times New Roman"/>
              </a:rPr>
              <a:t> </a:t>
            </a:r>
            <a:r>
              <a:rPr sz="1200" spc="-10" dirty="0">
                <a:latin typeface="Times New Roman"/>
                <a:cs typeface="Times New Roman"/>
              </a:rPr>
              <a:t>METHOD</a:t>
            </a:r>
            <a:endParaRPr sz="1200">
              <a:latin typeface="Times New Roman"/>
              <a:cs typeface="Times New Roman"/>
            </a:endParaRPr>
          </a:p>
          <a:p>
            <a:pPr>
              <a:lnSpc>
                <a:spcPct val="100000"/>
              </a:lnSpc>
              <a:spcBef>
                <a:spcPts val="420"/>
              </a:spcBef>
              <a:buFont typeface="Segoe UI Symbol"/>
              <a:buChar char="⮚"/>
            </a:pPr>
            <a:endParaRPr sz="1200">
              <a:latin typeface="Times New Roman"/>
              <a:cs typeface="Times New Roman"/>
            </a:endParaRPr>
          </a:p>
          <a:p>
            <a:pPr marL="323850" indent="-273050">
              <a:lnSpc>
                <a:spcPct val="100000"/>
              </a:lnSpc>
              <a:buSzPct val="150000"/>
              <a:buFont typeface="Segoe UI Symbol"/>
              <a:buChar char="⮚"/>
              <a:tabLst>
                <a:tab pos="323850" algn="l"/>
              </a:tabLst>
            </a:pPr>
            <a:r>
              <a:rPr sz="1200" dirty="0">
                <a:latin typeface="Times New Roman"/>
                <a:cs typeface="Times New Roman"/>
              </a:rPr>
              <a:t>RESULTS</a:t>
            </a:r>
            <a:r>
              <a:rPr sz="1200" spc="-25" dirty="0">
                <a:latin typeface="Times New Roman"/>
                <a:cs typeface="Times New Roman"/>
              </a:rPr>
              <a:t> </a:t>
            </a:r>
            <a:r>
              <a:rPr sz="1200" dirty="0">
                <a:latin typeface="Times New Roman"/>
                <a:cs typeface="Times New Roman"/>
              </a:rPr>
              <a:t>&amp;</a:t>
            </a:r>
            <a:r>
              <a:rPr sz="1200" spc="-35" dirty="0">
                <a:latin typeface="Times New Roman"/>
                <a:cs typeface="Times New Roman"/>
              </a:rPr>
              <a:t> </a:t>
            </a:r>
            <a:r>
              <a:rPr sz="1200" spc="-10" dirty="0">
                <a:latin typeface="Times New Roman"/>
                <a:cs typeface="Times New Roman"/>
              </a:rPr>
              <a:t>OUTPUTS</a:t>
            </a:r>
            <a:endParaRPr sz="1200">
              <a:latin typeface="Times New Roman"/>
              <a:cs typeface="Times New Roman"/>
            </a:endParaRPr>
          </a:p>
          <a:p>
            <a:pPr>
              <a:lnSpc>
                <a:spcPct val="100000"/>
              </a:lnSpc>
              <a:spcBef>
                <a:spcPts val="420"/>
              </a:spcBef>
              <a:buFont typeface="Segoe UI Symbol"/>
              <a:buChar char="⮚"/>
            </a:pPr>
            <a:endParaRPr sz="1200">
              <a:latin typeface="Times New Roman"/>
              <a:cs typeface="Times New Roman"/>
            </a:endParaRPr>
          </a:p>
          <a:p>
            <a:pPr marL="323850" indent="-273050">
              <a:lnSpc>
                <a:spcPct val="100000"/>
              </a:lnSpc>
              <a:buSzPct val="150000"/>
              <a:buFont typeface="Segoe UI Symbol"/>
              <a:buChar char="⮚"/>
              <a:tabLst>
                <a:tab pos="323850" algn="l"/>
              </a:tabLst>
            </a:pPr>
            <a:r>
              <a:rPr sz="1200" dirty="0">
                <a:latin typeface="Times New Roman"/>
                <a:cs typeface="Times New Roman"/>
              </a:rPr>
              <a:t>ADVANTAGES</a:t>
            </a:r>
            <a:r>
              <a:rPr sz="1200" spc="245" dirty="0">
                <a:latin typeface="Times New Roman"/>
                <a:cs typeface="Times New Roman"/>
              </a:rPr>
              <a:t> </a:t>
            </a:r>
            <a:r>
              <a:rPr sz="1200" dirty="0">
                <a:latin typeface="Times New Roman"/>
                <a:cs typeface="Times New Roman"/>
              </a:rPr>
              <a:t>AND</a:t>
            </a:r>
            <a:r>
              <a:rPr sz="1200" spc="-25" dirty="0">
                <a:latin typeface="Times New Roman"/>
                <a:cs typeface="Times New Roman"/>
              </a:rPr>
              <a:t> </a:t>
            </a:r>
            <a:r>
              <a:rPr sz="1200" spc="-10" dirty="0">
                <a:latin typeface="Times New Roman"/>
                <a:cs typeface="Times New Roman"/>
              </a:rPr>
              <a:t>APPLICATIONS</a:t>
            </a:r>
            <a:endParaRPr sz="1200">
              <a:latin typeface="Times New Roman"/>
              <a:cs typeface="Times New Roman"/>
            </a:endParaRPr>
          </a:p>
          <a:p>
            <a:pPr>
              <a:lnSpc>
                <a:spcPct val="100000"/>
              </a:lnSpc>
              <a:spcBef>
                <a:spcPts val="420"/>
              </a:spcBef>
              <a:buFont typeface="Segoe UI Symbol"/>
              <a:buChar char="⮚"/>
            </a:pPr>
            <a:endParaRPr sz="1200">
              <a:latin typeface="Times New Roman"/>
              <a:cs typeface="Times New Roman"/>
            </a:endParaRPr>
          </a:p>
          <a:p>
            <a:pPr marL="323850" indent="-273050">
              <a:lnSpc>
                <a:spcPct val="100000"/>
              </a:lnSpc>
              <a:buSzPct val="150000"/>
              <a:buFont typeface="Segoe UI Symbol"/>
              <a:buChar char="⮚"/>
              <a:tabLst>
                <a:tab pos="323850" algn="l"/>
              </a:tabLst>
            </a:pPr>
            <a:r>
              <a:rPr sz="1200" dirty="0">
                <a:latin typeface="Times New Roman"/>
                <a:cs typeface="Times New Roman"/>
              </a:rPr>
              <a:t>TIME PLAN</a:t>
            </a:r>
            <a:r>
              <a:rPr sz="1200" spc="-20" dirty="0">
                <a:latin typeface="Times New Roman"/>
                <a:cs typeface="Times New Roman"/>
              </a:rPr>
              <a:t> </a:t>
            </a:r>
            <a:r>
              <a:rPr sz="1200" dirty="0">
                <a:latin typeface="Times New Roman"/>
                <a:cs typeface="Times New Roman"/>
              </a:rPr>
              <a:t>OF</a:t>
            </a:r>
            <a:r>
              <a:rPr sz="1200" spc="-35" dirty="0">
                <a:latin typeface="Times New Roman"/>
                <a:cs typeface="Times New Roman"/>
              </a:rPr>
              <a:t> </a:t>
            </a:r>
            <a:r>
              <a:rPr sz="1200" spc="-10" dirty="0">
                <a:latin typeface="Times New Roman"/>
                <a:cs typeface="Times New Roman"/>
              </a:rPr>
              <a:t>PROJECT</a:t>
            </a:r>
            <a:endParaRPr sz="1200">
              <a:latin typeface="Times New Roman"/>
              <a:cs typeface="Times New Roman"/>
            </a:endParaRPr>
          </a:p>
        </p:txBody>
      </p:sp>
      <p:sp>
        <p:nvSpPr>
          <p:cNvPr id="11" name="object 11"/>
          <p:cNvSpPr txBox="1"/>
          <p:nvPr/>
        </p:nvSpPr>
        <p:spPr>
          <a:xfrm>
            <a:off x="2816732" y="6246977"/>
            <a:ext cx="1256030" cy="208279"/>
          </a:xfrm>
          <a:prstGeom prst="rect">
            <a:avLst/>
          </a:prstGeom>
        </p:spPr>
        <p:txBody>
          <a:bodyPr vert="horz" wrap="square" lIns="0" tIns="12700" rIns="0" bIns="0" rtlCol="0">
            <a:spAutoFit/>
          </a:bodyPr>
          <a:lstStyle/>
          <a:p>
            <a:pPr marL="285750" indent="-273050">
              <a:lnSpc>
                <a:spcPct val="100000"/>
              </a:lnSpc>
              <a:spcBef>
                <a:spcPts val="100"/>
              </a:spcBef>
              <a:buSzPct val="150000"/>
              <a:buFont typeface="Segoe UI Symbol"/>
              <a:buChar char="⮚"/>
              <a:tabLst>
                <a:tab pos="285750" algn="l"/>
              </a:tabLst>
            </a:pPr>
            <a:r>
              <a:rPr sz="1200" spc="-10" dirty="0">
                <a:latin typeface="Times New Roman"/>
                <a:cs typeface="Times New Roman"/>
              </a:rPr>
              <a:t>REFERENCES</a:t>
            </a:r>
            <a:endParaRPr sz="120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4862" y="1481859"/>
            <a:ext cx="10803255" cy="3797835"/>
          </a:xfrm>
          <a:prstGeom prst="rect">
            <a:avLst/>
          </a:prstGeom>
        </p:spPr>
        <p:txBody>
          <a:bodyPr vert="horz" wrap="square" lIns="0" tIns="12065" rIns="0" bIns="0" rtlCol="0">
            <a:spAutoFit/>
          </a:bodyPr>
          <a:lstStyle/>
          <a:p>
            <a:pPr marL="12700" marR="5080" algn="just">
              <a:lnSpc>
                <a:spcPct val="150000"/>
              </a:lnSpc>
              <a:spcBef>
                <a:spcPts val="95"/>
              </a:spcBef>
            </a:pPr>
            <a:r>
              <a:rPr lang="en-US" sz="2400" dirty="0" smtClean="0">
                <a:latin typeface="Times New Roman"/>
                <a:cs typeface="Times New Roman"/>
              </a:rPr>
              <a:t>             </a:t>
            </a:r>
            <a:r>
              <a:rPr lang="en-US" sz="2000" dirty="0" smtClean="0">
                <a:latin typeface="Times New Roman"/>
                <a:cs typeface="Times New Roman"/>
              </a:rPr>
              <a:t>This project presents an automatic temperature-controlled fan system designed to regulate fan speed based on room temperature. A temperature sensor continuously monitors the surrounding environment and sends the data to an </a:t>
            </a:r>
            <a:r>
              <a:rPr lang="en-US" sz="2000" dirty="0" err="1" smtClean="0">
                <a:latin typeface="Times New Roman"/>
                <a:cs typeface="Times New Roman"/>
              </a:rPr>
              <a:t>Arduino</a:t>
            </a:r>
            <a:r>
              <a:rPr lang="en-US" sz="2000" dirty="0" smtClean="0">
                <a:latin typeface="Times New Roman"/>
                <a:cs typeface="Times New Roman"/>
              </a:rPr>
              <a:t> microcontroller. Based on the sensed temperature, the controller adjusts the fan speed using pulse width modulation (PWM), increasing the speed at higher temperatures and reducing it when the temperature decreases. This system eliminates the need for manual fan control, improves user comfort, and helps conserve electrical energy. The project demonstrates a simple, cost-effective, and efficient approach to automation that can be applied in homes, offices, and industrial environments.</a:t>
            </a:r>
            <a:endParaRPr sz="2000" dirty="0">
              <a:latin typeface="Times New Roman"/>
              <a:cs typeface="Times New Roman"/>
            </a:endParaRPr>
          </a:p>
        </p:txBody>
      </p:sp>
      <p:sp>
        <p:nvSpPr>
          <p:cNvPr id="3" name="object 3"/>
          <p:cNvSpPr txBox="1">
            <a:spLocks noGrp="1"/>
          </p:cNvSpPr>
          <p:nvPr>
            <p:ph type="title"/>
          </p:nvPr>
        </p:nvSpPr>
        <p:spPr>
          <a:prstGeom prst="rect">
            <a:avLst/>
          </a:prstGeom>
        </p:spPr>
        <p:txBody>
          <a:bodyPr vert="horz" wrap="square" lIns="0" tIns="621665" rIns="0" bIns="0" rtlCol="0">
            <a:spAutoFit/>
          </a:bodyPr>
          <a:lstStyle/>
          <a:p>
            <a:pPr marL="2710815">
              <a:lnSpc>
                <a:spcPct val="100000"/>
              </a:lnSpc>
              <a:spcBef>
                <a:spcPts val="95"/>
              </a:spcBef>
            </a:pPr>
            <a:r>
              <a:rPr b="1" spc="-10" dirty="0">
                <a:latin typeface="Times New Roman"/>
                <a:cs typeface="Times New Roman"/>
              </a:rPr>
              <a:t>ABSTRACT</a:t>
            </a:r>
          </a:p>
        </p:txBody>
      </p:sp>
      <p:sp>
        <p:nvSpPr>
          <p:cNvPr id="4" name="object 4"/>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pic>
        <p:nvPicPr>
          <p:cNvPr id="5" name="object 5"/>
          <p:cNvPicPr/>
          <p:nvPr/>
        </p:nvPicPr>
        <p:blipFill>
          <a:blip r:embed="rId2" cstate="print"/>
          <a:stretch>
            <a:fillRect/>
          </a:stretch>
        </p:blipFill>
        <p:spPr>
          <a:xfrm>
            <a:off x="10786998" y="123825"/>
            <a:ext cx="928687" cy="1193800"/>
          </a:xfrm>
          <a:prstGeom prst="rect">
            <a:avLst/>
          </a:prstGeom>
        </p:spPr>
      </p:pic>
      <p:pic>
        <p:nvPicPr>
          <p:cNvPr id="6" name="object 6"/>
          <p:cNvPicPr/>
          <p:nvPr/>
        </p:nvPicPr>
        <p:blipFill>
          <a:blip r:embed="rId3" cstate="print"/>
          <a:stretch>
            <a:fillRect/>
          </a:stretch>
        </p:blipFill>
        <p:spPr>
          <a:xfrm>
            <a:off x="311962" y="362099"/>
            <a:ext cx="944525" cy="640691"/>
          </a:xfrm>
          <a:prstGeom prst="rect">
            <a:avLst/>
          </a:prstGeom>
        </p:spPr>
      </p:pic>
      <p:sp>
        <p:nvSpPr>
          <p:cNvPr id="7" name="object 7"/>
          <p:cNvSpPr txBox="1"/>
          <p:nvPr/>
        </p:nvSpPr>
        <p:spPr>
          <a:xfrm>
            <a:off x="1190345" y="6304406"/>
            <a:ext cx="591185" cy="224790"/>
          </a:xfrm>
          <a:prstGeom prst="rect">
            <a:avLst/>
          </a:prstGeom>
        </p:spPr>
        <p:txBody>
          <a:bodyPr vert="horz" wrap="square" lIns="0" tIns="0" rIns="0" bIns="0" rtlCol="0">
            <a:spAutoFit/>
          </a:bodyPr>
          <a:lstStyle/>
          <a:p>
            <a:pPr marL="12700">
              <a:lnSpc>
                <a:spcPts val="1650"/>
              </a:lnSpc>
            </a:pPr>
            <a:r>
              <a:rPr sz="1400" dirty="0">
                <a:latin typeface="Arial MT"/>
                <a:cs typeface="Arial MT"/>
              </a:rPr>
              <a:t>EDP</a:t>
            </a:r>
            <a:r>
              <a:rPr sz="1400" spc="-20" dirty="0">
                <a:latin typeface="Arial MT"/>
                <a:cs typeface="Arial MT"/>
              </a:rPr>
              <a:t> </a:t>
            </a:r>
            <a:r>
              <a:rPr sz="1400" spc="-25" dirty="0">
                <a:latin typeface="Arial MT"/>
                <a:cs typeface="Arial MT"/>
              </a:rPr>
              <a:t>III</a:t>
            </a:r>
            <a:endParaRPr sz="1400">
              <a:latin typeface="Arial MT"/>
              <a:cs typeface="Arial MT"/>
            </a:endParaRPr>
          </a:p>
        </p:txBody>
      </p:sp>
      <p:sp>
        <p:nvSpPr>
          <p:cNvPr id="8" name="object 8"/>
          <p:cNvSpPr txBox="1">
            <a:spLocks noGrp="1"/>
          </p:cNvSpPr>
          <p:nvPr>
            <p:ph type="sldNum" sz="quarter" idx="7"/>
          </p:nvPr>
        </p:nvSpPr>
        <p:spPr>
          <a:prstGeom prst="rect">
            <a:avLst/>
          </a:prstGeom>
        </p:spPr>
        <p:txBody>
          <a:bodyPr vert="horz" wrap="square" lIns="0" tIns="13970" rIns="0" bIns="0" rtlCol="0">
            <a:spAutoFit/>
          </a:bodyPr>
          <a:lstStyle/>
          <a:p>
            <a:pPr marL="86360">
              <a:lnSpc>
                <a:spcPct val="100000"/>
              </a:lnSpc>
              <a:spcBef>
                <a:spcPts val="110"/>
              </a:spcBef>
            </a:pPr>
            <a:fld id="{81D60167-4931-47E6-BA6A-407CBD079E47}" type="slidenum">
              <a:rPr spc="-50" dirty="0"/>
              <a:pPr marL="86360">
                <a:lnSpc>
                  <a:spcPct val="100000"/>
                </a:lnSpc>
                <a:spcBef>
                  <a:spcPts val="110"/>
                </a:spcBef>
              </a:pPr>
              <a:t>5</a:t>
            </a:fld>
            <a:endParaRPr spc="-50" dirty="0"/>
          </a:p>
        </p:txBody>
      </p:sp>
      <p:sp>
        <p:nvSpPr>
          <p:cNvPr id="9" name="object 9"/>
          <p:cNvSpPr txBox="1"/>
          <p:nvPr/>
        </p:nvSpPr>
        <p:spPr>
          <a:xfrm>
            <a:off x="9431273" y="6324609"/>
            <a:ext cx="2019300" cy="222885"/>
          </a:xfrm>
          <a:prstGeom prst="rect">
            <a:avLst/>
          </a:prstGeom>
        </p:spPr>
        <p:txBody>
          <a:bodyPr vert="horz" wrap="square" lIns="0" tIns="0" rIns="0" bIns="0" rtlCol="0">
            <a:spAutoFit/>
          </a:bodyPr>
          <a:lstStyle/>
          <a:p>
            <a:pPr marL="12700">
              <a:lnSpc>
                <a:spcPts val="1630"/>
              </a:lnSpc>
            </a:pPr>
            <a:r>
              <a:rPr sz="1400" dirty="0">
                <a:solidFill>
                  <a:srgbClr val="232852"/>
                </a:solidFill>
                <a:latin typeface="Times New Roman"/>
                <a:cs typeface="Times New Roman"/>
              </a:rPr>
              <a:t>Monday,</a:t>
            </a:r>
            <a:r>
              <a:rPr sz="1400" spc="-35"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25" dirty="0">
                <a:solidFill>
                  <a:srgbClr val="232852"/>
                </a:solidFill>
                <a:latin typeface="Times New Roman"/>
                <a:cs typeface="Times New Roman"/>
              </a:rPr>
              <a:t> </a:t>
            </a:r>
            <a:r>
              <a:rPr sz="1400" dirty="0">
                <a:solidFill>
                  <a:srgbClr val="232852"/>
                </a:solidFill>
                <a:latin typeface="Times New Roman"/>
                <a:cs typeface="Times New Roman"/>
              </a:rPr>
              <a:t>1,</a:t>
            </a:r>
            <a:r>
              <a:rPr sz="1400" spc="-30" dirty="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51974" y="1444498"/>
            <a:ext cx="10207625" cy="4046621"/>
          </a:xfrm>
          <a:prstGeom prst="rect">
            <a:avLst/>
          </a:prstGeom>
        </p:spPr>
        <p:txBody>
          <a:bodyPr vert="horz" wrap="square" lIns="0" tIns="45085" rIns="0" bIns="0" rtlCol="0">
            <a:spAutoFit/>
          </a:bodyPr>
          <a:lstStyle/>
          <a:p>
            <a:pPr marL="469265" marR="5080" indent="-457200" algn="just">
              <a:lnSpc>
                <a:spcPct val="150000"/>
              </a:lnSpc>
              <a:spcBef>
                <a:spcPts val="355"/>
              </a:spcBef>
              <a:buClr>
                <a:srgbClr val="4966AC"/>
              </a:buClr>
              <a:buSzPct val="86842"/>
              <a:buFont typeface="Arial" pitchFamily="34" charset="0"/>
              <a:buChar char="•"/>
              <a:tabLst>
                <a:tab pos="285115" algn="l"/>
                <a:tab pos="316230" algn="l"/>
              </a:tabLst>
            </a:pPr>
            <a:r>
              <a:rPr lang="en-US" sz="2000" dirty="0" smtClean="0">
                <a:latin typeface="Times New Roman"/>
                <a:cs typeface="Times New Roman"/>
              </a:rPr>
              <a:t>To design an automatic fan speed control system based on room temperature.</a:t>
            </a:r>
          </a:p>
          <a:p>
            <a:pPr marL="469265" marR="5080" indent="-457200" algn="just">
              <a:lnSpc>
                <a:spcPct val="150000"/>
              </a:lnSpc>
              <a:spcBef>
                <a:spcPts val="355"/>
              </a:spcBef>
              <a:buClr>
                <a:srgbClr val="4966AC"/>
              </a:buClr>
              <a:buSzPct val="86842"/>
              <a:buFont typeface="Arial" pitchFamily="34" charset="0"/>
              <a:buChar char="•"/>
              <a:tabLst>
                <a:tab pos="285115" algn="l"/>
                <a:tab pos="316230" algn="l"/>
              </a:tabLst>
            </a:pPr>
            <a:r>
              <a:rPr lang="en-US" sz="2000" dirty="0" smtClean="0">
                <a:latin typeface="Times New Roman"/>
                <a:cs typeface="Times New Roman"/>
              </a:rPr>
              <a:t>To sense real-time temperature using a temperature sensor.</a:t>
            </a:r>
          </a:p>
          <a:p>
            <a:pPr marL="469265" marR="5080" indent="-457200" algn="just">
              <a:lnSpc>
                <a:spcPct val="150000"/>
              </a:lnSpc>
              <a:spcBef>
                <a:spcPts val="355"/>
              </a:spcBef>
              <a:buClr>
                <a:srgbClr val="4966AC"/>
              </a:buClr>
              <a:buSzPct val="86842"/>
              <a:buFont typeface="Arial" pitchFamily="34" charset="0"/>
              <a:buChar char="•"/>
              <a:tabLst>
                <a:tab pos="285115" algn="l"/>
                <a:tab pos="316230" algn="l"/>
              </a:tabLst>
            </a:pPr>
            <a:r>
              <a:rPr lang="en-US" sz="2000" dirty="0" smtClean="0">
                <a:latin typeface="Times New Roman"/>
                <a:cs typeface="Times New Roman"/>
              </a:rPr>
              <a:t>To control the fan speed automatically without manual adjustment.</a:t>
            </a:r>
          </a:p>
          <a:p>
            <a:pPr marL="469265" marR="5080" indent="-457200" algn="just">
              <a:lnSpc>
                <a:spcPct val="150000"/>
              </a:lnSpc>
              <a:spcBef>
                <a:spcPts val="355"/>
              </a:spcBef>
              <a:buClr>
                <a:srgbClr val="4966AC"/>
              </a:buClr>
              <a:buSzPct val="86842"/>
              <a:buFont typeface="Arial" pitchFamily="34" charset="0"/>
              <a:buChar char="•"/>
              <a:tabLst>
                <a:tab pos="285115" algn="l"/>
                <a:tab pos="316230" algn="l"/>
              </a:tabLst>
            </a:pPr>
            <a:r>
              <a:rPr lang="en-US" sz="2000" dirty="0" smtClean="0">
                <a:latin typeface="Times New Roman"/>
                <a:cs typeface="Times New Roman"/>
              </a:rPr>
              <a:t>To increase fan speed when the temperature rises and decrease it when the temperature falls.</a:t>
            </a:r>
          </a:p>
          <a:p>
            <a:pPr marL="469265" marR="5080" indent="-457200" algn="just">
              <a:lnSpc>
                <a:spcPct val="150000"/>
              </a:lnSpc>
              <a:spcBef>
                <a:spcPts val="355"/>
              </a:spcBef>
              <a:buClr>
                <a:srgbClr val="4966AC"/>
              </a:buClr>
              <a:buSzPct val="86842"/>
              <a:buFont typeface="Arial" pitchFamily="34" charset="0"/>
              <a:buChar char="•"/>
              <a:tabLst>
                <a:tab pos="285115" algn="l"/>
                <a:tab pos="316230" algn="l"/>
              </a:tabLst>
            </a:pPr>
            <a:r>
              <a:rPr lang="en-US" sz="2000" dirty="0" smtClean="0">
                <a:latin typeface="Times New Roman"/>
                <a:cs typeface="Times New Roman"/>
              </a:rPr>
              <a:t>To reduce energy consumption through efficient fan operation.</a:t>
            </a:r>
          </a:p>
          <a:p>
            <a:pPr marL="469265" marR="5080" indent="-457200" algn="just">
              <a:lnSpc>
                <a:spcPct val="150000"/>
              </a:lnSpc>
              <a:spcBef>
                <a:spcPts val="355"/>
              </a:spcBef>
              <a:buClr>
                <a:srgbClr val="4966AC"/>
              </a:buClr>
              <a:buSzPct val="86842"/>
              <a:buFont typeface="Arial" pitchFamily="34" charset="0"/>
              <a:buChar char="•"/>
              <a:tabLst>
                <a:tab pos="285115" algn="l"/>
                <a:tab pos="316230" algn="l"/>
              </a:tabLst>
            </a:pPr>
            <a:r>
              <a:rPr lang="en-US" sz="2000" dirty="0" smtClean="0">
                <a:latin typeface="Times New Roman"/>
                <a:cs typeface="Times New Roman"/>
              </a:rPr>
              <a:t>To demonstrate the application of microcontrollers in home automation systems.</a:t>
            </a:r>
            <a:endParaRPr lang="en-US" sz="2000" dirty="0">
              <a:latin typeface="Times New Roman"/>
              <a:cs typeface="Times New Roman"/>
            </a:endParaRPr>
          </a:p>
          <a:p>
            <a:pPr marL="469265" marR="5080" indent="-457200" algn="just">
              <a:lnSpc>
                <a:spcPct val="150000"/>
              </a:lnSpc>
              <a:spcBef>
                <a:spcPts val="355"/>
              </a:spcBef>
              <a:buClr>
                <a:srgbClr val="4966AC"/>
              </a:buClr>
              <a:buSzPct val="86842"/>
              <a:buFont typeface="Arial" pitchFamily="34" charset="0"/>
              <a:buChar char="•"/>
              <a:tabLst>
                <a:tab pos="285115" algn="l"/>
                <a:tab pos="316230" algn="l"/>
              </a:tabLst>
            </a:pPr>
            <a:r>
              <a:rPr lang="en-US" sz="2000" dirty="0" smtClean="0">
                <a:latin typeface="Times New Roman"/>
                <a:cs typeface="Times New Roman"/>
              </a:rPr>
              <a:t>To provide a cost-effective and user-friendly solution for maintaining a comfortable indoor environment.</a:t>
            </a:r>
            <a:endParaRPr sz="2000" dirty="0">
              <a:latin typeface="Times New Roman"/>
              <a:cs typeface="Times New Roman"/>
            </a:endParaRPr>
          </a:p>
        </p:txBody>
      </p:sp>
      <p:sp>
        <p:nvSpPr>
          <p:cNvPr id="3" name="object 3"/>
          <p:cNvSpPr txBox="1">
            <a:spLocks noGrp="1"/>
          </p:cNvSpPr>
          <p:nvPr>
            <p:ph type="title"/>
          </p:nvPr>
        </p:nvSpPr>
        <p:spPr>
          <a:prstGeom prst="rect">
            <a:avLst/>
          </a:prstGeom>
        </p:spPr>
        <p:txBody>
          <a:bodyPr vert="horz" wrap="square" lIns="0" tIns="621665" rIns="0" bIns="0" rtlCol="0">
            <a:spAutoFit/>
          </a:bodyPr>
          <a:lstStyle/>
          <a:p>
            <a:pPr marL="1076325">
              <a:lnSpc>
                <a:spcPct val="100000"/>
              </a:lnSpc>
              <a:spcBef>
                <a:spcPts val="95"/>
              </a:spcBef>
            </a:pPr>
            <a:r>
              <a:rPr b="1" dirty="0">
                <a:latin typeface="Times New Roman"/>
                <a:cs typeface="Times New Roman"/>
              </a:rPr>
              <a:t>OBJECTIVE</a:t>
            </a:r>
            <a:r>
              <a:rPr b="1" spc="-100" dirty="0">
                <a:latin typeface="Times New Roman"/>
                <a:cs typeface="Times New Roman"/>
              </a:rPr>
              <a:t> </a:t>
            </a:r>
            <a:r>
              <a:rPr b="1" dirty="0">
                <a:latin typeface="Times New Roman"/>
                <a:cs typeface="Times New Roman"/>
              </a:rPr>
              <a:t>OF</a:t>
            </a:r>
            <a:r>
              <a:rPr b="1" spc="-100" dirty="0">
                <a:latin typeface="Times New Roman"/>
                <a:cs typeface="Times New Roman"/>
              </a:rPr>
              <a:t> </a:t>
            </a:r>
            <a:r>
              <a:rPr b="1" dirty="0">
                <a:latin typeface="Times New Roman"/>
                <a:cs typeface="Times New Roman"/>
              </a:rPr>
              <a:t>THE</a:t>
            </a:r>
            <a:r>
              <a:rPr b="1" spc="-85" dirty="0">
                <a:latin typeface="Times New Roman"/>
                <a:cs typeface="Times New Roman"/>
              </a:rPr>
              <a:t> </a:t>
            </a:r>
            <a:r>
              <a:rPr b="1" spc="-10" dirty="0">
                <a:latin typeface="Times New Roman"/>
                <a:cs typeface="Times New Roman"/>
              </a:rPr>
              <a:t>PROJECT</a:t>
            </a:r>
          </a:p>
        </p:txBody>
      </p:sp>
      <p:sp>
        <p:nvSpPr>
          <p:cNvPr id="4" name="object 4"/>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pic>
        <p:nvPicPr>
          <p:cNvPr id="5" name="object 5"/>
          <p:cNvPicPr/>
          <p:nvPr/>
        </p:nvPicPr>
        <p:blipFill>
          <a:blip r:embed="rId2" cstate="print"/>
          <a:stretch>
            <a:fillRect/>
          </a:stretch>
        </p:blipFill>
        <p:spPr>
          <a:xfrm>
            <a:off x="311962" y="362099"/>
            <a:ext cx="944525" cy="640691"/>
          </a:xfrm>
          <a:prstGeom prst="rect">
            <a:avLst/>
          </a:prstGeom>
        </p:spPr>
      </p:pic>
      <p:pic>
        <p:nvPicPr>
          <p:cNvPr id="6" name="object 6"/>
          <p:cNvPicPr/>
          <p:nvPr/>
        </p:nvPicPr>
        <p:blipFill>
          <a:blip r:embed="rId3" cstate="print"/>
          <a:stretch>
            <a:fillRect/>
          </a:stretch>
        </p:blipFill>
        <p:spPr>
          <a:xfrm>
            <a:off x="10786998" y="123825"/>
            <a:ext cx="928687" cy="1193800"/>
          </a:xfrm>
          <a:prstGeom prst="rect">
            <a:avLst/>
          </a:prstGeom>
        </p:spPr>
      </p:pic>
      <p:sp>
        <p:nvSpPr>
          <p:cNvPr id="7" name="object 7"/>
          <p:cNvSpPr txBox="1"/>
          <p:nvPr/>
        </p:nvSpPr>
        <p:spPr>
          <a:xfrm>
            <a:off x="1190345" y="6304406"/>
            <a:ext cx="591185" cy="224790"/>
          </a:xfrm>
          <a:prstGeom prst="rect">
            <a:avLst/>
          </a:prstGeom>
        </p:spPr>
        <p:txBody>
          <a:bodyPr vert="horz" wrap="square" lIns="0" tIns="0" rIns="0" bIns="0" rtlCol="0">
            <a:spAutoFit/>
          </a:bodyPr>
          <a:lstStyle/>
          <a:p>
            <a:pPr marL="12700">
              <a:lnSpc>
                <a:spcPts val="1650"/>
              </a:lnSpc>
            </a:pPr>
            <a:r>
              <a:rPr sz="1400" dirty="0">
                <a:latin typeface="Arial MT"/>
                <a:cs typeface="Arial MT"/>
              </a:rPr>
              <a:t>EDP</a:t>
            </a:r>
            <a:r>
              <a:rPr sz="1400" spc="-20" dirty="0">
                <a:latin typeface="Arial MT"/>
                <a:cs typeface="Arial MT"/>
              </a:rPr>
              <a:t> </a:t>
            </a:r>
            <a:r>
              <a:rPr sz="1400" spc="-25" dirty="0">
                <a:latin typeface="Arial MT"/>
                <a:cs typeface="Arial MT"/>
              </a:rPr>
              <a:t>III</a:t>
            </a:r>
            <a:endParaRPr sz="1400">
              <a:latin typeface="Arial MT"/>
              <a:cs typeface="Arial MT"/>
            </a:endParaRPr>
          </a:p>
        </p:txBody>
      </p:sp>
      <p:sp>
        <p:nvSpPr>
          <p:cNvPr id="8" name="object 8"/>
          <p:cNvSpPr txBox="1">
            <a:spLocks noGrp="1"/>
          </p:cNvSpPr>
          <p:nvPr>
            <p:ph type="sldNum" sz="quarter" idx="7"/>
          </p:nvPr>
        </p:nvSpPr>
        <p:spPr>
          <a:prstGeom prst="rect">
            <a:avLst/>
          </a:prstGeom>
        </p:spPr>
        <p:txBody>
          <a:bodyPr vert="horz" wrap="square" lIns="0" tIns="13970" rIns="0" bIns="0" rtlCol="0">
            <a:spAutoFit/>
          </a:bodyPr>
          <a:lstStyle/>
          <a:p>
            <a:pPr marL="86360">
              <a:lnSpc>
                <a:spcPct val="100000"/>
              </a:lnSpc>
              <a:spcBef>
                <a:spcPts val="110"/>
              </a:spcBef>
            </a:pPr>
            <a:fld id="{81D60167-4931-47E6-BA6A-407CBD079E47}" type="slidenum">
              <a:rPr spc="-50" dirty="0"/>
              <a:pPr marL="86360">
                <a:lnSpc>
                  <a:spcPct val="100000"/>
                </a:lnSpc>
                <a:spcBef>
                  <a:spcPts val="110"/>
                </a:spcBef>
              </a:pPr>
              <a:t>6</a:t>
            </a:fld>
            <a:endParaRPr spc="-50" dirty="0"/>
          </a:p>
        </p:txBody>
      </p:sp>
      <p:sp>
        <p:nvSpPr>
          <p:cNvPr id="9" name="object 9"/>
          <p:cNvSpPr txBox="1"/>
          <p:nvPr/>
        </p:nvSpPr>
        <p:spPr>
          <a:xfrm>
            <a:off x="9431273" y="6324609"/>
            <a:ext cx="2019300" cy="222885"/>
          </a:xfrm>
          <a:prstGeom prst="rect">
            <a:avLst/>
          </a:prstGeom>
        </p:spPr>
        <p:txBody>
          <a:bodyPr vert="horz" wrap="square" lIns="0" tIns="0" rIns="0" bIns="0" rtlCol="0">
            <a:spAutoFit/>
          </a:bodyPr>
          <a:lstStyle/>
          <a:p>
            <a:pPr marL="12700">
              <a:lnSpc>
                <a:spcPts val="1630"/>
              </a:lnSpc>
            </a:pPr>
            <a:r>
              <a:rPr sz="1400" dirty="0">
                <a:solidFill>
                  <a:srgbClr val="232852"/>
                </a:solidFill>
                <a:latin typeface="Times New Roman"/>
                <a:cs typeface="Times New Roman"/>
              </a:rPr>
              <a:t>Monday,</a:t>
            </a:r>
            <a:r>
              <a:rPr sz="1400" spc="-35"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25" dirty="0">
                <a:solidFill>
                  <a:srgbClr val="232852"/>
                </a:solidFill>
                <a:latin typeface="Times New Roman"/>
                <a:cs typeface="Times New Roman"/>
              </a:rPr>
              <a:t> </a:t>
            </a:r>
            <a:r>
              <a:rPr sz="1400" dirty="0">
                <a:solidFill>
                  <a:srgbClr val="232852"/>
                </a:solidFill>
                <a:latin typeface="Times New Roman"/>
                <a:cs typeface="Times New Roman"/>
              </a:rPr>
              <a:t>1,</a:t>
            </a:r>
            <a:r>
              <a:rPr sz="1400" spc="-30" dirty="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431273" y="6305194"/>
            <a:ext cx="2019300"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232852"/>
                </a:solidFill>
                <a:latin typeface="Times New Roman"/>
                <a:cs typeface="Times New Roman"/>
              </a:rPr>
              <a:t>Monday</a:t>
            </a:r>
            <a:r>
              <a:rPr sz="1400" spc="-45"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20" dirty="0">
                <a:solidFill>
                  <a:srgbClr val="232852"/>
                </a:solidFill>
                <a:latin typeface="Times New Roman"/>
                <a:cs typeface="Times New Roman"/>
              </a:rPr>
              <a:t> </a:t>
            </a:r>
            <a:r>
              <a:rPr sz="1400" dirty="0">
                <a:solidFill>
                  <a:srgbClr val="232852"/>
                </a:solidFill>
                <a:latin typeface="Times New Roman"/>
                <a:cs typeface="Times New Roman"/>
              </a:rPr>
              <a:t>1,</a:t>
            </a:r>
            <a:r>
              <a:rPr sz="1400" spc="-30" dirty="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a:latin typeface="Times New Roman"/>
              <a:cs typeface="Times New Roman"/>
            </a:endParaRPr>
          </a:p>
        </p:txBody>
      </p:sp>
      <p:sp>
        <p:nvSpPr>
          <p:cNvPr id="3" name="object 3"/>
          <p:cNvSpPr txBox="1"/>
          <p:nvPr/>
        </p:nvSpPr>
        <p:spPr>
          <a:xfrm>
            <a:off x="1298194" y="6276543"/>
            <a:ext cx="58356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232852"/>
                </a:solidFill>
                <a:latin typeface="Times New Roman"/>
                <a:cs typeface="Times New Roman"/>
              </a:rPr>
              <a:t>EDP</a:t>
            </a:r>
            <a:r>
              <a:rPr sz="1400" spc="-20" dirty="0">
                <a:solidFill>
                  <a:srgbClr val="232852"/>
                </a:solidFill>
                <a:latin typeface="Times New Roman"/>
                <a:cs typeface="Times New Roman"/>
              </a:rPr>
              <a:t> </a:t>
            </a:r>
            <a:r>
              <a:rPr sz="1400" spc="-25" dirty="0">
                <a:solidFill>
                  <a:srgbClr val="232852"/>
                </a:solidFill>
                <a:latin typeface="Times New Roman"/>
                <a:cs typeface="Times New Roman"/>
              </a:rPr>
              <a:t>III</a:t>
            </a:r>
            <a:endParaRPr sz="1400">
              <a:latin typeface="Times New Roman"/>
              <a:cs typeface="Times New Roman"/>
            </a:endParaRPr>
          </a:p>
        </p:txBody>
      </p:sp>
      <p:sp>
        <p:nvSpPr>
          <p:cNvPr id="4" name="object 4"/>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5" name="object 5"/>
          <p:cNvSpPr txBox="1"/>
          <p:nvPr/>
        </p:nvSpPr>
        <p:spPr>
          <a:xfrm>
            <a:off x="436880" y="6316167"/>
            <a:ext cx="124460" cy="239395"/>
          </a:xfrm>
          <a:prstGeom prst="rect">
            <a:avLst/>
          </a:prstGeom>
        </p:spPr>
        <p:txBody>
          <a:bodyPr vert="horz" wrap="square" lIns="0" tIns="12700" rIns="0" bIns="0" rtlCol="0">
            <a:spAutoFit/>
          </a:bodyPr>
          <a:lstStyle/>
          <a:p>
            <a:pPr marL="12700">
              <a:lnSpc>
                <a:spcPct val="100000"/>
              </a:lnSpc>
              <a:spcBef>
                <a:spcPts val="100"/>
              </a:spcBef>
            </a:pPr>
            <a:r>
              <a:rPr sz="1400" spc="-50" dirty="0">
                <a:solidFill>
                  <a:srgbClr val="FFFFFF"/>
                </a:solidFill>
                <a:latin typeface="Tahoma"/>
                <a:cs typeface="Tahoma"/>
              </a:rPr>
              <a:t>8</a:t>
            </a:r>
            <a:endParaRPr sz="1400">
              <a:latin typeface="Tahoma"/>
              <a:cs typeface="Tahoma"/>
            </a:endParaRPr>
          </a:p>
        </p:txBody>
      </p:sp>
      <p:sp>
        <p:nvSpPr>
          <p:cNvPr id="6" name="object 6"/>
          <p:cNvSpPr txBox="1"/>
          <p:nvPr/>
        </p:nvSpPr>
        <p:spPr>
          <a:xfrm>
            <a:off x="904874" y="1752600"/>
            <a:ext cx="10545699" cy="3295774"/>
          </a:xfrm>
          <a:prstGeom prst="rect">
            <a:avLst/>
          </a:prstGeom>
        </p:spPr>
        <p:txBody>
          <a:bodyPr vert="horz" wrap="square" lIns="0" tIns="12700" rIns="0" bIns="0" rtlCol="0">
            <a:spAutoFit/>
          </a:bodyPr>
          <a:lstStyle/>
          <a:p>
            <a:pPr marL="469265" marR="5080" indent="-457200" algn="just">
              <a:lnSpc>
                <a:spcPct val="150000"/>
              </a:lnSpc>
              <a:spcBef>
                <a:spcPts val="100"/>
              </a:spcBef>
              <a:buClr>
                <a:srgbClr val="4966AC"/>
              </a:buClr>
              <a:buSzPct val="77777"/>
              <a:buFont typeface="Arial" pitchFamily="34" charset="0"/>
              <a:buChar char="•"/>
              <a:tabLst>
                <a:tab pos="285115" algn="l"/>
              </a:tabLst>
            </a:pPr>
            <a:r>
              <a:rPr lang="en-US" sz="2000" dirty="0" smtClean="0">
                <a:latin typeface="Times New Roman"/>
                <a:cs typeface="Times New Roman"/>
              </a:rPr>
              <a:t>The project introduces an automatic fan speed control system that operates purely based on real-time temperature variations.</a:t>
            </a:r>
          </a:p>
          <a:p>
            <a:pPr marL="354965" marR="5080" indent="-342900" algn="just">
              <a:lnSpc>
                <a:spcPct val="150000"/>
              </a:lnSpc>
              <a:spcBef>
                <a:spcPts val="100"/>
              </a:spcBef>
              <a:buClr>
                <a:srgbClr val="4966AC"/>
              </a:buClr>
              <a:buSzPct val="77777"/>
              <a:buFont typeface="Arial" pitchFamily="34" charset="0"/>
              <a:buChar char="•"/>
              <a:tabLst>
                <a:tab pos="285115" algn="l"/>
              </a:tabLst>
            </a:pPr>
            <a:r>
              <a:rPr lang="en-US" sz="2000" dirty="0" smtClean="0">
                <a:latin typeface="Times New Roman"/>
                <a:cs typeface="Times New Roman"/>
              </a:rPr>
              <a:t> It eliminates the need for manual speed regulators, making the system fully autonomous.</a:t>
            </a:r>
          </a:p>
          <a:p>
            <a:pPr marL="354965" marR="5080" indent="-342900" algn="just">
              <a:lnSpc>
                <a:spcPct val="150000"/>
              </a:lnSpc>
              <a:spcBef>
                <a:spcPts val="100"/>
              </a:spcBef>
              <a:buClr>
                <a:srgbClr val="4966AC"/>
              </a:buClr>
              <a:buSzPct val="77777"/>
              <a:buFont typeface="Arial" pitchFamily="34" charset="0"/>
              <a:buChar char="•"/>
              <a:tabLst>
                <a:tab pos="285115" algn="l"/>
              </a:tabLst>
            </a:pPr>
            <a:r>
              <a:rPr lang="en-US" sz="2000" dirty="0" smtClean="0">
                <a:latin typeface="Times New Roman"/>
                <a:cs typeface="Times New Roman"/>
              </a:rPr>
              <a:t>The fan speed is controlled using PWM technology, ensuring smooth and efficient operation.</a:t>
            </a:r>
          </a:p>
          <a:p>
            <a:pPr marL="354965" marR="5080" indent="-342900" algn="just">
              <a:lnSpc>
                <a:spcPct val="150000"/>
              </a:lnSpc>
              <a:spcBef>
                <a:spcPts val="100"/>
              </a:spcBef>
              <a:buClr>
                <a:srgbClr val="4966AC"/>
              </a:buClr>
              <a:buSzPct val="77777"/>
              <a:buFont typeface="Arial" pitchFamily="34" charset="0"/>
              <a:buChar char="•"/>
              <a:tabLst>
                <a:tab pos="285115" algn="l"/>
              </a:tabLst>
            </a:pPr>
            <a:r>
              <a:rPr lang="en-US" sz="2000" dirty="0" smtClean="0">
                <a:latin typeface="Times New Roman"/>
                <a:cs typeface="Times New Roman"/>
              </a:rPr>
              <a:t>The design focuses on energy optimization by running the fan only at the required speed.</a:t>
            </a:r>
          </a:p>
          <a:p>
            <a:pPr marL="354965" marR="5080" indent="-342900" algn="just">
              <a:lnSpc>
                <a:spcPct val="150000"/>
              </a:lnSpc>
              <a:spcBef>
                <a:spcPts val="100"/>
              </a:spcBef>
              <a:buClr>
                <a:srgbClr val="4966AC"/>
              </a:buClr>
              <a:buSzPct val="77777"/>
              <a:buFont typeface="Arial" pitchFamily="34" charset="0"/>
              <a:buChar char="•"/>
              <a:tabLst>
                <a:tab pos="285115" algn="l"/>
              </a:tabLst>
            </a:pPr>
            <a:r>
              <a:rPr lang="en-US" sz="2000" dirty="0" smtClean="0">
                <a:latin typeface="Times New Roman"/>
                <a:cs typeface="Times New Roman"/>
              </a:rPr>
              <a:t>The system uses a simple and low-cost hardware setup, making it easy to implement and scalable for different environments.</a:t>
            </a:r>
            <a:endParaRPr sz="2000" dirty="0">
              <a:latin typeface="Times New Roman"/>
              <a:cs typeface="Times New Roman"/>
            </a:endParaRPr>
          </a:p>
        </p:txBody>
      </p:sp>
      <p:sp>
        <p:nvSpPr>
          <p:cNvPr id="7" name="object 7"/>
          <p:cNvSpPr txBox="1"/>
          <p:nvPr/>
        </p:nvSpPr>
        <p:spPr>
          <a:xfrm>
            <a:off x="863600" y="6157671"/>
            <a:ext cx="82550"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imes New Roman"/>
                <a:cs typeface="Times New Roman"/>
              </a:rPr>
              <a:t>.</a:t>
            </a:r>
            <a:endParaRPr sz="1800">
              <a:latin typeface="Times New Roman"/>
              <a:cs typeface="Times New Roman"/>
            </a:endParaRPr>
          </a:p>
        </p:txBody>
      </p:sp>
      <p:sp>
        <p:nvSpPr>
          <p:cNvPr id="8" name="object 8"/>
          <p:cNvSpPr txBox="1">
            <a:spLocks noGrp="1"/>
          </p:cNvSpPr>
          <p:nvPr>
            <p:ph type="title"/>
          </p:nvPr>
        </p:nvSpPr>
        <p:spPr>
          <a:xfrm>
            <a:off x="2590800" y="403225"/>
            <a:ext cx="7060565" cy="635000"/>
          </a:xfrm>
          <a:prstGeom prst="rect">
            <a:avLst/>
          </a:prstGeom>
        </p:spPr>
        <p:txBody>
          <a:bodyPr vert="horz" wrap="square" lIns="0" tIns="12065" rIns="0" bIns="0" rtlCol="0">
            <a:spAutoFit/>
          </a:bodyPr>
          <a:lstStyle/>
          <a:p>
            <a:pPr marL="12700">
              <a:lnSpc>
                <a:spcPct val="100000"/>
              </a:lnSpc>
              <a:spcBef>
                <a:spcPts val="95"/>
              </a:spcBef>
            </a:pPr>
            <a:r>
              <a:rPr b="1" dirty="0">
                <a:latin typeface="Times New Roman"/>
                <a:cs typeface="Times New Roman"/>
              </a:rPr>
              <a:t>NOVELTY</a:t>
            </a:r>
            <a:r>
              <a:rPr b="1" spc="-65" dirty="0">
                <a:latin typeface="Times New Roman"/>
                <a:cs typeface="Times New Roman"/>
              </a:rPr>
              <a:t> </a:t>
            </a:r>
            <a:r>
              <a:rPr b="1" dirty="0">
                <a:latin typeface="Times New Roman"/>
                <a:cs typeface="Times New Roman"/>
              </a:rPr>
              <a:t>OF</a:t>
            </a:r>
            <a:r>
              <a:rPr b="1" spc="-70" dirty="0">
                <a:latin typeface="Times New Roman"/>
                <a:cs typeface="Times New Roman"/>
              </a:rPr>
              <a:t> </a:t>
            </a:r>
            <a:r>
              <a:rPr b="1" dirty="0">
                <a:latin typeface="Times New Roman"/>
                <a:cs typeface="Times New Roman"/>
              </a:rPr>
              <a:t>THE</a:t>
            </a:r>
            <a:r>
              <a:rPr b="1" spc="-70" dirty="0">
                <a:latin typeface="Times New Roman"/>
                <a:cs typeface="Times New Roman"/>
              </a:rPr>
              <a:t> </a:t>
            </a:r>
            <a:r>
              <a:rPr b="1" spc="-10" dirty="0">
                <a:latin typeface="Times New Roman"/>
                <a:cs typeface="Times New Roman"/>
              </a:rPr>
              <a:t>PROJECT</a:t>
            </a:r>
          </a:p>
        </p:txBody>
      </p:sp>
      <p:pic>
        <p:nvPicPr>
          <p:cNvPr id="9" name="object 9"/>
          <p:cNvPicPr/>
          <p:nvPr/>
        </p:nvPicPr>
        <p:blipFill>
          <a:blip r:embed="rId2" cstate="print"/>
          <a:stretch>
            <a:fillRect/>
          </a:stretch>
        </p:blipFill>
        <p:spPr>
          <a:xfrm>
            <a:off x="311962" y="362099"/>
            <a:ext cx="944525" cy="640691"/>
          </a:xfrm>
          <a:prstGeom prst="rect">
            <a:avLst/>
          </a:prstGeom>
        </p:spPr>
      </p:pic>
      <p:pic>
        <p:nvPicPr>
          <p:cNvPr id="10" name="object 10"/>
          <p:cNvPicPr/>
          <p:nvPr/>
        </p:nvPicPr>
        <p:blipFill>
          <a:blip r:embed="rId3" cstate="print"/>
          <a:stretch>
            <a:fillRect/>
          </a:stretch>
        </p:blipFill>
        <p:spPr>
          <a:xfrm>
            <a:off x="10786998" y="123825"/>
            <a:ext cx="928687" cy="1193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3" name="object 3"/>
          <p:cNvSpPr txBox="1">
            <a:spLocks noGrp="1"/>
          </p:cNvSpPr>
          <p:nvPr>
            <p:ph type="title"/>
          </p:nvPr>
        </p:nvSpPr>
        <p:spPr>
          <a:xfrm>
            <a:off x="3169666" y="187198"/>
            <a:ext cx="5597525" cy="635000"/>
          </a:xfrm>
          <a:prstGeom prst="rect">
            <a:avLst/>
          </a:prstGeom>
        </p:spPr>
        <p:txBody>
          <a:bodyPr vert="horz" wrap="square" lIns="0" tIns="12065" rIns="0" bIns="0" rtlCol="0">
            <a:spAutoFit/>
          </a:bodyPr>
          <a:lstStyle/>
          <a:p>
            <a:pPr marL="12700">
              <a:lnSpc>
                <a:spcPct val="100000"/>
              </a:lnSpc>
              <a:spcBef>
                <a:spcPts val="95"/>
              </a:spcBef>
            </a:pPr>
            <a:r>
              <a:rPr b="1" spc="-10" dirty="0">
                <a:solidFill>
                  <a:srgbClr val="0D57C4"/>
                </a:solidFill>
                <a:latin typeface="Times New Roman"/>
                <a:cs typeface="Times New Roman"/>
              </a:rPr>
              <a:t>LITERATURE</a:t>
            </a:r>
            <a:r>
              <a:rPr b="1" spc="-160" dirty="0">
                <a:solidFill>
                  <a:srgbClr val="0D57C4"/>
                </a:solidFill>
                <a:latin typeface="Times New Roman"/>
                <a:cs typeface="Times New Roman"/>
              </a:rPr>
              <a:t> </a:t>
            </a:r>
            <a:r>
              <a:rPr b="1" spc="-10" dirty="0">
                <a:solidFill>
                  <a:srgbClr val="0D57C4"/>
                </a:solidFill>
                <a:latin typeface="Times New Roman"/>
                <a:cs typeface="Times New Roman"/>
              </a:rPr>
              <a:t>SURVEY</a:t>
            </a:r>
          </a:p>
        </p:txBody>
      </p:sp>
      <p:graphicFrame>
        <p:nvGraphicFramePr>
          <p:cNvPr id="4" name="object 4"/>
          <p:cNvGraphicFramePr>
            <a:graphicFrameLocks noGrp="1"/>
          </p:cNvGraphicFramePr>
          <p:nvPr>
            <p:extLst>
              <p:ext uri="{D42A27DB-BD31-4B8C-83A1-F6EECF244321}">
                <p14:modId xmlns:p14="http://schemas.microsoft.com/office/powerpoint/2010/main" val="1863562596"/>
              </p:ext>
            </p:extLst>
          </p:nvPr>
        </p:nvGraphicFramePr>
        <p:xfrm>
          <a:off x="747712" y="1066800"/>
          <a:ext cx="10361927" cy="5135244"/>
        </p:xfrm>
        <a:graphic>
          <a:graphicData uri="http://schemas.openxmlformats.org/drawingml/2006/table">
            <a:tbl>
              <a:tblPr firstRow="1" bandRow="1">
                <a:tableStyleId>{2D5ABB26-0587-4C30-8999-92F81FD0307C}</a:tableStyleId>
              </a:tblPr>
              <a:tblGrid>
                <a:gridCol w="692150"/>
                <a:gridCol w="4077970"/>
                <a:gridCol w="1732914"/>
                <a:gridCol w="1662429"/>
                <a:gridCol w="2196464"/>
              </a:tblGrid>
              <a:tr h="696595">
                <a:tc>
                  <a:txBody>
                    <a:bodyPr/>
                    <a:lstStyle/>
                    <a:p>
                      <a:pPr>
                        <a:lnSpc>
                          <a:spcPct val="100000"/>
                        </a:lnSpc>
                        <a:spcBef>
                          <a:spcPts val="515"/>
                        </a:spcBef>
                      </a:pPr>
                      <a:endParaRPr sz="1100" dirty="0">
                        <a:latin typeface="Times New Roman"/>
                        <a:cs typeface="Times New Roman"/>
                      </a:endParaRPr>
                    </a:p>
                    <a:p>
                      <a:pPr algn="ctr">
                        <a:lnSpc>
                          <a:spcPct val="100000"/>
                        </a:lnSpc>
                      </a:pPr>
                      <a:r>
                        <a:rPr sz="1100" dirty="0">
                          <a:latin typeface="Times New Roman"/>
                          <a:cs typeface="Times New Roman"/>
                        </a:rPr>
                        <a:t>Year</a:t>
                      </a:r>
                      <a:r>
                        <a:rPr sz="1100" spc="-30" dirty="0">
                          <a:latin typeface="Times New Roman"/>
                          <a:cs typeface="Times New Roman"/>
                        </a:rPr>
                        <a:t> </a:t>
                      </a:r>
                      <a:r>
                        <a:rPr sz="1100" spc="-25" dirty="0">
                          <a:latin typeface="Times New Roman"/>
                          <a:cs typeface="Times New Roman"/>
                        </a:rPr>
                        <a:t>of</a:t>
                      </a:r>
                      <a:endParaRPr sz="1100" dirty="0">
                        <a:latin typeface="Times New Roman"/>
                        <a:cs typeface="Times New Roman"/>
                      </a:endParaRPr>
                    </a:p>
                    <a:p>
                      <a:pPr marL="1905" algn="ctr">
                        <a:lnSpc>
                          <a:spcPct val="100000"/>
                        </a:lnSpc>
                      </a:pPr>
                      <a:r>
                        <a:rPr sz="1100" spc="-10" dirty="0">
                          <a:latin typeface="Times New Roman"/>
                          <a:cs typeface="Times New Roman"/>
                        </a:rPr>
                        <a:t>publication</a:t>
                      </a:r>
                      <a:endParaRPr sz="1100" dirty="0">
                        <a:latin typeface="Times New Roman"/>
                        <a:cs typeface="Times New Roman"/>
                      </a:endParaRPr>
                    </a:p>
                  </a:txBody>
                  <a:tcPr marL="0" marR="0" marT="654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nSpc>
                          <a:spcPct val="100000"/>
                        </a:lnSpc>
                        <a:spcBef>
                          <a:spcPts val="1175"/>
                        </a:spcBef>
                      </a:pPr>
                      <a:endParaRPr sz="1100">
                        <a:latin typeface="Times New Roman"/>
                        <a:cs typeface="Times New Roman"/>
                      </a:endParaRPr>
                    </a:p>
                    <a:p>
                      <a:pPr algn="ctr">
                        <a:lnSpc>
                          <a:spcPct val="100000"/>
                        </a:lnSpc>
                      </a:pPr>
                      <a:r>
                        <a:rPr sz="1100" dirty="0">
                          <a:latin typeface="Times New Roman"/>
                          <a:cs typeface="Times New Roman"/>
                        </a:rPr>
                        <a:t>Title</a:t>
                      </a:r>
                      <a:r>
                        <a:rPr sz="1100" spc="-25" dirty="0">
                          <a:latin typeface="Times New Roman"/>
                          <a:cs typeface="Times New Roman"/>
                        </a:rPr>
                        <a:t> </a:t>
                      </a:r>
                      <a:r>
                        <a:rPr sz="1100" dirty="0">
                          <a:latin typeface="Times New Roman"/>
                          <a:cs typeface="Times New Roman"/>
                        </a:rPr>
                        <a:t>&amp; </a:t>
                      </a:r>
                      <a:r>
                        <a:rPr sz="1100" spc="-10" dirty="0">
                          <a:latin typeface="Times New Roman"/>
                          <a:cs typeface="Times New Roman"/>
                        </a:rPr>
                        <a:t>Author</a:t>
                      </a:r>
                      <a:endParaRPr sz="1100">
                        <a:latin typeface="Times New Roman"/>
                        <a:cs typeface="Times New Roman"/>
                      </a:endParaRPr>
                    </a:p>
                  </a:txBody>
                  <a:tcPr marL="0" marR="0" marT="1492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nSpc>
                          <a:spcPct val="100000"/>
                        </a:lnSpc>
                        <a:spcBef>
                          <a:spcPts val="1175"/>
                        </a:spcBef>
                      </a:pPr>
                      <a:endParaRPr sz="1100" dirty="0">
                        <a:latin typeface="Times New Roman"/>
                        <a:cs typeface="Times New Roman"/>
                      </a:endParaRPr>
                    </a:p>
                    <a:p>
                      <a:pPr marL="149225">
                        <a:lnSpc>
                          <a:spcPct val="100000"/>
                        </a:lnSpc>
                      </a:pPr>
                      <a:r>
                        <a:rPr sz="1100" dirty="0">
                          <a:latin typeface="Times New Roman"/>
                          <a:cs typeface="Times New Roman"/>
                        </a:rPr>
                        <a:t>Technology</a:t>
                      </a:r>
                      <a:r>
                        <a:rPr sz="1100" spc="-50" dirty="0">
                          <a:latin typeface="Times New Roman"/>
                          <a:cs typeface="Times New Roman"/>
                        </a:rPr>
                        <a:t> </a:t>
                      </a:r>
                      <a:r>
                        <a:rPr sz="1100" spc="-10" dirty="0">
                          <a:latin typeface="Times New Roman"/>
                          <a:cs typeface="Times New Roman"/>
                        </a:rPr>
                        <a:t>Implemented</a:t>
                      </a:r>
                      <a:endParaRPr sz="1100" dirty="0">
                        <a:latin typeface="Times New Roman"/>
                        <a:cs typeface="Times New Roman"/>
                      </a:endParaRPr>
                    </a:p>
                  </a:txBody>
                  <a:tcPr marL="0" marR="0" marT="1492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nSpc>
                          <a:spcPct val="100000"/>
                        </a:lnSpc>
                        <a:spcBef>
                          <a:spcPts val="1175"/>
                        </a:spcBef>
                      </a:pPr>
                      <a:endParaRPr sz="1100">
                        <a:latin typeface="Times New Roman"/>
                        <a:cs typeface="Times New Roman"/>
                      </a:endParaRPr>
                    </a:p>
                    <a:p>
                      <a:pPr algn="ctr">
                        <a:lnSpc>
                          <a:spcPct val="100000"/>
                        </a:lnSpc>
                      </a:pPr>
                      <a:r>
                        <a:rPr sz="1100" spc="-20" dirty="0">
                          <a:latin typeface="Times New Roman"/>
                          <a:cs typeface="Times New Roman"/>
                        </a:rPr>
                        <a:t>Gaps</a:t>
                      </a:r>
                      <a:endParaRPr sz="1100">
                        <a:latin typeface="Times New Roman"/>
                        <a:cs typeface="Times New Roman"/>
                      </a:endParaRPr>
                    </a:p>
                  </a:txBody>
                  <a:tcPr marL="0" marR="0" marT="1492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nSpc>
                          <a:spcPct val="100000"/>
                        </a:lnSpc>
                        <a:spcBef>
                          <a:spcPts val="1175"/>
                        </a:spcBef>
                      </a:pPr>
                      <a:endParaRPr sz="1100">
                        <a:latin typeface="Times New Roman"/>
                        <a:cs typeface="Times New Roman"/>
                      </a:endParaRPr>
                    </a:p>
                    <a:p>
                      <a:pPr marL="1270" algn="ctr">
                        <a:lnSpc>
                          <a:spcPct val="100000"/>
                        </a:lnSpc>
                      </a:pPr>
                      <a:r>
                        <a:rPr sz="1100" spc="-10" dirty="0">
                          <a:latin typeface="Times New Roman"/>
                          <a:cs typeface="Times New Roman"/>
                        </a:rPr>
                        <a:t>Limitations</a:t>
                      </a:r>
                      <a:endParaRPr sz="1100">
                        <a:latin typeface="Times New Roman"/>
                        <a:cs typeface="Times New Roman"/>
                      </a:endParaRPr>
                    </a:p>
                  </a:txBody>
                  <a:tcPr marL="0" marR="0" marT="1492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r>
              <a:tr h="812165">
                <a:tc>
                  <a:txBody>
                    <a:bodyPr/>
                    <a:lstStyle/>
                    <a:p>
                      <a:pPr>
                        <a:lnSpc>
                          <a:spcPct val="100000"/>
                        </a:lnSpc>
                      </a:pPr>
                      <a:endParaRPr sz="1100" dirty="0">
                        <a:latin typeface="Times New Roman"/>
                        <a:cs typeface="Times New Roman"/>
                      </a:endParaRPr>
                    </a:p>
                    <a:p>
                      <a:pPr>
                        <a:lnSpc>
                          <a:spcPct val="100000"/>
                        </a:lnSpc>
                        <a:spcBef>
                          <a:spcPts val="15"/>
                        </a:spcBef>
                      </a:pPr>
                      <a:endParaRPr sz="1100" dirty="0">
                        <a:latin typeface="Times New Roman"/>
                        <a:cs typeface="Times New Roman"/>
                      </a:endParaRPr>
                    </a:p>
                    <a:p>
                      <a:pPr algn="ctr">
                        <a:lnSpc>
                          <a:spcPct val="100000"/>
                        </a:lnSpc>
                      </a:pPr>
                      <a:r>
                        <a:rPr sz="1100" spc="-20" dirty="0" smtClean="0">
                          <a:latin typeface="Times New Roman"/>
                          <a:cs typeface="Times New Roman"/>
                        </a:rPr>
                        <a:t>20</a:t>
                      </a:r>
                      <a:r>
                        <a:rPr lang="en-US" sz="1100" spc="-20" dirty="0" smtClean="0">
                          <a:latin typeface="Times New Roman"/>
                          <a:cs typeface="Times New Roman"/>
                        </a:rPr>
                        <a:t>17</a:t>
                      </a:r>
                      <a:endParaRPr sz="1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marL="414020" algn="l">
                        <a:lnSpc>
                          <a:spcPct val="100000"/>
                        </a:lnSpc>
                      </a:pPr>
                      <a:r>
                        <a:rPr lang="en-US" sz="1100" b="1" dirty="0" smtClean="0">
                          <a:latin typeface="Times New Roman"/>
                          <a:cs typeface="Times New Roman"/>
                        </a:rPr>
                        <a:t>Automatic</a:t>
                      </a:r>
                      <a:r>
                        <a:rPr lang="en-US" sz="1100" b="1" baseline="0" dirty="0" smtClean="0">
                          <a:latin typeface="Times New Roman"/>
                          <a:cs typeface="Times New Roman"/>
                        </a:rPr>
                        <a:t>  Temperature Controlled Fan System –</a:t>
                      </a:r>
                      <a:r>
                        <a:rPr lang="en-US" sz="1100" b="0" baseline="0" dirty="0" smtClean="0">
                          <a:latin typeface="Times New Roman"/>
                          <a:cs typeface="Times New Roman"/>
                        </a:rPr>
                        <a:t>S.K. </a:t>
                      </a:r>
                      <a:r>
                        <a:rPr lang="en-US" sz="1100" b="0" baseline="0" dirty="0" err="1" smtClean="0">
                          <a:latin typeface="Times New Roman"/>
                          <a:cs typeface="Times New Roman"/>
                        </a:rPr>
                        <a:t>Patil</a:t>
                      </a:r>
                      <a:r>
                        <a:rPr lang="en-US" sz="1100" b="0" baseline="0" dirty="0" smtClean="0">
                          <a:latin typeface="Times New Roman"/>
                          <a:cs typeface="Times New Roman"/>
                        </a:rPr>
                        <a:t> , R.M. </a:t>
                      </a:r>
                      <a:r>
                        <a:rPr lang="en-US" sz="1100" b="0" baseline="0" dirty="0" err="1" smtClean="0">
                          <a:latin typeface="Times New Roman"/>
                          <a:cs typeface="Times New Roman"/>
                        </a:rPr>
                        <a:t>Deshmukh</a:t>
                      </a:r>
                      <a:endParaRPr lang="en-US" sz="1100" b="1" dirty="0" smtClean="0">
                        <a:latin typeface="Times New Roman"/>
                        <a:cs typeface="Times New Roman"/>
                      </a:endParaRPr>
                    </a:p>
                  </a:txBody>
                  <a:tcPr marL="0" marR="0" marT="254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marL="68580" marR="60325" algn="ctr">
                        <a:lnSpc>
                          <a:spcPct val="100000"/>
                        </a:lnSpc>
                        <a:spcBef>
                          <a:spcPts val="565"/>
                        </a:spcBef>
                      </a:pPr>
                      <a:r>
                        <a:rPr lang="en-US" sz="1100" dirty="0" smtClean="0">
                          <a:latin typeface="Times New Roman"/>
                          <a:cs typeface="Times New Roman"/>
                        </a:rPr>
                        <a:t>LM35 temperature sensor with microcontroller-based PWM control.</a:t>
                      </a:r>
                      <a:endParaRPr sz="1100" dirty="0">
                        <a:latin typeface="Times New Roman"/>
                        <a:cs typeface="Times New Roman"/>
                      </a:endParaRPr>
                    </a:p>
                  </a:txBody>
                  <a:tcPr marL="0" marR="0" marT="717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marL="196850" marR="187325" indent="-635" algn="ctr" defTabSz="914400" eaLnBrk="1" fontAlgn="auto" latinLnBrk="0" hangingPunct="1">
                        <a:lnSpc>
                          <a:spcPct val="100000"/>
                        </a:lnSpc>
                        <a:spcBef>
                          <a:spcPts val="565"/>
                        </a:spcBef>
                        <a:spcAft>
                          <a:spcPts val="0"/>
                        </a:spcAft>
                        <a:buClrTx/>
                        <a:buSzTx/>
                        <a:buFontTx/>
                        <a:buNone/>
                        <a:tabLst/>
                        <a:defRPr/>
                      </a:pPr>
                      <a:r>
                        <a:rPr lang="en-US" sz="1100" dirty="0" smtClean="0">
                          <a:latin typeface="Times New Roman"/>
                          <a:cs typeface="Times New Roman"/>
                        </a:rPr>
                        <a:t>	No provision for remote monitoring or advanced control algorithms	</a:t>
                      </a:r>
                      <a:endParaRPr sz="1100" dirty="0">
                        <a:latin typeface="Times New Roman"/>
                        <a:cs typeface="Times New Roman"/>
                      </a:endParaRPr>
                    </a:p>
                  </a:txBody>
                  <a:tcPr marL="0" marR="0" marT="717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marL="0" marR="0" indent="0" algn="ctr" defTabSz="914400" eaLnBrk="1" fontAlgn="auto" latinLnBrk="0" hangingPunct="1">
                        <a:lnSpc>
                          <a:spcPct val="100000"/>
                        </a:lnSpc>
                        <a:spcBef>
                          <a:spcPts val="620"/>
                        </a:spcBef>
                        <a:spcAft>
                          <a:spcPts val="0"/>
                        </a:spcAft>
                        <a:buClrTx/>
                        <a:buSzTx/>
                        <a:buFontTx/>
                        <a:buNone/>
                        <a:tabLst/>
                        <a:defRPr/>
                      </a:pPr>
                      <a:r>
                        <a:rPr lang="en-US" sz="1100" baseline="0" dirty="0" smtClean="0">
                          <a:latin typeface="Times New Roman"/>
                          <a:cs typeface="Times New Roman"/>
                        </a:rPr>
                        <a:t>  </a:t>
                      </a:r>
                      <a:r>
                        <a:rPr lang="en-US" sz="1100" dirty="0" smtClean="0">
                          <a:latin typeface="Times New Roman"/>
                          <a:cs typeface="Times New Roman"/>
                        </a:rPr>
                        <a:t>Limited temperature accuracy and lack of scalability</a:t>
                      </a:r>
                    </a:p>
                    <a:p>
                      <a:pPr>
                        <a:lnSpc>
                          <a:spcPct val="100000"/>
                        </a:lnSpc>
                        <a:spcBef>
                          <a:spcPts val="620"/>
                        </a:spcBef>
                      </a:pPr>
                      <a:endParaRPr sz="1100" dirty="0">
                        <a:latin typeface="Times New Roman"/>
                        <a:cs typeface="Times New Roman"/>
                      </a:endParaRPr>
                    </a:p>
                  </a:txBody>
                  <a:tcPr marL="0" marR="0" marT="78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r>
              <a:tr h="1080770">
                <a:tc>
                  <a:txBody>
                    <a:bodyPr/>
                    <a:lstStyle/>
                    <a:p>
                      <a:pPr>
                        <a:lnSpc>
                          <a:spcPct val="100000"/>
                        </a:lnSpc>
                      </a:pPr>
                      <a:endParaRPr sz="1100" dirty="0">
                        <a:latin typeface="Times New Roman"/>
                        <a:cs typeface="Times New Roman"/>
                      </a:endParaRPr>
                    </a:p>
                    <a:p>
                      <a:pPr>
                        <a:lnSpc>
                          <a:spcPct val="100000"/>
                        </a:lnSpc>
                        <a:spcBef>
                          <a:spcPts val="1075"/>
                        </a:spcBef>
                      </a:pPr>
                      <a:endParaRPr sz="1100" dirty="0">
                        <a:latin typeface="Times New Roman"/>
                        <a:cs typeface="Times New Roman"/>
                      </a:endParaRPr>
                    </a:p>
                    <a:p>
                      <a:pPr algn="ctr">
                        <a:lnSpc>
                          <a:spcPct val="100000"/>
                        </a:lnSpc>
                      </a:pPr>
                      <a:r>
                        <a:rPr sz="1100" spc="-20" dirty="0" smtClean="0">
                          <a:latin typeface="Times New Roman"/>
                          <a:cs typeface="Times New Roman"/>
                        </a:rPr>
                        <a:t>20</a:t>
                      </a:r>
                      <a:r>
                        <a:rPr lang="en-US" sz="1100" spc="-20" dirty="0" smtClean="0">
                          <a:latin typeface="Times New Roman"/>
                          <a:cs typeface="Times New Roman"/>
                        </a:rPr>
                        <a:t>18</a:t>
                      </a:r>
                      <a:endParaRPr sz="1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nSpc>
                          <a:spcPct val="100000"/>
                        </a:lnSpc>
                      </a:pPr>
                      <a:endParaRPr sz="1100" dirty="0" smtClean="0">
                        <a:latin typeface="Times New Roman"/>
                        <a:cs typeface="Times New Roman"/>
                      </a:endParaRPr>
                    </a:p>
                    <a:p>
                      <a:pPr>
                        <a:lnSpc>
                          <a:spcPct val="100000"/>
                        </a:lnSpc>
                        <a:spcBef>
                          <a:spcPts val="1075"/>
                        </a:spcBef>
                      </a:pPr>
                      <a:endParaRPr sz="1100" dirty="0" smtClean="0">
                        <a:latin typeface="Times New Roman"/>
                        <a:cs typeface="Times New Roman"/>
                      </a:endParaRPr>
                    </a:p>
                    <a:p>
                      <a:pPr marL="24130" algn="just">
                        <a:lnSpc>
                          <a:spcPct val="100000"/>
                        </a:lnSpc>
                      </a:pPr>
                      <a:r>
                        <a:rPr lang="en-GB" sz="1100" b="1" spc="-10" dirty="0" smtClean="0">
                          <a:latin typeface="Times New Roman"/>
                          <a:cs typeface="Times New Roman"/>
                        </a:rPr>
                        <a:t>     Smart  </a:t>
                      </a:r>
                      <a:r>
                        <a:rPr lang="en-GB" sz="1100" b="1" spc="-10" dirty="0" err="1" smtClean="0">
                          <a:latin typeface="Times New Roman"/>
                          <a:cs typeface="Times New Roman"/>
                        </a:rPr>
                        <a:t>Fann</a:t>
                      </a:r>
                      <a:r>
                        <a:rPr lang="en-GB" sz="1100" b="1" spc="-10" dirty="0" smtClean="0">
                          <a:latin typeface="Times New Roman"/>
                          <a:cs typeface="Times New Roman"/>
                        </a:rPr>
                        <a:t> </a:t>
                      </a:r>
                      <a:r>
                        <a:rPr lang="en-GB" sz="1100" b="1" spc="-10" dirty="0" err="1" smtClean="0">
                          <a:latin typeface="Times New Roman"/>
                          <a:cs typeface="Times New Roman"/>
                        </a:rPr>
                        <a:t>Conrtrol</a:t>
                      </a:r>
                      <a:r>
                        <a:rPr lang="en-GB" sz="1100" b="1" spc="-10" dirty="0" smtClean="0">
                          <a:latin typeface="Times New Roman"/>
                          <a:cs typeface="Times New Roman"/>
                        </a:rPr>
                        <a:t>  </a:t>
                      </a:r>
                      <a:r>
                        <a:rPr lang="en-GB" sz="1100" b="1" spc="-10" dirty="0" err="1" smtClean="0">
                          <a:latin typeface="Times New Roman"/>
                          <a:cs typeface="Times New Roman"/>
                        </a:rPr>
                        <a:t>Usingg</a:t>
                      </a:r>
                      <a:r>
                        <a:rPr lang="en-GB" sz="1100" b="1" spc="-10" dirty="0" smtClean="0">
                          <a:latin typeface="Times New Roman"/>
                          <a:cs typeface="Times New Roman"/>
                        </a:rPr>
                        <a:t> </a:t>
                      </a:r>
                      <a:r>
                        <a:rPr lang="en-GB" sz="1100" b="1" spc="-10" dirty="0" err="1" smtClean="0">
                          <a:latin typeface="Times New Roman"/>
                          <a:cs typeface="Times New Roman"/>
                        </a:rPr>
                        <a:t>Arduino</a:t>
                      </a:r>
                      <a:r>
                        <a:rPr lang="en-GB" sz="1100" b="1" spc="-10" dirty="0" smtClean="0">
                          <a:latin typeface="Times New Roman"/>
                          <a:cs typeface="Times New Roman"/>
                        </a:rPr>
                        <a:t>–  </a:t>
                      </a:r>
                      <a:r>
                        <a:rPr lang="en-GB" sz="1100" b="0" spc="-10" dirty="0" err="1" smtClean="0">
                          <a:latin typeface="Times New Roman"/>
                          <a:cs typeface="Times New Roman"/>
                        </a:rPr>
                        <a:t>A.Kumar</a:t>
                      </a:r>
                      <a:r>
                        <a:rPr lang="en-GB" sz="1100" b="0" spc="-10" baseline="0" dirty="0" smtClean="0">
                          <a:latin typeface="Times New Roman"/>
                          <a:cs typeface="Times New Roman"/>
                        </a:rPr>
                        <a:t> , </a:t>
                      </a:r>
                      <a:r>
                        <a:rPr lang="en-GB" sz="1100" b="0" spc="-10" baseline="0" dirty="0" err="1" smtClean="0">
                          <a:latin typeface="Times New Roman"/>
                          <a:cs typeface="Times New Roman"/>
                        </a:rPr>
                        <a:t>P.Singhh</a:t>
                      </a:r>
                      <a:endParaRPr sz="1100" b="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nSpc>
                          <a:spcPct val="100000"/>
                        </a:lnSpc>
                        <a:spcBef>
                          <a:spcPts val="360"/>
                        </a:spcBef>
                      </a:pPr>
                      <a:r>
                        <a:rPr lang="en-US" sz="1100" dirty="0" err="1" smtClean="0">
                          <a:latin typeface="Times New Roman"/>
                          <a:cs typeface="Times New Roman"/>
                        </a:rPr>
                        <a:t>Arduino</a:t>
                      </a:r>
                      <a:r>
                        <a:rPr lang="en-US" sz="1100" dirty="0" smtClean="0">
                          <a:latin typeface="Times New Roman"/>
                          <a:cs typeface="Times New Roman"/>
                        </a:rPr>
                        <a:t> Uno with temperature sensor and DC fan speed control	</a:t>
                      </a:r>
                      <a:endParaRPr lang="en-US" sz="1100" dirty="0" smtClean="0">
                        <a:latin typeface="Times New Roman"/>
                        <a:cs typeface="Times New Roman"/>
                      </a:endParaRPr>
                    </a:p>
                  </a:txBody>
                  <a:tcPr marL="0" marR="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gn="ctr">
                        <a:lnSpc>
                          <a:spcPct val="100000"/>
                        </a:lnSpc>
                      </a:pPr>
                      <a:endParaRPr lang="en-US" sz="1100" dirty="0" smtClean="0">
                        <a:latin typeface="Times New Roman"/>
                        <a:cs typeface="Times New Roman"/>
                      </a:endParaRPr>
                    </a:p>
                    <a:p>
                      <a:pPr algn="ctr">
                        <a:lnSpc>
                          <a:spcPct val="100000"/>
                        </a:lnSpc>
                      </a:pPr>
                      <a:r>
                        <a:rPr lang="en-US" sz="1100" dirty="0" smtClean="0">
                          <a:latin typeface="Times New Roman"/>
                          <a:cs typeface="Times New Roman"/>
                        </a:rPr>
                        <a:t>Focuses only on fixed temperature ranges</a:t>
                      </a:r>
                      <a:endParaRPr sz="1100" dirty="0">
                        <a:latin typeface="Times New Roman"/>
                        <a:cs typeface="Times New Roman"/>
                      </a:endParaRPr>
                    </a:p>
                    <a:p>
                      <a:pPr>
                        <a:lnSpc>
                          <a:spcPct val="100000"/>
                        </a:lnSpc>
                        <a:spcBef>
                          <a:spcPts val="415"/>
                        </a:spcBef>
                      </a:pPr>
                      <a:endParaRPr sz="1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nSpc>
                          <a:spcPct val="100000"/>
                        </a:lnSpc>
                      </a:pPr>
                      <a:endParaRPr lang="en-US" sz="1100" dirty="0" smtClean="0">
                        <a:latin typeface="Times New Roman"/>
                        <a:cs typeface="Times New Roman"/>
                      </a:endParaRPr>
                    </a:p>
                    <a:p>
                      <a:pPr marL="0" marR="0" indent="0" defTabSz="914400" eaLnBrk="1" fontAlgn="auto" latinLnBrk="0" hangingPunct="1">
                        <a:lnSpc>
                          <a:spcPct val="100000"/>
                        </a:lnSpc>
                        <a:spcBef>
                          <a:spcPts val="0"/>
                        </a:spcBef>
                        <a:spcAft>
                          <a:spcPts val="0"/>
                        </a:spcAft>
                        <a:buClrTx/>
                        <a:buSzTx/>
                        <a:buFontTx/>
                        <a:buNone/>
                        <a:tabLst/>
                        <a:defRPr/>
                      </a:pPr>
                      <a:r>
                        <a:rPr lang="en-US" sz="1100" dirty="0" smtClean="0">
                          <a:latin typeface="Times New Roman"/>
                          <a:cs typeface="Times New Roman"/>
                        </a:rPr>
                        <a:t>Manual threshold setting and limited adaptability</a:t>
                      </a:r>
                    </a:p>
                    <a:p>
                      <a:pPr>
                        <a:lnSpc>
                          <a:spcPct val="100000"/>
                        </a:lnSpc>
                      </a:pPr>
                      <a:endParaRPr sz="1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r>
              <a:tr h="798830">
                <a:tc>
                  <a:txBody>
                    <a:bodyPr/>
                    <a:lstStyle/>
                    <a:p>
                      <a:pPr>
                        <a:lnSpc>
                          <a:spcPct val="100000"/>
                        </a:lnSpc>
                        <a:spcBef>
                          <a:spcPts val="1235"/>
                        </a:spcBef>
                      </a:pPr>
                      <a:endParaRPr sz="1100" dirty="0">
                        <a:latin typeface="Times New Roman"/>
                        <a:cs typeface="Times New Roman"/>
                      </a:endParaRPr>
                    </a:p>
                    <a:p>
                      <a:pPr algn="ctr">
                        <a:lnSpc>
                          <a:spcPct val="100000"/>
                        </a:lnSpc>
                      </a:pPr>
                      <a:r>
                        <a:rPr sz="1100" spc="-20" dirty="0" smtClean="0">
                          <a:latin typeface="Times New Roman"/>
                          <a:cs typeface="Times New Roman"/>
                        </a:rPr>
                        <a:t>2</a:t>
                      </a:r>
                      <a:r>
                        <a:rPr lang="en-US" sz="1100" spc="-20" dirty="0" smtClean="0">
                          <a:latin typeface="Times New Roman"/>
                          <a:cs typeface="Times New Roman"/>
                        </a:rPr>
                        <a:t>019</a:t>
                      </a:r>
                      <a:endParaRPr sz="1100" dirty="0">
                        <a:latin typeface="Times New Roman"/>
                        <a:cs typeface="Times New Roman"/>
                      </a:endParaRPr>
                    </a:p>
                  </a:txBody>
                  <a:tcPr marL="0" marR="0" marT="156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nSpc>
                          <a:spcPct val="100000"/>
                        </a:lnSpc>
                        <a:spcBef>
                          <a:spcPts val="1195"/>
                        </a:spcBef>
                      </a:pPr>
                      <a:endParaRPr sz="1100" dirty="0">
                        <a:latin typeface="Times New Roman"/>
                        <a:cs typeface="Times New Roman"/>
                      </a:endParaRPr>
                    </a:p>
                    <a:p>
                      <a:pPr marL="91440" algn="ctr">
                        <a:lnSpc>
                          <a:spcPct val="100000"/>
                        </a:lnSpc>
                      </a:pPr>
                      <a:r>
                        <a:rPr lang="en-GB" sz="1100" b="1" spc="-10" dirty="0" err="1" smtClean="0">
                          <a:latin typeface="Times New Roman"/>
                          <a:cs typeface="Times New Roman"/>
                        </a:rPr>
                        <a:t>Energgy</a:t>
                      </a:r>
                      <a:r>
                        <a:rPr lang="en-GB" sz="1100" b="1" spc="-10" baseline="0" dirty="0" smtClean="0">
                          <a:latin typeface="Times New Roman"/>
                          <a:cs typeface="Times New Roman"/>
                        </a:rPr>
                        <a:t>  Efficient  Fan Speed Controller </a:t>
                      </a:r>
                      <a:r>
                        <a:rPr lang="en-GB" sz="1100" b="1" spc="-10" dirty="0" smtClean="0">
                          <a:latin typeface="Times New Roman"/>
                          <a:cs typeface="Times New Roman"/>
                        </a:rPr>
                        <a:t> –  </a:t>
                      </a:r>
                      <a:r>
                        <a:rPr lang="en-GB" sz="1100" b="0" spc="-10" dirty="0" smtClean="0">
                          <a:latin typeface="Times New Roman"/>
                          <a:cs typeface="Times New Roman"/>
                        </a:rPr>
                        <a:t>R. Sharma, M. </a:t>
                      </a:r>
                      <a:r>
                        <a:rPr lang="en-GB" sz="1100" b="0" spc="-10" dirty="0" err="1" smtClean="0">
                          <a:latin typeface="Times New Roman"/>
                          <a:cs typeface="Times New Roman"/>
                        </a:rPr>
                        <a:t>Verma</a:t>
                      </a:r>
                      <a:endParaRPr sz="1100" b="0" dirty="0">
                        <a:latin typeface="Times New Roman"/>
                        <a:cs typeface="Times New Roman"/>
                      </a:endParaRPr>
                    </a:p>
                  </a:txBody>
                  <a:tcPr marL="0" marR="0" marT="1517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r>
                        <a:rPr lang="en-US" sz="1050" dirty="0" smtClean="0">
                          <a:latin typeface="Times New Roman" pitchFamily="18" charset="0"/>
                          <a:ea typeface="Tahoma" pitchFamily="34" charset="0"/>
                          <a:cs typeface="Times New Roman" pitchFamily="18" charset="0"/>
                        </a:rPr>
                        <a:t>PW</a:t>
                      </a:r>
                      <a:r>
                        <a:rPr lang="en-US" sz="1100" dirty="0" smtClean="0">
                          <a:latin typeface="Times New Roman" pitchFamily="18" charset="0"/>
                          <a:ea typeface="Tahoma" pitchFamily="34" charset="0"/>
                          <a:cs typeface="Times New Roman" pitchFamily="18" charset="0"/>
                        </a:rPr>
                        <a:t>M-based fan control using microcontroller	</a:t>
                      </a:r>
                      <a:endParaRPr lang="en-US" sz="1100" dirty="0">
                        <a:latin typeface="Times New Roman" pitchFamily="18" charset="0"/>
                        <a:ea typeface="Tahoma" pitchFamily="34" charset="0"/>
                        <a:cs typeface="Times New Roman" pitchFamily="18" charset="0"/>
                      </a:endParaRPr>
                    </a:p>
                  </a:txBody>
                  <a:tcPr marL="0" marR="0" marT="977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gn="ctr"/>
                      <a:r>
                        <a:rPr lang="en-US" sz="1100" dirty="0" smtClean="0">
                          <a:latin typeface="Times New Roman" pitchFamily="18" charset="0"/>
                          <a:ea typeface="Tahoma" pitchFamily="34" charset="0"/>
                          <a:cs typeface="Times New Roman" pitchFamily="18" charset="0"/>
                        </a:rPr>
                        <a:t>Does not consider environmental factors like humidity	</a:t>
                      </a:r>
                      <a:endParaRPr lang="en-US" sz="1100" dirty="0"/>
                    </a:p>
                  </a:txBody>
                  <a:tcPr marL="0" marR="0" marT="977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100" dirty="0" smtClean="0">
                          <a:latin typeface="Times New Roman" pitchFamily="18" charset="0"/>
                          <a:ea typeface="Tahoma" pitchFamily="34" charset="0"/>
                          <a:cs typeface="Times New Roman" pitchFamily="18" charset="0"/>
                        </a:rPr>
                        <a:t>Efficiency depends heavily on sensor calibration</a:t>
                      </a:r>
                    </a:p>
                    <a:p>
                      <a:endParaRPr lang="en-US" dirty="0"/>
                    </a:p>
                  </a:txBody>
                  <a:tcPr marL="0" marR="0" marT="9969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r>
              <a:tr h="947419">
                <a:tc>
                  <a:txBody>
                    <a:bodyPr/>
                    <a:lstStyle/>
                    <a:p>
                      <a:pPr>
                        <a:lnSpc>
                          <a:spcPct val="100000"/>
                        </a:lnSpc>
                      </a:pPr>
                      <a:endParaRPr sz="1100" dirty="0">
                        <a:latin typeface="Times New Roman"/>
                        <a:cs typeface="Times New Roman"/>
                      </a:endParaRPr>
                    </a:p>
                    <a:p>
                      <a:pPr>
                        <a:lnSpc>
                          <a:spcPct val="100000"/>
                        </a:lnSpc>
                        <a:spcBef>
                          <a:spcPts val="555"/>
                        </a:spcBef>
                      </a:pPr>
                      <a:endParaRPr sz="1100" dirty="0">
                        <a:latin typeface="Times New Roman"/>
                        <a:cs typeface="Times New Roman"/>
                      </a:endParaRPr>
                    </a:p>
                    <a:p>
                      <a:pPr algn="ctr">
                        <a:lnSpc>
                          <a:spcPct val="100000"/>
                        </a:lnSpc>
                      </a:pPr>
                      <a:r>
                        <a:rPr sz="1100" spc="-20" dirty="0" smtClean="0">
                          <a:latin typeface="Times New Roman"/>
                          <a:cs typeface="Times New Roman"/>
                        </a:rPr>
                        <a:t>202</a:t>
                      </a:r>
                      <a:r>
                        <a:rPr lang="en-US" sz="1100" spc="-20" dirty="0" smtClean="0">
                          <a:latin typeface="Times New Roman"/>
                          <a:cs typeface="Times New Roman"/>
                        </a:rPr>
                        <a:t>0</a:t>
                      </a:r>
                      <a:endParaRPr sz="1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nSpc>
                          <a:spcPct val="100000"/>
                        </a:lnSpc>
                        <a:spcBef>
                          <a:spcPts val="1160"/>
                        </a:spcBef>
                      </a:pPr>
                      <a:endParaRPr sz="1100" dirty="0">
                        <a:latin typeface="Times New Roman"/>
                        <a:cs typeface="Times New Roman"/>
                      </a:endParaRPr>
                    </a:p>
                    <a:p>
                      <a:pPr marL="1982470" marR="31750" indent="-1943100" algn="ctr">
                        <a:lnSpc>
                          <a:spcPct val="100000"/>
                        </a:lnSpc>
                      </a:pPr>
                      <a:r>
                        <a:rPr lang="en-US" sz="1100" b="1" dirty="0" smtClean="0">
                          <a:latin typeface="Times New Roman"/>
                          <a:cs typeface="Times New Roman"/>
                        </a:rPr>
                        <a:t>Temperature</a:t>
                      </a:r>
                      <a:r>
                        <a:rPr lang="en-US" sz="1100" b="1" baseline="0" dirty="0" smtClean="0">
                          <a:latin typeface="Times New Roman"/>
                          <a:cs typeface="Times New Roman"/>
                        </a:rPr>
                        <a:t> based Home Appliance Automation</a:t>
                      </a:r>
                      <a:r>
                        <a:rPr lang="en-US" sz="1100" b="1" dirty="0" smtClean="0">
                          <a:latin typeface="Times New Roman"/>
                          <a:cs typeface="Times New Roman"/>
                        </a:rPr>
                        <a:t> </a:t>
                      </a:r>
                      <a:r>
                        <a:rPr lang="en-US" sz="1100" b="1" dirty="0" smtClean="0">
                          <a:latin typeface="Times New Roman"/>
                          <a:cs typeface="Times New Roman"/>
                        </a:rPr>
                        <a:t>– </a:t>
                      </a:r>
                      <a:r>
                        <a:rPr lang="en-US" sz="1100" b="0" dirty="0" smtClean="0">
                          <a:latin typeface="Times New Roman"/>
                          <a:cs typeface="Times New Roman"/>
                        </a:rPr>
                        <a:t>K. </a:t>
                      </a:r>
                      <a:r>
                        <a:rPr lang="en-US" sz="1100" b="0" dirty="0" smtClean="0">
                          <a:latin typeface="Times New Roman"/>
                          <a:cs typeface="Times New Roman"/>
                        </a:rPr>
                        <a:t>Park. </a:t>
                      </a:r>
                      <a:r>
                        <a:rPr lang="en-US" sz="1100" b="0" dirty="0" err="1" smtClean="0">
                          <a:latin typeface="Times New Roman"/>
                          <a:cs typeface="Times New Roman"/>
                        </a:rPr>
                        <a:t>J.Lee</a:t>
                      </a:r>
                      <a:r>
                        <a:rPr lang="en-US" sz="1100" b="0" dirty="0" smtClean="0">
                          <a:latin typeface="Times New Roman"/>
                          <a:cs typeface="Times New Roman"/>
                        </a:rPr>
                        <a:t>.</a:t>
                      </a:r>
                      <a:endParaRPr sz="1100" b="0" dirty="0">
                        <a:latin typeface="Times New Roman"/>
                        <a:cs typeface="Times New Roman"/>
                      </a:endParaRPr>
                    </a:p>
                  </a:txBody>
                  <a:tcPr marL="0" marR="0" marT="1473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r>
                        <a:rPr lang="en-US" sz="1100" dirty="0" smtClean="0">
                          <a:latin typeface="Times New Roman" pitchFamily="18" charset="0"/>
                          <a:cs typeface="Times New Roman" pitchFamily="18" charset="0"/>
                        </a:rPr>
                        <a:t>Embedded system with temperature sensing and automation	</a:t>
                      </a:r>
                      <a:endParaRPr lang="en-US" sz="1100" dirty="0">
                        <a:latin typeface="Times New Roman" pitchFamily="18" charset="0"/>
                        <a:cs typeface="Times New Roman" pitchFamily="18" charset="0"/>
                      </a:endParaRPr>
                    </a:p>
                  </a:txBody>
                  <a:tcPr marL="0" marR="0" marT="114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r>
                        <a:rPr lang="en-US" sz="1100" dirty="0" smtClean="0">
                          <a:latin typeface="Times New Roman" pitchFamily="18" charset="0"/>
                          <a:cs typeface="Times New Roman" pitchFamily="18" charset="0"/>
                        </a:rPr>
                        <a:t>System complexity is high for simple applications</a:t>
                      </a:r>
                      <a:endParaRPr lang="en-US" sz="1100" dirty="0">
                        <a:latin typeface="Times New Roman" pitchFamily="18" charset="0"/>
                        <a:cs typeface="Times New Roman" pitchFamily="18" charset="0"/>
                      </a:endParaRPr>
                    </a:p>
                  </a:txBody>
                  <a:tcPr marL="0" marR="0" marT="1473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r>
                        <a:rPr lang="en-US" sz="1100" dirty="0" smtClean="0">
                          <a:latin typeface="Times New Roman" pitchFamily="18" charset="0"/>
                          <a:cs typeface="Times New Roman" pitchFamily="18" charset="0"/>
                        </a:rPr>
                        <a:t>High cost and increased hardware complexity</a:t>
                      </a:r>
                      <a:endParaRPr lang="en-US" sz="1100" dirty="0">
                        <a:latin typeface="Times New Roman" pitchFamily="18" charset="0"/>
                        <a:cs typeface="Times New Roman" pitchFamily="18" charset="0"/>
                      </a:endParaRPr>
                    </a:p>
                  </a:txBody>
                  <a:tcPr marL="0" marR="0" marT="1473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r>
              <a:tr h="799465">
                <a:tc>
                  <a:txBody>
                    <a:bodyPr/>
                    <a:lstStyle/>
                    <a:p>
                      <a:pPr>
                        <a:lnSpc>
                          <a:spcPct val="100000"/>
                        </a:lnSpc>
                        <a:spcBef>
                          <a:spcPts val="1235"/>
                        </a:spcBef>
                      </a:pPr>
                      <a:endParaRPr sz="1100" dirty="0">
                        <a:latin typeface="Times New Roman"/>
                        <a:cs typeface="Times New Roman"/>
                      </a:endParaRPr>
                    </a:p>
                    <a:p>
                      <a:pPr algn="ctr">
                        <a:lnSpc>
                          <a:spcPct val="100000"/>
                        </a:lnSpc>
                      </a:pPr>
                      <a:r>
                        <a:rPr sz="1100" spc="-20" dirty="0" smtClean="0">
                          <a:latin typeface="Times New Roman"/>
                          <a:cs typeface="Times New Roman"/>
                        </a:rPr>
                        <a:t>202</a:t>
                      </a:r>
                      <a:r>
                        <a:rPr lang="en-US" sz="1100" spc="-20" dirty="0" smtClean="0">
                          <a:latin typeface="Times New Roman"/>
                          <a:cs typeface="Times New Roman"/>
                        </a:rPr>
                        <a:t>1</a:t>
                      </a:r>
                      <a:endParaRPr sz="1100" dirty="0">
                        <a:latin typeface="Times New Roman"/>
                        <a:cs typeface="Times New Roman"/>
                      </a:endParaRPr>
                    </a:p>
                  </a:txBody>
                  <a:tcPr marL="0" marR="0" marT="156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nSpc>
                          <a:spcPct val="100000"/>
                        </a:lnSpc>
                        <a:spcBef>
                          <a:spcPts val="1235"/>
                        </a:spcBef>
                      </a:pPr>
                      <a:endParaRPr sz="1100" dirty="0">
                        <a:latin typeface="Times New Roman"/>
                        <a:cs typeface="Times New Roman"/>
                      </a:endParaRPr>
                    </a:p>
                    <a:p>
                      <a:pPr marL="340995" algn="just">
                        <a:lnSpc>
                          <a:spcPct val="100000"/>
                        </a:lnSpc>
                      </a:pPr>
                      <a:r>
                        <a:rPr lang="en-GB" sz="1100" b="1" spc="-10" dirty="0" smtClean="0">
                          <a:latin typeface="Times New Roman"/>
                          <a:cs typeface="Times New Roman"/>
                        </a:rPr>
                        <a:t>Low-Cost Automated Plant Watering System – </a:t>
                      </a:r>
                      <a:r>
                        <a:rPr lang="en-GB" sz="1100" b="0" spc="-10" dirty="0" err="1" smtClean="0">
                          <a:latin typeface="Times New Roman"/>
                          <a:cs typeface="Times New Roman"/>
                        </a:rPr>
                        <a:t>M.R.Naik</a:t>
                      </a:r>
                      <a:r>
                        <a:rPr lang="en-GB" sz="1100" b="0" spc="-10" dirty="0" smtClean="0">
                          <a:latin typeface="Times New Roman"/>
                          <a:cs typeface="Times New Roman"/>
                        </a:rPr>
                        <a:t>, S. Joshi</a:t>
                      </a:r>
                      <a:endParaRPr sz="1100" b="0" dirty="0">
                        <a:latin typeface="Times New Roman"/>
                        <a:cs typeface="Times New Roman"/>
                      </a:endParaRPr>
                    </a:p>
                  </a:txBody>
                  <a:tcPr marL="0" marR="0" marT="1568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r>
                        <a:rPr lang="en-US" sz="1100" dirty="0" smtClean="0">
                          <a:latin typeface="Times New Roman" pitchFamily="18" charset="0"/>
                          <a:cs typeface="Times New Roman" pitchFamily="18" charset="0"/>
                        </a:rPr>
                        <a:t>Embedded controller with analog temperature sensor</a:t>
                      </a:r>
                      <a:endParaRPr lang="en-US" sz="1100" dirty="0">
                        <a:latin typeface="Times New Roman" pitchFamily="18" charset="0"/>
                        <a:cs typeface="Times New Roman" pitchFamily="18" charset="0"/>
                      </a:endParaRPr>
                    </a:p>
                  </a:txBody>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gn="ctr"/>
                      <a:r>
                        <a:rPr lang="en-US" sz="1100" dirty="0" smtClean="0">
                          <a:latin typeface="Times New Roman" pitchFamily="18" charset="0"/>
                          <a:cs typeface="Times New Roman" pitchFamily="18" charset="0"/>
                        </a:rPr>
                        <a:t>No data visualization or feedback mechanism</a:t>
                      </a:r>
                      <a:endParaRPr lang="en-US" sz="1100" dirty="0">
                        <a:latin typeface="Times New Roman" pitchFamily="18" charset="0"/>
                        <a:cs typeface="Times New Roman" pitchFamily="18" charset="0"/>
                      </a:endParaRPr>
                    </a:p>
                  </a:txBody>
                  <a:tcPr marL="0" marR="0" marT="1498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r>
                        <a:rPr lang="en-US" sz="1100" dirty="0" smtClean="0">
                          <a:latin typeface="Times New Roman" pitchFamily="18" charset="0"/>
                          <a:cs typeface="Times New Roman" pitchFamily="18" charset="0"/>
                        </a:rPr>
                        <a:t>Limited user interaction and basic control logic</a:t>
                      </a:r>
                      <a:endParaRPr lang="en-US" sz="1100" dirty="0">
                        <a:latin typeface="Times New Roman" pitchFamily="18" charset="0"/>
                        <a:cs typeface="Times New Roman" pitchFamily="18" charset="0"/>
                      </a:endParaRPr>
                    </a:p>
                  </a:txBody>
                  <a:tcPr marL="0" marR="0" marT="730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r>
            </a:tbl>
          </a:graphicData>
        </a:graphic>
      </p:graphicFrame>
      <p:pic>
        <p:nvPicPr>
          <p:cNvPr id="5" name="object 5"/>
          <p:cNvPicPr/>
          <p:nvPr/>
        </p:nvPicPr>
        <p:blipFill>
          <a:blip r:embed="rId2" cstate="print"/>
          <a:stretch>
            <a:fillRect/>
          </a:stretch>
        </p:blipFill>
        <p:spPr>
          <a:xfrm>
            <a:off x="263525" y="306387"/>
            <a:ext cx="1041400" cy="738187"/>
          </a:xfrm>
          <a:prstGeom prst="rect">
            <a:avLst/>
          </a:prstGeom>
        </p:spPr>
      </p:pic>
      <p:pic>
        <p:nvPicPr>
          <p:cNvPr id="6" name="object 6"/>
          <p:cNvPicPr/>
          <p:nvPr/>
        </p:nvPicPr>
        <p:blipFill>
          <a:blip r:embed="rId3" cstate="print"/>
          <a:stretch>
            <a:fillRect/>
          </a:stretch>
        </p:blipFill>
        <p:spPr>
          <a:xfrm>
            <a:off x="11118088" y="161162"/>
            <a:ext cx="928687" cy="1193799"/>
          </a:xfrm>
          <a:prstGeom prst="rect">
            <a:avLst/>
          </a:prstGeom>
        </p:spPr>
      </p:pic>
      <p:sp>
        <p:nvSpPr>
          <p:cNvPr id="7" name="object 7"/>
          <p:cNvSpPr txBox="1"/>
          <p:nvPr/>
        </p:nvSpPr>
        <p:spPr>
          <a:xfrm>
            <a:off x="436880" y="6315122"/>
            <a:ext cx="124460" cy="244475"/>
          </a:xfrm>
          <a:prstGeom prst="rect">
            <a:avLst/>
          </a:prstGeom>
        </p:spPr>
        <p:txBody>
          <a:bodyPr vert="horz" wrap="square" lIns="0" tIns="13970" rIns="0" bIns="0" rtlCol="0">
            <a:spAutoFit/>
          </a:bodyPr>
          <a:lstStyle/>
          <a:p>
            <a:pPr marL="12700">
              <a:lnSpc>
                <a:spcPct val="100000"/>
              </a:lnSpc>
              <a:spcBef>
                <a:spcPts val="110"/>
              </a:spcBef>
            </a:pPr>
            <a:r>
              <a:rPr sz="1400" spc="-50" dirty="0">
                <a:solidFill>
                  <a:srgbClr val="FFFFFF"/>
                </a:solidFill>
                <a:latin typeface="Tahoma"/>
                <a:cs typeface="Tahoma"/>
              </a:rPr>
              <a:t>9</a:t>
            </a:r>
            <a:endParaRPr sz="1400">
              <a:latin typeface="Tahoma"/>
              <a:cs typeface="Tahoma"/>
            </a:endParaRPr>
          </a:p>
        </p:txBody>
      </p:sp>
      <p:sp>
        <p:nvSpPr>
          <p:cNvPr id="8" name="object 8"/>
          <p:cNvSpPr txBox="1"/>
          <p:nvPr/>
        </p:nvSpPr>
        <p:spPr>
          <a:xfrm>
            <a:off x="1298194" y="6417573"/>
            <a:ext cx="583565" cy="222885"/>
          </a:xfrm>
          <a:prstGeom prst="rect">
            <a:avLst/>
          </a:prstGeom>
        </p:spPr>
        <p:txBody>
          <a:bodyPr vert="horz" wrap="square" lIns="0" tIns="0" rIns="0" bIns="0" rtlCol="0">
            <a:spAutoFit/>
          </a:bodyPr>
          <a:lstStyle/>
          <a:p>
            <a:pPr marL="12700">
              <a:lnSpc>
                <a:spcPts val="1630"/>
              </a:lnSpc>
            </a:pPr>
            <a:r>
              <a:rPr sz="1400" dirty="0">
                <a:solidFill>
                  <a:srgbClr val="232852"/>
                </a:solidFill>
                <a:latin typeface="Times New Roman"/>
                <a:cs typeface="Times New Roman"/>
              </a:rPr>
              <a:t>EDP</a:t>
            </a:r>
            <a:r>
              <a:rPr sz="1400" spc="-20" dirty="0">
                <a:solidFill>
                  <a:srgbClr val="232852"/>
                </a:solidFill>
                <a:latin typeface="Times New Roman"/>
                <a:cs typeface="Times New Roman"/>
              </a:rPr>
              <a:t> </a:t>
            </a:r>
            <a:r>
              <a:rPr sz="1400" spc="-25" dirty="0">
                <a:solidFill>
                  <a:srgbClr val="232852"/>
                </a:solidFill>
                <a:latin typeface="Times New Roman"/>
                <a:cs typeface="Times New Roman"/>
              </a:rPr>
              <a:t>III</a:t>
            </a:r>
            <a:endParaRPr sz="1400">
              <a:latin typeface="Times New Roman"/>
              <a:cs typeface="Times New Roman"/>
            </a:endParaRPr>
          </a:p>
        </p:txBody>
      </p:sp>
      <p:sp>
        <p:nvSpPr>
          <p:cNvPr id="9" name="object 9"/>
          <p:cNvSpPr txBox="1"/>
          <p:nvPr/>
        </p:nvSpPr>
        <p:spPr>
          <a:xfrm>
            <a:off x="9614661" y="6484020"/>
            <a:ext cx="2019300" cy="222885"/>
          </a:xfrm>
          <a:prstGeom prst="rect">
            <a:avLst/>
          </a:prstGeom>
        </p:spPr>
        <p:txBody>
          <a:bodyPr vert="horz" wrap="square" lIns="0" tIns="0" rIns="0" bIns="0" rtlCol="0">
            <a:spAutoFit/>
          </a:bodyPr>
          <a:lstStyle/>
          <a:p>
            <a:pPr marL="12700">
              <a:lnSpc>
                <a:spcPts val="1630"/>
              </a:lnSpc>
            </a:pPr>
            <a:r>
              <a:rPr sz="1400" dirty="0">
                <a:solidFill>
                  <a:srgbClr val="232852"/>
                </a:solidFill>
                <a:latin typeface="Times New Roman"/>
                <a:cs typeface="Times New Roman"/>
              </a:rPr>
              <a:t>Monday,</a:t>
            </a:r>
            <a:r>
              <a:rPr sz="1400" spc="-35"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25" dirty="0">
                <a:solidFill>
                  <a:srgbClr val="232852"/>
                </a:solidFill>
                <a:latin typeface="Times New Roman"/>
                <a:cs typeface="Times New Roman"/>
              </a:rPr>
              <a:t> </a:t>
            </a:r>
            <a:r>
              <a:rPr sz="1400" dirty="0">
                <a:solidFill>
                  <a:srgbClr val="232852"/>
                </a:solidFill>
                <a:latin typeface="Times New Roman"/>
                <a:cs typeface="Times New Roman"/>
              </a:rPr>
              <a:t>1,</a:t>
            </a:r>
            <a:r>
              <a:rPr sz="1400" spc="-30" dirty="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353060" rIns="0" bIns="0" rtlCol="0">
            <a:spAutoFit/>
          </a:bodyPr>
          <a:lstStyle/>
          <a:p>
            <a:pPr marL="1908175">
              <a:lnSpc>
                <a:spcPct val="100000"/>
              </a:lnSpc>
              <a:spcBef>
                <a:spcPts val="95"/>
              </a:spcBef>
            </a:pPr>
            <a:r>
              <a:rPr b="1" dirty="0">
                <a:latin typeface="Times New Roman"/>
                <a:cs typeface="Times New Roman"/>
              </a:rPr>
              <a:t>EXISTING</a:t>
            </a:r>
            <a:r>
              <a:rPr b="1" spc="-180" dirty="0">
                <a:latin typeface="Times New Roman"/>
                <a:cs typeface="Times New Roman"/>
              </a:rPr>
              <a:t> </a:t>
            </a:r>
            <a:r>
              <a:rPr b="1" spc="-10" dirty="0">
                <a:latin typeface="Times New Roman"/>
                <a:cs typeface="Times New Roman"/>
              </a:rPr>
              <a:t>METHOD</a:t>
            </a:r>
          </a:p>
        </p:txBody>
      </p:sp>
      <p:pic>
        <p:nvPicPr>
          <p:cNvPr id="4" name="object 4"/>
          <p:cNvPicPr/>
          <p:nvPr/>
        </p:nvPicPr>
        <p:blipFill>
          <a:blip r:embed="rId2" cstate="print"/>
          <a:stretch>
            <a:fillRect/>
          </a:stretch>
        </p:blipFill>
        <p:spPr>
          <a:xfrm>
            <a:off x="311962" y="362099"/>
            <a:ext cx="944525" cy="640691"/>
          </a:xfrm>
          <a:prstGeom prst="rect">
            <a:avLst/>
          </a:prstGeom>
        </p:spPr>
      </p:pic>
      <p:sp>
        <p:nvSpPr>
          <p:cNvPr id="5" name="object 5"/>
          <p:cNvSpPr txBox="1"/>
          <p:nvPr/>
        </p:nvSpPr>
        <p:spPr>
          <a:xfrm>
            <a:off x="945895" y="1658492"/>
            <a:ext cx="9759747" cy="3295774"/>
          </a:xfrm>
          <a:prstGeom prst="rect">
            <a:avLst/>
          </a:prstGeom>
        </p:spPr>
        <p:txBody>
          <a:bodyPr vert="horz" wrap="square" lIns="0" tIns="12700" rIns="0" bIns="0" rtlCol="0">
            <a:spAutoFit/>
          </a:bodyPr>
          <a:lstStyle/>
          <a:p>
            <a:pPr marL="355600" marR="5080" indent="-342900" algn="just">
              <a:lnSpc>
                <a:spcPct val="150000"/>
              </a:lnSpc>
              <a:spcBef>
                <a:spcPts val="100"/>
              </a:spcBef>
              <a:buFont typeface="Arial" pitchFamily="34" charset="0"/>
              <a:buChar char="•"/>
            </a:pPr>
            <a:r>
              <a:rPr lang="en-US" sz="2000" dirty="0" smtClean="0">
                <a:latin typeface="Times New Roman"/>
                <a:cs typeface="Times New Roman"/>
              </a:rPr>
              <a:t>In the existing system, fan speed is controlled manually using a mechanical regulator or switch.</a:t>
            </a:r>
          </a:p>
          <a:p>
            <a:pPr marL="355600" marR="5080" lvl="1" indent="-342900" algn="just">
              <a:lnSpc>
                <a:spcPct val="150000"/>
              </a:lnSpc>
              <a:spcBef>
                <a:spcPts val="100"/>
              </a:spcBef>
              <a:buFont typeface="Arial" pitchFamily="34" charset="0"/>
              <a:buChar char="•"/>
            </a:pPr>
            <a:r>
              <a:rPr lang="en-US" sz="2000" dirty="0" smtClean="0">
                <a:latin typeface="Times New Roman"/>
                <a:cs typeface="Times New Roman"/>
              </a:rPr>
              <a:t>Users need to adjust the fan speed frequently according to changes in room temperature.</a:t>
            </a:r>
          </a:p>
          <a:p>
            <a:pPr marL="355600" marR="5080" indent="-342900" algn="just">
              <a:lnSpc>
                <a:spcPct val="150000"/>
              </a:lnSpc>
              <a:spcBef>
                <a:spcPts val="100"/>
              </a:spcBef>
              <a:buFont typeface="Arial" pitchFamily="34" charset="0"/>
              <a:buChar char="•"/>
            </a:pPr>
            <a:r>
              <a:rPr lang="en-US" sz="2000" dirty="0" smtClean="0">
                <a:latin typeface="Times New Roman"/>
                <a:cs typeface="Times New Roman"/>
              </a:rPr>
              <a:t>The fan continues to run at the same speed even when cooling is not required, leading to energy wastage.</a:t>
            </a:r>
          </a:p>
          <a:p>
            <a:pPr marL="355600" marR="5080" indent="-342900" algn="just">
              <a:lnSpc>
                <a:spcPct val="150000"/>
              </a:lnSpc>
              <a:spcBef>
                <a:spcPts val="100"/>
              </a:spcBef>
              <a:buFont typeface="Arial" pitchFamily="34" charset="0"/>
              <a:buChar char="•"/>
            </a:pPr>
            <a:r>
              <a:rPr lang="en-US" sz="2000" dirty="0" smtClean="0">
                <a:latin typeface="Times New Roman"/>
                <a:cs typeface="Times New Roman"/>
              </a:rPr>
              <a:t>There is no automatic temperature sensing or intelligent control mechanism involved.</a:t>
            </a:r>
          </a:p>
          <a:p>
            <a:pPr marL="355600" marR="5080" indent="-342900" algn="just">
              <a:lnSpc>
                <a:spcPct val="150000"/>
              </a:lnSpc>
              <a:spcBef>
                <a:spcPts val="100"/>
              </a:spcBef>
              <a:buFont typeface="Arial" pitchFamily="34" charset="0"/>
              <a:buChar char="•"/>
            </a:pPr>
            <a:r>
              <a:rPr lang="en-US" sz="2000" dirty="0">
                <a:latin typeface="Times New Roman"/>
                <a:cs typeface="Times New Roman"/>
              </a:rPr>
              <a:t>H</a:t>
            </a:r>
            <a:r>
              <a:rPr lang="en-US" sz="2000" dirty="0" smtClean="0">
                <a:latin typeface="Times New Roman"/>
                <a:cs typeface="Times New Roman"/>
              </a:rPr>
              <a:t>uman intervention is required at all times to maintain comfort levels.</a:t>
            </a:r>
            <a:endParaRPr sz="2000" dirty="0">
              <a:latin typeface="Times New Roman"/>
              <a:cs typeface="Times New Roman"/>
            </a:endParaRPr>
          </a:p>
        </p:txBody>
      </p:sp>
      <p:pic>
        <p:nvPicPr>
          <p:cNvPr id="6" name="object 6"/>
          <p:cNvPicPr/>
          <p:nvPr/>
        </p:nvPicPr>
        <p:blipFill>
          <a:blip r:embed="rId3" cstate="print"/>
          <a:stretch>
            <a:fillRect/>
          </a:stretch>
        </p:blipFill>
        <p:spPr>
          <a:xfrm>
            <a:off x="10786998" y="123825"/>
            <a:ext cx="928687" cy="1193800"/>
          </a:xfrm>
          <a:prstGeom prst="rect">
            <a:avLst/>
          </a:prstGeom>
        </p:spPr>
      </p:pic>
      <p:sp>
        <p:nvSpPr>
          <p:cNvPr id="8" name="object 8"/>
          <p:cNvSpPr txBox="1">
            <a:spLocks noGrp="1"/>
          </p:cNvSpPr>
          <p:nvPr>
            <p:ph type="sldNum" sz="quarter" idx="7"/>
          </p:nvPr>
        </p:nvSpPr>
        <p:spPr>
          <a:prstGeom prst="rect">
            <a:avLst/>
          </a:prstGeom>
        </p:spPr>
        <p:txBody>
          <a:bodyPr vert="horz" wrap="square" lIns="0" tIns="13970" rIns="0" bIns="0" rtlCol="0">
            <a:spAutoFit/>
          </a:bodyPr>
          <a:lstStyle/>
          <a:p>
            <a:pPr marL="38100">
              <a:lnSpc>
                <a:spcPct val="100000"/>
              </a:lnSpc>
              <a:spcBef>
                <a:spcPts val="110"/>
              </a:spcBef>
            </a:pPr>
            <a:fld id="{81D60167-4931-47E6-BA6A-407CBD079E47}" type="slidenum">
              <a:rPr spc="-25" dirty="0"/>
              <a:pPr marL="38100">
                <a:lnSpc>
                  <a:spcPct val="100000"/>
                </a:lnSpc>
                <a:spcBef>
                  <a:spcPts val="110"/>
                </a:spcBef>
              </a:pPr>
              <a:t>9</a:t>
            </a:fld>
            <a:endParaRPr spc="-25" dirty="0"/>
          </a:p>
        </p:txBody>
      </p:sp>
      <p:sp>
        <p:nvSpPr>
          <p:cNvPr id="9" name="object 9"/>
          <p:cNvSpPr txBox="1"/>
          <p:nvPr/>
        </p:nvSpPr>
        <p:spPr>
          <a:xfrm>
            <a:off x="945896" y="6324609"/>
            <a:ext cx="583565" cy="222885"/>
          </a:xfrm>
          <a:prstGeom prst="rect">
            <a:avLst/>
          </a:prstGeom>
        </p:spPr>
        <p:txBody>
          <a:bodyPr vert="horz" wrap="square" lIns="0" tIns="0" rIns="0" bIns="0" rtlCol="0">
            <a:spAutoFit/>
          </a:bodyPr>
          <a:lstStyle/>
          <a:p>
            <a:pPr marL="12700">
              <a:lnSpc>
                <a:spcPts val="1630"/>
              </a:lnSpc>
            </a:pPr>
            <a:r>
              <a:rPr sz="1400" dirty="0">
                <a:solidFill>
                  <a:srgbClr val="232852"/>
                </a:solidFill>
                <a:latin typeface="Times New Roman"/>
                <a:cs typeface="Times New Roman"/>
              </a:rPr>
              <a:t>EDP</a:t>
            </a:r>
            <a:r>
              <a:rPr sz="1400" spc="-20" dirty="0">
                <a:solidFill>
                  <a:srgbClr val="232852"/>
                </a:solidFill>
                <a:latin typeface="Times New Roman"/>
                <a:cs typeface="Times New Roman"/>
              </a:rPr>
              <a:t> </a:t>
            </a:r>
            <a:r>
              <a:rPr sz="1400" spc="-25" dirty="0">
                <a:solidFill>
                  <a:srgbClr val="232852"/>
                </a:solidFill>
                <a:latin typeface="Times New Roman"/>
                <a:cs typeface="Times New Roman"/>
              </a:rPr>
              <a:t>III</a:t>
            </a:r>
            <a:endParaRPr sz="1400">
              <a:latin typeface="Times New Roman"/>
              <a:cs typeface="Times New Roman"/>
            </a:endParaRPr>
          </a:p>
        </p:txBody>
      </p:sp>
      <p:sp>
        <p:nvSpPr>
          <p:cNvPr id="10" name="object 10"/>
          <p:cNvSpPr txBox="1"/>
          <p:nvPr/>
        </p:nvSpPr>
        <p:spPr>
          <a:xfrm>
            <a:off x="9530842" y="6324947"/>
            <a:ext cx="2019300" cy="223520"/>
          </a:xfrm>
          <a:prstGeom prst="rect">
            <a:avLst/>
          </a:prstGeom>
        </p:spPr>
        <p:txBody>
          <a:bodyPr vert="horz" wrap="square" lIns="0" tIns="0" rIns="0" bIns="0" rtlCol="0">
            <a:spAutoFit/>
          </a:bodyPr>
          <a:lstStyle/>
          <a:p>
            <a:pPr marL="12700">
              <a:lnSpc>
                <a:spcPts val="1635"/>
              </a:lnSpc>
            </a:pPr>
            <a:r>
              <a:rPr sz="1400" dirty="0">
                <a:solidFill>
                  <a:srgbClr val="232852"/>
                </a:solidFill>
                <a:latin typeface="Times New Roman"/>
                <a:cs typeface="Times New Roman"/>
              </a:rPr>
              <a:t>Monday,</a:t>
            </a:r>
            <a:r>
              <a:rPr sz="1400" spc="-30"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15" dirty="0">
                <a:solidFill>
                  <a:srgbClr val="232852"/>
                </a:solidFill>
                <a:latin typeface="Times New Roman"/>
                <a:cs typeface="Times New Roman"/>
              </a:rPr>
              <a:t> </a:t>
            </a:r>
            <a:r>
              <a:rPr sz="1400" dirty="0">
                <a:solidFill>
                  <a:srgbClr val="232852"/>
                </a:solidFill>
                <a:latin typeface="Times New Roman"/>
                <a:cs typeface="Times New Roman"/>
              </a:rPr>
              <a:t>1,</a:t>
            </a:r>
            <a:r>
              <a:rPr sz="1400" spc="-25" dirty="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a:latin typeface="Times New Roman"/>
              <a:cs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3" name="object 3"/>
          <p:cNvSpPr txBox="1"/>
          <p:nvPr/>
        </p:nvSpPr>
        <p:spPr>
          <a:xfrm>
            <a:off x="457201" y="1812416"/>
            <a:ext cx="11353800" cy="3757439"/>
          </a:xfrm>
          <a:prstGeom prst="rect">
            <a:avLst/>
          </a:prstGeom>
        </p:spPr>
        <p:txBody>
          <a:bodyPr vert="horz" wrap="square" lIns="0" tIns="12700" rIns="0" bIns="0" rtlCol="0">
            <a:spAutoFit/>
          </a:bodyPr>
          <a:lstStyle/>
          <a:p>
            <a:pPr marL="297815" marR="5715" indent="-285750" algn="just">
              <a:lnSpc>
                <a:spcPct val="150000"/>
              </a:lnSpc>
              <a:spcBef>
                <a:spcPts val="100"/>
              </a:spcBef>
              <a:buClr>
                <a:srgbClr val="4966AC"/>
              </a:buClr>
              <a:buSzPct val="77777"/>
              <a:buFont typeface="Arial" pitchFamily="34" charset="0"/>
              <a:buChar char="•"/>
              <a:tabLst>
                <a:tab pos="285115" algn="l"/>
              </a:tabLst>
            </a:pPr>
            <a:r>
              <a:rPr lang="en-US" sz="2000" dirty="0" smtClean="0">
                <a:latin typeface="Times New Roman"/>
                <a:cs typeface="Times New Roman"/>
              </a:rPr>
              <a:t>Conventional fan systems rely on manual speed control, which does not respond automatically to temperature changes.</a:t>
            </a:r>
          </a:p>
          <a:p>
            <a:pPr marL="297815" marR="5715" indent="-285750" algn="just">
              <a:lnSpc>
                <a:spcPct val="150000"/>
              </a:lnSpc>
              <a:spcBef>
                <a:spcPts val="100"/>
              </a:spcBef>
              <a:buClr>
                <a:srgbClr val="4966AC"/>
              </a:buClr>
              <a:buSzPct val="77777"/>
              <a:buFont typeface="Arial" pitchFamily="34" charset="0"/>
              <a:buChar char="•"/>
              <a:tabLst>
                <a:tab pos="285115" algn="l"/>
              </a:tabLst>
            </a:pPr>
            <a:r>
              <a:rPr lang="en-US" sz="2000" dirty="0" smtClean="0">
                <a:latin typeface="Times New Roman"/>
                <a:cs typeface="Times New Roman"/>
              </a:rPr>
              <a:t>Users often forget to adjust the fan speed, causing discomfort during sudden temperature variations.</a:t>
            </a:r>
          </a:p>
          <a:p>
            <a:pPr marL="297815" marR="5715" indent="-285750" algn="just">
              <a:lnSpc>
                <a:spcPct val="150000"/>
              </a:lnSpc>
              <a:spcBef>
                <a:spcPts val="100"/>
              </a:spcBef>
              <a:buClr>
                <a:srgbClr val="4966AC"/>
              </a:buClr>
              <a:buSzPct val="77777"/>
              <a:buFont typeface="Arial" pitchFamily="34" charset="0"/>
              <a:buChar char="•"/>
              <a:tabLst>
                <a:tab pos="285115" algn="l"/>
              </a:tabLst>
            </a:pPr>
            <a:r>
              <a:rPr lang="en-US" sz="2000" dirty="0" smtClean="0">
                <a:latin typeface="Times New Roman"/>
                <a:cs typeface="Times New Roman"/>
              </a:rPr>
              <a:t>Continuous operation at higher speeds results in unnecessary power consumption and reduced energy efficiency.</a:t>
            </a:r>
          </a:p>
          <a:p>
            <a:pPr marL="297815" marR="5715" indent="-285750" algn="just">
              <a:lnSpc>
                <a:spcPct val="150000"/>
              </a:lnSpc>
              <a:spcBef>
                <a:spcPts val="100"/>
              </a:spcBef>
              <a:buClr>
                <a:srgbClr val="4966AC"/>
              </a:buClr>
              <a:buSzPct val="77777"/>
              <a:buFont typeface="Arial" pitchFamily="34" charset="0"/>
              <a:buChar char="•"/>
              <a:tabLst>
                <a:tab pos="285115" algn="l"/>
              </a:tabLst>
            </a:pPr>
            <a:r>
              <a:rPr lang="en-US" sz="2000" dirty="0" smtClean="0">
                <a:latin typeface="Times New Roman"/>
                <a:cs typeface="Times New Roman"/>
              </a:rPr>
              <a:t>Manual regulators provide fixed speed levels, lacking precise control based on real-time conditions.</a:t>
            </a:r>
          </a:p>
          <a:p>
            <a:pPr marL="297815" marR="5715" indent="-285750" algn="just">
              <a:lnSpc>
                <a:spcPct val="150000"/>
              </a:lnSpc>
              <a:spcBef>
                <a:spcPts val="100"/>
              </a:spcBef>
              <a:buClr>
                <a:srgbClr val="4966AC"/>
              </a:buClr>
              <a:buSzPct val="77777"/>
              <a:buFont typeface="Arial" pitchFamily="34" charset="0"/>
              <a:buChar char="•"/>
              <a:tabLst>
                <a:tab pos="285115" algn="l"/>
              </a:tabLst>
            </a:pPr>
            <a:r>
              <a:rPr lang="en-US" sz="2000" dirty="0" smtClean="0">
                <a:latin typeface="Times New Roman"/>
                <a:cs typeface="Times New Roman"/>
              </a:rPr>
              <a:t>The absence of automation increases human effort and reduces the overall effectiveness of temperature regulation</a:t>
            </a:r>
            <a:r>
              <a:rPr lang="en-US" sz="1800" dirty="0" smtClean="0">
                <a:latin typeface="Times New Roman"/>
                <a:cs typeface="Times New Roman"/>
              </a:rPr>
              <a:t>.</a:t>
            </a:r>
            <a:endParaRPr sz="2800" dirty="0">
              <a:latin typeface="Times New Roman"/>
              <a:cs typeface="Times New Roman"/>
            </a:endParaRPr>
          </a:p>
        </p:txBody>
      </p:sp>
      <p:sp>
        <p:nvSpPr>
          <p:cNvPr id="4" name="object 4"/>
          <p:cNvSpPr txBox="1">
            <a:spLocks noGrp="1"/>
          </p:cNvSpPr>
          <p:nvPr>
            <p:ph type="title"/>
          </p:nvPr>
        </p:nvSpPr>
        <p:spPr>
          <a:xfrm>
            <a:off x="1700529" y="347853"/>
            <a:ext cx="8760460" cy="1123315"/>
          </a:xfrm>
          <a:prstGeom prst="rect">
            <a:avLst/>
          </a:prstGeom>
        </p:spPr>
        <p:txBody>
          <a:bodyPr vert="horz" wrap="square" lIns="0" tIns="12700" rIns="0" bIns="0" rtlCol="0">
            <a:spAutoFit/>
          </a:bodyPr>
          <a:lstStyle/>
          <a:p>
            <a:pPr marL="1809750" marR="5080" indent="-1797685">
              <a:lnSpc>
                <a:spcPct val="100000"/>
              </a:lnSpc>
              <a:spcBef>
                <a:spcPts val="100"/>
              </a:spcBef>
            </a:pPr>
            <a:r>
              <a:rPr sz="3600" b="1" dirty="0">
                <a:latin typeface="Times New Roman"/>
                <a:cs typeface="Times New Roman"/>
              </a:rPr>
              <a:t>ANALYSIS</a:t>
            </a:r>
            <a:r>
              <a:rPr sz="3600" b="1" spc="-70" dirty="0">
                <a:latin typeface="Times New Roman"/>
                <a:cs typeface="Times New Roman"/>
              </a:rPr>
              <a:t> </a:t>
            </a:r>
            <a:r>
              <a:rPr sz="3600" b="1" dirty="0">
                <a:latin typeface="Times New Roman"/>
                <a:cs typeface="Times New Roman"/>
              </a:rPr>
              <a:t>AND</a:t>
            </a:r>
            <a:r>
              <a:rPr sz="3600" b="1" spc="-55" dirty="0">
                <a:latin typeface="Times New Roman"/>
                <a:cs typeface="Times New Roman"/>
              </a:rPr>
              <a:t> </a:t>
            </a:r>
            <a:r>
              <a:rPr sz="3600" b="1" dirty="0">
                <a:latin typeface="Times New Roman"/>
                <a:cs typeface="Times New Roman"/>
              </a:rPr>
              <a:t>EXPLANATION</a:t>
            </a:r>
            <a:r>
              <a:rPr sz="3600" b="1" spc="-70" dirty="0">
                <a:latin typeface="Times New Roman"/>
                <a:cs typeface="Times New Roman"/>
              </a:rPr>
              <a:t> </a:t>
            </a:r>
            <a:r>
              <a:rPr sz="3600" b="1" dirty="0">
                <a:latin typeface="Times New Roman"/>
                <a:cs typeface="Times New Roman"/>
              </a:rPr>
              <a:t>OF</a:t>
            </a:r>
            <a:r>
              <a:rPr sz="3600" b="1" spc="-50" dirty="0">
                <a:latin typeface="Times New Roman"/>
                <a:cs typeface="Times New Roman"/>
              </a:rPr>
              <a:t> </a:t>
            </a:r>
            <a:r>
              <a:rPr sz="3600" b="1" spc="-25" dirty="0">
                <a:latin typeface="Times New Roman"/>
                <a:cs typeface="Times New Roman"/>
              </a:rPr>
              <a:t>THE </a:t>
            </a:r>
            <a:r>
              <a:rPr sz="3600" b="1" dirty="0">
                <a:latin typeface="Times New Roman"/>
                <a:cs typeface="Times New Roman"/>
              </a:rPr>
              <a:t>IDENTIFIED</a:t>
            </a:r>
            <a:r>
              <a:rPr sz="3600" b="1" spc="-80" dirty="0">
                <a:latin typeface="Times New Roman"/>
                <a:cs typeface="Times New Roman"/>
              </a:rPr>
              <a:t> </a:t>
            </a:r>
            <a:r>
              <a:rPr sz="3600" b="1" spc="-10" dirty="0">
                <a:latin typeface="Times New Roman"/>
                <a:cs typeface="Times New Roman"/>
              </a:rPr>
              <a:t>PROBLEM</a:t>
            </a:r>
            <a:endParaRPr sz="3600" dirty="0">
              <a:latin typeface="Times New Roman"/>
              <a:cs typeface="Times New Roman"/>
            </a:endParaRPr>
          </a:p>
        </p:txBody>
      </p:sp>
      <p:pic>
        <p:nvPicPr>
          <p:cNvPr id="5" name="object 5"/>
          <p:cNvPicPr/>
          <p:nvPr/>
        </p:nvPicPr>
        <p:blipFill>
          <a:blip r:embed="rId2" cstate="print"/>
          <a:stretch>
            <a:fillRect/>
          </a:stretch>
        </p:blipFill>
        <p:spPr>
          <a:xfrm>
            <a:off x="311962" y="362099"/>
            <a:ext cx="944525" cy="640691"/>
          </a:xfrm>
          <a:prstGeom prst="rect">
            <a:avLst/>
          </a:prstGeom>
        </p:spPr>
      </p:pic>
      <p:pic>
        <p:nvPicPr>
          <p:cNvPr id="6" name="object 6"/>
          <p:cNvPicPr/>
          <p:nvPr/>
        </p:nvPicPr>
        <p:blipFill>
          <a:blip r:embed="rId3" cstate="print"/>
          <a:stretch>
            <a:fillRect/>
          </a:stretch>
        </p:blipFill>
        <p:spPr>
          <a:xfrm>
            <a:off x="10786998" y="123825"/>
            <a:ext cx="928687" cy="1193800"/>
          </a:xfrm>
          <a:prstGeom prst="rect">
            <a:avLst/>
          </a:prstGeom>
        </p:spPr>
      </p:pic>
      <p:sp>
        <p:nvSpPr>
          <p:cNvPr id="8" name="object 8"/>
          <p:cNvSpPr txBox="1">
            <a:spLocks noGrp="1"/>
          </p:cNvSpPr>
          <p:nvPr>
            <p:ph type="sldNum" sz="quarter" idx="7"/>
          </p:nvPr>
        </p:nvSpPr>
        <p:spPr>
          <a:prstGeom prst="rect">
            <a:avLst/>
          </a:prstGeom>
        </p:spPr>
        <p:txBody>
          <a:bodyPr vert="horz" wrap="square" lIns="0" tIns="13970" rIns="0" bIns="0" rtlCol="0">
            <a:spAutoFit/>
          </a:bodyPr>
          <a:lstStyle/>
          <a:p>
            <a:pPr marL="38100">
              <a:lnSpc>
                <a:spcPct val="100000"/>
              </a:lnSpc>
              <a:spcBef>
                <a:spcPts val="110"/>
              </a:spcBef>
            </a:pPr>
            <a:fld id="{81D60167-4931-47E6-BA6A-407CBD079E47}" type="slidenum">
              <a:rPr spc="-25" dirty="0"/>
              <a:pPr marL="38100">
                <a:lnSpc>
                  <a:spcPct val="100000"/>
                </a:lnSpc>
                <a:spcBef>
                  <a:spcPts val="110"/>
                </a:spcBef>
              </a:pPr>
              <a:t>10</a:t>
            </a:fld>
            <a:endParaRPr spc="-25" dirty="0"/>
          </a:p>
        </p:txBody>
      </p:sp>
      <p:sp>
        <p:nvSpPr>
          <p:cNvPr id="9" name="object 9"/>
          <p:cNvSpPr txBox="1"/>
          <p:nvPr/>
        </p:nvSpPr>
        <p:spPr>
          <a:xfrm>
            <a:off x="945896" y="6324609"/>
            <a:ext cx="583565" cy="222885"/>
          </a:xfrm>
          <a:prstGeom prst="rect">
            <a:avLst/>
          </a:prstGeom>
        </p:spPr>
        <p:txBody>
          <a:bodyPr vert="horz" wrap="square" lIns="0" tIns="0" rIns="0" bIns="0" rtlCol="0">
            <a:spAutoFit/>
          </a:bodyPr>
          <a:lstStyle/>
          <a:p>
            <a:pPr marL="12700">
              <a:lnSpc>
                <a:spcPts val="1630"/>
              </a:lnSpc>
            </a:pPr>
            <a:r>
              <a:rPr sz="1400" dirty="0">
                <a:solidFill>
                  <a:srgbClr val="232852"/>
                </a:solidFill>
                <a:latin typeface="Times New Roman"/>
                <a:cs typeface="Times New Roman"/>
              </a:rPr>
              <a:t>EDP</a:t>
            </a:r>
            <a:r>
              <a:rPr sz="1400" spc="-20" dirty="0">
                <a:solidFill>
                  <a:srgbClr val="232852"/>
                </a:solidFill>
                <a:latin typeface="Times New Roman"/>
                <a:cs typeface="Times New Roman"/>
              </a:rPr>
              <a:t> </a:t>
            </a:r>
            <a:r>
              <a:rPr sz="1400" spc="-25" dirty="0">
                <a:solidFill>
                  <a:srgbClr val="232852"/>
                </a:solidFill>
                <a:latin typeface="Times New Roman"/>
                <a:cs typeface="Times New Roman"/>
              </a:rPr>
              <a:t>III</a:t>
            </a:r>
            <a:endParaRPr sz="1400">
              <a:latin typeface="Times New Roman"/>
              <a:cs typeface="Times New Roman"/>
            </a:endParaRPr>
          </a:p>
        </p:txBody>
      </p:sp>
      <p:sp>
        <p:nvSpPr>
          <p:cNvPr id="10" name="object 10"/>
          <p:cNvSpPr txBox="1"/>
          <p:nvPr/>
        </p:nvSpPr>
        <p:spPr>
          <a:xfrm>
            <a:off x="9530842" y="6324947"/>
            <a:ext cx="2019300" cy="223520"/>
          </a:xfrm>
          <a:prstGeom prst="rect">
            <a:avLst/>
          </a:prstGeom>
        </p:spPr>
        <p:txBody>
          <a:bodyPr vert="horz" wrap="square" lIns="0" tIns="0" rIns="0" bIns="0" rtlCol="0">
            <a:spAutoFit/>
          </a:bodyPr>
          <a:lstStyle/>
          <a:p>
            <a:pPr marL="12700">
              <a:lnSpc>
                <a:spcPts val="1635"/>
              </a:lnSpc>
            </a:pPr>
            <a:r>
              <a:rPr sz="1400" dirty="0">
                <a:solidFill>
                  <a:srgbClr val="232852"/>
                </a:solidFill>
                <a:latin typeface="Times New Roman"/>
                <a:cs typeface="Times New Roman"/>
              </a:rPr>
              <a:t>Monday,</a:t>
            </a:r>
            <a:r>
              <a:rPr sz="1400" spc="-30"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15" dirty="0">
                <a:solidFill>
                  <a:srgbClr val="232852"/>
                </a:solidFill>
                <a:latin typeface="Times New Roman"/>
                <a:cs typeface="Times New Roman"/>
              </a:rPr>
              <a:t> </a:t>
            </a:r>
            <a:r>
              <a:rPr sz="1400" dirty="0">
                <a:solidFill>
                  <a:srgbClr val="232852"/>
                </a:solidFill>
                <a:latin typeface="Times New Roman"/>
                <a:cs typeface="Times New Roman"/>
              </a:rPr>
              <a:t>1,</a:t>
            </a:r>
            <a:r>
              <a:rPr sz="1400" spc="-25" dirty="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37545" y="1545715"/>
            <a:ext cx="9515667" cy="4218463"/>
          </a:xfrm>
          <a:prstGeom prst="rect">
            <a:avLst/>
          </a:prstGeom>
        </p:spPr>
        <p:txBody>
          <a:bodyPr vert="horz" wrap="square" lIns="0" tIns="12065" rIns="0" bIns="0" rtlCol="0">
            <a:spAutoFit/>
          </a:bodyPr>
          <a:lstStyle/>
          <a:p>
            <a:pPr marL="355600" marR="5080" indent="-342900" algn="just">
              <a:lnSpc>
                <a:spcPct val="150000"/>
              </a:lnSpc>
              <a:spcBef>
                <a:spcPts val="95"/>
              </a:spcBef>
              <a:buFont typeface="Arial" pitchFamily="34" charset="0"/>
              <a:buChar char="•"/>
            </a:pPr>
            <a:r>
              <a:rPr lang="en-US" sz="2000" dirty="0" smtClean="0">
                <a:latin typeface="Times New Roman"/>
                <a:cs typeface="Times New Roman"/>
              </a:rPr>
              <a:t>The proposed system uses a temperature sensor to continuously monitor the room temperature.</a:t>
            </a:r>
          </a:p>
          <a:p>
            <a:pPr marL="355600" marR="5080" indent="-342900" algn="just">
              <a:lnSpc>
                <a:spcPct val="150000"/>
              </a:lnSpc>
              <a:spcBef>
                <a:spcPts val="95"/>
              </a:spcBef>
              <a:buFont typeface="Arial" pitchFamily="34" charset="0"/>
              <a:buChar char="•"/>
            </a:pPr>
            <a:r>
              <a:rPr lang="en-US" sz="2000" dirty="0" smtClean="0">
                <a:latin typeface="Times New Roman"/>
                <a:cs typeface="Times New Roman"/>
              </a:rPr>
              <a:t>An </a:t>
            </a:r>
            <a:r>
              <a:rPr lang="en-US" sz="2000" dirty="0" err="1" smtClean="0">
                <a:latin typeface="Times New Roman"/>
                <a:cs typeface="Times New Roman"/>
              </a:rPr>
              <a:t>Arduino</a:t>
            </a:r>
            <a:r>
              <a:rPr lang="en-US" sz="2000" dirty="0" smtClean="0">
                <a:latin typeface="Times New Roman"/>
                <a:cs typeface="Times New Roman"/>
              </a:rPr>
              <a:t> microcontroller processes the sensor data in real time.</a:t>
            </a:r>
          </a:p>
          <a:p>
            <a:pPr marL="355600" marR="5080" indent="-342900" algn="just">
              <a:lnSpc>
                <a:spcPct val="150000"/>
              </a:lnSpc>
              <a:spcBef>
                <a:spcPts val="95"/>
              </a:spcBef>
              <a:buFont typeface="Arial" pitchFamily="34" charset="0"/>
              <a:buChar char="•"/>
            </a:pPr>
            <a:r>
              <a:rPr lang="en-US" sz="2000" dirty="0" smtClean="0">
                <a:latin typeface="Times New Roman"/>
                <a:cs typeface="Times New Roman"/>
              </a:rPr>
              <a:t>The fan speed is automatically controlled using PWM (Pulse Width Modulation) based on temperature changes.</a:t>
            </a:r>
          </a:p>
          <a:p>
            <a:pPr marL="355600" marR="5080" indent="-342900" algn="just">
              <a:lnSpc>
                <a:spcPct val="150000"/>
              </a:lnSpc>
              <a:spcBef>
                <a:spcPts val="95"/>
              </a:spcBef>
              <a:buFont typeface="Arial" pitchFamily="34" charset="0"/>
              <a:buChar char="•"/>
            </a:pPr>
            <a:r>
              <a:rPr lang="en-US" sz="2000" dirty="0" smtClean="0">
                <a:latin typeface="Times New Roman"/>
                <a:cs typeface="Times New Roman"/>
              </a:rPr>
              <a:t>As the temperature increases, the fan speed increases automatically, and it decreases when the temperature drops.</a:t>
            </a:r>
          </a:p>
          <a:p>
            <a:pPr marL="355600" marR="5080" indent="-342900" algn="just">
              <a:lnSpc>
                <a:spcPct val="150000"/>
              </a:lnSpc>
              <a:spcBef>
                <a:spcPts val="95"/>
              </a:spcBef>
              <a:buFont typeface="Arial" pitchFamily="34" charset="0"/>
              <a:buChar char="•"/>
            </a:pPr>
            <a:r>
              <a:rPr lang="en-US" sz="2000" dirty="0" smtClean="0">
                <a:latin typeface="Times New Roman"/>
                <a:cs typeface="Times New Roman"/>
              </a:rPr>
              <a:t>The system operates without manual intervention, improving user comfort and energy efficiency.</a:t>
            </a:r>
          </a:p>
        </p:txBody>
      </p:sp>
      <p:sp>
        <p:nvSpPr>
          <p:cNvPr id="3" name="object 3"/>
          <p:cNvSpPr txBox="1">
            <a:spLocks noGrp="1"/>
          </p:cNvSpPr>
          <p:nvPr>
            <p:ph type="title"/>
          </p:nvPr>
        </p:nvSpPr>
        <p:spPr>
          <a:xfrm>
            <a:off x="3657600" y="609540"/>
            <a:ext cx="5228590" cy="635000"/>
          </a:xfrm>
          <a:prstGeom prst="rect">
            <a:avLst/>
          </a:prstGeom>
        </p:spPr>
        <p:txBody>
          <a:bodyPr vert="horz" wrap="square" lIns="0" tIns="12065" rIns="0" bIns="0" rtlCol="0">
            <a:spAutoFit/>
          </a:bodyPr>
          <a:lstStyle/>
          <a:p>
            <a:pPr marL="12700">
              <a:lnSpc>
                <a:spcPct val="100000"/>
              </a:lnSpc>
              <a:spcBef>
                <a:spcPts val="95"/>
              </a:spcBef>
            </a:pPr>
            <a:r>
              <a:rPr b="1" dirty="0">
                <a:latin typeface="Times New Roman"/>
                <a:cs typeface="Times New Roman"/>
              </a:rPr>
              <a:t>PROPOSED</a:t>
            </a:r>
            <a:r>
              <a:rPr b="1" spc="-125" dirty="0">
                <a:latin typeface="Times New Roman"/>
                <a:cs typeface="Times New Roman"/>
              </a:rPr>
              <a:t> </a:t>
            </a:r>
            <a:r>
              <a:rPr b="1" spc="-10" dirty="0">
                <a:latin typeface="Times New Roman"/>
                <a:cs typeface="Times New Roman"/>
              </a:rPr>
              <a:t>METHOD</a:t>
            </a:r>
          </a:p>
        </p:txBody>
      </p:sp>
      <p:sp>
        <p:nvSpPr>
          <p:cNvPr id="4" name="object 4"/>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pic>
        <p:nvPicPr>
          <p:cNvPr id="5" name="object 5"/>
          <p:cNvPicPr/>
          <p:nvPr/>
        </p:nvPicPr>
        <p:blipFill>
          <a:blip r:embed="rId2" cstate="print"/>
          <a:stretch>
            <a:fillRect/>
          </a:stretch>
        </p:blipFill>
        <p:spPr>
          <a:xfrm>
            <a:off x="10536428" y="351916"/>
            <a:ext cx="928687" cy="1193799"/>
          </a:xfrm>
          <a:prstGeom prst="rect">
            <a:avLst/>
          </a:prstGeom>
        </p:spPr>
      </p:pic>
      <p:pic>
        <p:nvPicPr>
          <p:cNvPr id="6" name="object 6"/>
          <p:cNvPicPr/>
          <p:nvPr/>
        </p:nvPicPr>
        <p:blipFill>
          <a:blip r:embed="rId3" cstate="print"/>
          <a:stretch>
            <a:fillRect/>
          </a:stretch>
        </p:blipFill>
        <p:spPr>
          <a:xfrm>
            <a:off x="548499" y="524913"/>
            <a:ext cx="944525" cy="640691"/>
          </a:xfrm>
          <a:prstGeom prst="rect">
            <a:avLst/>
          </a:prstGeom>
        </p:spPr>
      </p:pic>
      <p:sp>
        <p:nvSpPr>
          <p:cNvPr id="7" name="object 7"/>
          <p:cNvSpPr txBox="1">
            <a:spLocks noGrp="1"/>
          </p:cNvSpPr>
          <p:nvPr>
            <p:ph type="sldNum" sz="quarter" idx="7"/>
          </p:nvPr>
        </p:nvSpPr>
        <p:spPr>
          <a:prstGeom prst="rect">
            <a:avLst/>
          </a:prstGeom>
        </p:spPr>
        <p:txBody>
          <a:bodyPr vert="horz" wrap="square" lIns="0" tIns="13970" rIns="0" bIns="0" rtlCol="0">
            <a:spAutoFit/>
          </a:bodyPr>
          <a:lstStyle/>
          <a:p>
            <a:pPr marL="38100">
              <a:lnSpc>
                <a:spcPct val="100000"/>
              </a:lnSpc>
              <a:spcBef>
                <a:spcPts val="110"/>
              </a:spcBef>
            </a:pPr>
            <a:fld id="{81D60167-4931-47E6-BA6A-407CBD079E47}" type="slidenum">
              <a:rPr spc="-25" dirty="0"/>
              <a:pPr marL="38100">
                <a:lnSpc>
                  <a:spcPct val="100000"/>
                </a:lnSpc>
                <a:spcBef>
                  <a:spcPts val="110"/>
                </a:spcBef>
              </a:pPr>
              <a:t>11</a:t>
            </a:fld>
            <a:endParaRPr spc="-25" dirty="0"/>
          </a:p>
        </p:txBody>
      </p:sp>
      <p:sp>
        <p:nvSpPr>
          <p:cNvPr id="8" name="object 8"/>
          <p:cNvSpPr txBox="1"/>
          <p:nvPr/>
        </p:nvSpPr>
        <p:spPr>
          <a:xfrm>
            <a:off x="945896" y="6324609"/>
            <a:ext cx="583565" cy="222885"/>
          </a:xfrm>
          <a:prstGeom prst="rect">
            <a:avLst/>
          </a:prstGeom>
        </p:spPr>
        <p:txBody>
          <a:bodyPr vert="horz" wrap="square" lIns="0" tIns="0" rIns="0" bIns="0" rtlCol="0">
            <a:spAutoFit/>
          </a:bodyPr>
          <a:lstStyle/>
          <a:p>
            <a:pPr marL="12700">
              <a:lnSpc>
                <a:spcPts val="1630"/>
              </a:lnSpc>
            </a:pPr>
            <a:r>
              <a:rPr sz="1400" dirty="0">
                <a:solidFill>
                  <a:srgbClr val="232852"/>
                </a:solidFill>
                <a:latin typeface="Times New Roman"/>
                <a:cs typeface="Times New Roman"/>
              </a:rPr>
              <a:t>EDP</a:t>
            </a:r>
            <a:r>
              <a:rPr sz="1400" spc="-20" dirty="0">
                <a:solidFill>
                  <a:srgbClr val="232852"/>
                </a:solidFill>
                <a:latin typeface="Times New Roman"/>
                <a:cs typeface="Times New Roman"/>
              </a:rPr>
              <a:t> </a:t>
            </a:r>
            <a:r>
              <a:rPr sz="1400" spc="-25" dirty="0">
                <a:solidFill>
                  <a:srgbClr val="232852"/>
                </a:solidFill>
                <a:latin typeface="Times New Roman"/>
                <a:cs typeface="Times New Roman"/>
              </a:rPr>
              <a:t>III</a:t>
            </a:r>
            <a:endParaRPr sz="1400">
              <a:latin typeface="Times New Roman"/>
              <a:cs typeface="Times New Roman"/>
            </a:endParaRPr>
          </a:p>
        </p:txBody>
      </p:sp>
      <p:sp>
        <p:nvSpPr>
          <p:cNvPr id="9" name="object 9"/>
          <p:cNvSpPr txBox="1"/>
          <p:nvPr/>
        </p:nvSpPr>
        <p:spPr>
          <a:xfrm>
            <a:off x="9530842" y="6324947"/>
            <a:ext cx="2019300" cy="223520"/>
          </a:xfrm>
          <a:prstGeom prst="rect">
            <a:avLst/>
          </a:prstGeom>
        </p:spPr>
        <p:txBody>
          <a:bodyPr vert="horz" wrap="square" lIns="0" tIns="0" rIns="0" bIns="0" rtlCol="0">
            <a:spAutoFit/>
          </a:bodyPr>
          <a:lstStyle/>
          <a:p>
            <a:pPr marL="12700">
              <a:lnSpc>
                <a:spcPts val="1635"/>
              </a:lnSpc>
            </a:pPr>
            <a:r>
              <a:rPr sz="1400" dirty="0">
                <a:solidFill>
                  <a:srgbClr val="232852"/>
                </a:solidFill>
                <a:latin typeface="Times New Roman"/>
                <a:cs typeface="Times New Roman"/>
              </a:rPr>
              <a:t>Monday,</a:t>
            </a:r>
            <a:r>
              <a:rPr sz="1400" spc="-30"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15" dirty="0">
                <a:solidFill>
                  <a:srgbClr val="232852"/>
                </a:solidFill>
                <a:latin typeface="Times New Roman"/>
                <a:cs typeface="Times New Roman"/>
              </a:rPr>
              <a:t> </a:t>
            </a:r>
            <a:r>
              <a:rPr sz="1400" dirty="0">
                <a:solidFill>
                  <a:srgbClr val="232852"/>
                </a:solidFill>
                <a:latin typeface="Times New Roman"/>
                <a:cs typeface="Times New Roman"/>
              </a:rPr>
              <a:t>1,</a:t>
            </a:r>
            <a:r>
              <a:rPr sz="1400" spc="-25" dirty="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81880" y="107391"/>
            <a:ext cx="4225925" cy="635000"/>
          </a:xfrm>
          <a:prstGeom prst="rect">
            <a:avLst/>
          </a:prstGeom>
        </p:spPr>
        <p:txBody>
          <a:bodyPr vert="horz" wrap="square" lIns="0" tIns="12065" rIns="0" bIns="0" rtlCol="0">
            <a:spAutoFit/>
          </a:bodyPr>
          <a:lstStyle/>
          <a:p>
            <a:pPr marL="12700">
              <a:lnSpc>
                <a:spcPct val="100000"/>
              </a:lnSpc>
              <a:spcBef>
                <a:spcPts val="95"/>
              </a:spcBef>
            </a:pPr>
            <a:r>
              <a:rPr b="1" spc="-10" dirty="0">
                <a:latin typeface="Times New Roman"/>
                <a:cs typeface="Times New Roman"/>
              </a:rPr>
              <a:t>METHODOLOGY</a:t>
            </a:r>
          </a:p>
        </p:txBody>
      </p:sp>
      <p:sp>
        <p:nvSpPr>
          <p:cNvPr id="3" name="object 3"/>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4" name="object 4"/>
          <p:cNvSpPr txBox="1"/>
          <p:nvPr/>
        </p:nvSpPr>
        <p:spPr>
          <a:xfrm>
            <a:off x="485257" y="1524000"/>
            <a:ext cx="10820400" cy="2846933"/>
          </a:xfrm>
          <a:prstGeom prst="rect">
            <a:avLst/>
          </a:prstGeom>
        </p:spPr>
        <p:txBody>
          <a:bodyPr vert="horz" wrap="square" lIns="0" tIns="12700" rIns="0" bIns="0" rtlCol="0">
            <a:spAutoFit/>
          </a:bodyPr>
          <a:lstStyle/>
          <a:p>
            <a:pPr marL="469900" indent="-342900">
              <a:lnSpc>
                <a:spcPct val="150000"/>
              </a:lnSpc>
              <a:spcBef>
                <a:spcPts val="100"/>
              </a:spcBef>
              <a:buFont typeface="Arial" pitchFamily="34" charset="0"/>
              <a:buChar char="•"/>
            </a:pPr>
            <a:r>
              <a:rPr lang="en-US" sz="2000" dirty="0" smtClean="0">
                <a:latin typeface="Times New Roman"/>
                <a:cs typeface="Times New Roman"/>
              </a:rPr>
              <a:t>The temperature sensor is placed in the room to continuously sense ambient temperature.</a:t>
            </a:r>
          </a:p>
          <a:p>
            <a:pPr marL="469900" indent="-342900">
              <a:lnSpc>
                <a:spcPct val="150000"/>
              </a:lnSpc>
              <a:spcBef>
                <a:spcPts val="100"/>
              </a:spcBef>
              <a:buFont typeface="Arial" pitchFamily="34" charset="0"/>
              <a:buChar char="•"/>
            </a:pPr>
            <a:r>
              <a:rPr lang="en-US" sz="2000" dirty="0" smtClean="0">
                <a:latin typeface="Times New Roman"/>
                <a:cs typeface="Times New Roman"/>
              </a:rPr>
              <a:t>The sensed temperature data is sent to the </a:t>
            </a:r>
            <a:r>
              <a:rPr lang="en-US" sz="2000" dirty="0" err="1" smtClean="0">
                <a:latin typeface="Times New Roman"/>
                <a:cs typeface="Times New Roman"/>
              </a:rPr>
              <a:t>Arduino</a:t>
            </a:r>
            <a:r>
              <a:rPr lang="en-US" sz="2000" dirty="0" smtClean="0">
                <a:latin typeface="Times New Roman"/>
                <a:cs typeface="Times New Roman"/>
              </a:rPr>
              <a:t> microcontroller for processing.</a:t>
            </a:r>
          </a:p>
          <a:p>
            <a:pPr marL="469900" indent="-342900">
              <a:lnSpc>
                <a:spcPct val="150000"/>
              </a:lnSpc>
              <a:spcBef>
                <a:spcPts val="100"/>
              </a:spcBef>
              <a:buFont typeface="Arial" pitchFamily="34" charset="0"/>
              <a:buChar char="•"/>
            </a:pPr>
            <a:r>
              <a:rPr lang="en-US" sz="2000" dirty="0" smtClean="0">
                <a:latin typeface="Times New Roman"/>
                <a:cs typeface="Times New Roman"/>
              </a:rPr>
              <a:t>The microcontroller compares the temperature with predefined threshold values.</a:t>
            </a:r>
          </a:p>
          <a:p>
            <a:pPr marL="469900" indent="-342900">
              <a:lnSpc>
                <a:spcPct val="150000"/>
              </a:lnSpc>
              <a:spcBef>
                <a:spcPts val="100"/>
              </a:spcBef>
              <a:buFont typeface="Arial" pitchFamily="34" charset="0"/>
              <a:buChar char="•"/>
            </a:pPr>
            <a:r>
              <a:rPr lang="en-US" sz="2000" dirty="0" smtClean="0">
                <a:latin typeface="Times New Roman"/>
                <a:cs typeface="Times New Roman"/>
              </a:rPr>
              <a:t>Based on the comparison, an appropriate PWM signal is generated.</a:t>
            </a:r>
          </a:p>
          <a:p>
            <a:pPr marL="469900" indent="-342900">
              <a:lnSpc>
                <a:spcPct val="150000"/>
              </a:lnSpc>
              <a:spcBef>
                <a:spcPts val="100"/>
              </a:spcBef>
              <a:buFont typeface="Arial" pitchFamily="34" charset="0"/>
              <a:buChar char="•"/>
            </a:pPr>
            <a:r>
              <a:rPr lang="en-US" sz="2000" dirty="0" smtClean="0">
                <a:latin typeface="Times New Roman"/>
                <a:cs typeface="Times New Roman"/>
              </a:rPr>
              <a:t>The PWM signal controls the fan speed through a driver circuit/transistor.</a:t>
            </a:r>
          </a:p>
          <a:p>
            <a:pPr marL="469900" indent="-342900">
              <a:lnSpc>
                <a:spcPct val="150000"/>
              </a:lnSpc>
              <a:spcBef>
                <a:spcPts val="100"/>
              </a:spcBef>
              <a:buFont typeface="Arial" pitchFamily="34" charset="0"/>
              <a:buChar char="•"/>
            </a:pPr>
            <a:r>
              <a:rPr lang="en-US" sz="2000" dirty="0" smtClean="0">
                <a:latin typeface="Times New Roman"/>
                <a:cs typeface="Times New Roman"/>
              </a:rPr>
              <a:t>The fan speed increases or decreases automatically according to temperature changes.</a:t>
            </a:r>
            <a:endParaRPr sz="2000" dirty="0">
              <a:latin typeface="Times New Roman"/>
              <a:cs typeface="Times New Roman"/>
            </a:endParaRPr>
          </a:p>
        </p:txBody>
      </p:sp>
      <p:sp>
        <p:nvSpPr>
          <p:cNvPr id="5" name="object 5"/>
          <p:cNvSpPr txBox="1"/>
          <p:nvPr/>
        </p:nvSpPr>
        <p:spPr>
          <a:xfrm>
            <a:off x="10781007" y="1175765"/>
            <a:ext cx="869315" cy="253365"/>
          </a:xfrm>
          <a:prstGeom prst="rect">
            <a:avLst/>
          </a:prstGeom>
        </p:spPr>
        <p:txBody>
          <a:bodyPr vert="horz" wrap="square" lIns="0" tIns="0" rIns="0" bIns="0" rtlCol="0">
            <a:spAutoFit/>
          </a:bodyPr>
          <a:lstStyle/>
          <a:p>
            <a:pPr>
              <a:lnSpc>
                <a:spcPts val="1964"/>
              </a:lnSpc>
            </a:pPr>
            <a:r>
              <a:rPr sz="1800" dirty="0">
                <a:latin typeface="Times New Roman"/>
                <a:cs typeface="Times New Roman"/>
              </a:rPr>
              <a:t>sing</a:t>
            </a:r>
            <a:r>
              <a:rPr sz="1800" spc="-10" dirty="0">
                <a:latin typeface="Times New Roman"/>
                <a:cs typeface="Times New Roman"/>
              </a:rPr>
              <a:t> </a:t>
            </a:r>
            <a:r>
              <a:rPr sz="1800" spc="-20" dirty="0">
                <a:latin typeface="Times New Roman"/>
                <a:cs typeface="Times New Roman"/>
              </a:rPr>
              <a:t>zone</a:t>
            </a:r>
            <a:endParaRPr sz="1800">
              <a:latin typeface="Times New Roman"/>
              <a:cs typeface="Times New Roman"/>
            </a:endParaRPr>
          </a:p>
        </p:txBody>
      </p:sp>
      <p:pic>
        <p:nvPicPr>
          <p:cNvPr id="7" name="object 7"/>
          <p:cNvPicPr/>
          <p:nvPr/>
        </p:nvPicPr>
        <p:blipFill>
          <a:blip r:embed="rId2" cstate="print"/>
          <a:stretch>
            <a:fillRect/>
          </a:stretch>
        </p:blipFill>
        <p:spPr>
          <a:xfrm>
            <a:off x="10786998" y="123825"/>
            <a:ext cx="928687" cy="1193800"/>
          </a:xfrm>
          <a:prstGeom prst="rect">
            <a:avLst/>
          </a:prstGeom>
        </p:spPr>
      </p:pic>
      <p:pic>
        <p:nvPicPr>
          <p:cNvPr id="8" name="object 8"/>
          <p:cNvPicPr/>
          <p:nvPr/>
        </p:nvPicPr>
        <p:blipFill>
          <a:blip r:embed="rId3" cstate="print"/>
          <a:stretch>
            <a:fillRect/>
          </a:stretch>
        </p:blipFill>
        <p:spPr>
          <a:xfrm>
            <a:off x="519444" y="321687"/>
            <a:ext cx="842297" cy="631773"/>
          </a:xfrm>
          <a:prstGeom prst="rect">
            <a:avLst/>
          </a:prstGeom>
        </p:spPr>
      </p:pic>
      <p:sp>
        <p:nvSpPr>
          <p:cNvPr id="9" name="object 9"/>
          <p:cNvSpPr txBox="1"/>
          <p:nvPr/>
        </p:nvSpPr>
        <p:spPr>
          <a:xfrm>
            <a:off x="388111" y="6315122"/>
            <a:ext cx="223520" cy="244475"/>
          </a:xfrm>
          <a:prstGeom prst="rect">
            <a:avLst/>
          </a:prstGeom>
        </p:spPr>
        <p:txBody>
          <a:bodyPr vert="horz" wrap="square" lIns="0" tIns="13970" rIns="0" bIns="0" rtlCol="0">
            <a:spAutoFit/>
          </a:bodyPr>
          <a:lstStyle/>
          <a:p>
            <a:pPr marL="12700">
              <a:lnSpc>
                <a:spcPct val="100000"/>
              </a:lnSpc>
              <a:spcBef>
                <a:spcPts val="110"/>
              </a:spcBef>
            </a:pPr>
            <a:r>
              <a:rPr sz="1400" spc="-25" dirty="0">
                <a:solidFill>
                  <a:srgbClr val="FFFFFF"/>
                </a:solidFill>
                <a:latin typeface="Tahoma"/>
                <a:cs typeface="Tahoma"/>
              </a:rPr>
              <a:t>14</a:t>
            </a:r>
            <a:endParaRPr sz="1400">
              <a:latin typeface="Tahoma"/>
              <a:cs typeface="Tahoma"/>
            </a:endParaRPr>
          </a:p>
        </p:txBody>
      </p:sp>
      <p:sp>
        <p:nvSpPr>
          <p:cNvPr id="10" name="object 10"/>
          <p:cNvSpPr txBox="1"/>
          <p:nvPr/>
        </p:nvSpPr>
        <p:spPr>
          <a:xfrm>
            <a:off x="9232138" y="6430593"/>
            <a:ext cx="2217420" cy="224790"/>
          </a:xfrm>
          <a:prstGeom prst="rect">
            <a:avLst/>
          </a:prstGeom>
        </p:spPr>
        <p:txBody>
          <a:bodyPr vert="horz" wrap="square" lIns="0" tIns="0" rIns="0" bIns="0" rtlCol="0">
            <a:spAutoFit/>
          </a:bodyPr>
          <a:lstStyle/>
          <a:p>
            <a:pPr marL="12700">
              <a:lnSpc>
                <a:spcPts val="1650"/>
              </a:lnSpc>
            </a:pPr>
            <a:r>
              <a:rPr sz="1400" dirty="0">
                <a:latin typeface="Arial MT"/>
                <a:cs typeface="Arial MT"/>
              </a:rPr>
              <a:t>Monday,</a:t>
            </a:r>
            <a:r>
              <a:rPr sz="1400" spc="-35" dirty="0">
                <a:latin typeface="Arial MT"/>
                <a:cs typeface="Arial MT"/>
              </a:rPr>
              <a:t> </a:t>
            </a:r>
            <a:r>
              <a:rPr sz="1400" dirty="0">
                <a:latin typeface="Arial MT"/>
                <a:cs typeface="Arial MT"/>
              </a:rPr>
              <a:t>December</a:t>
            </a:r>
            <a:r>
              <a:rPr sz="1400" spc="-35" dirty="0">
                <a:latin typeface="Arial MT"/>
                <a:cs typeface="Arial MT"/>
              </a:rPr>
              <a:t> </a:t>
            </a:r>
            <a:r>
              <a:rPr sz="1400" dirty="0">
                <a:latin typeface="Arial MT"/>
                <a:cs typeface="Arial MT"/>
              </a:rPr>
              <a:t>1,</a:t>
            </a:r>
            <a:r>
              <a:rPr sz="1400" spc="-15" dirty="0">
                <a:latin typeface="Arial MT"/>
                <a:cs typeface="Arial MT"/>
              </a:rPr>
              <a:t> </a:t>
            </a:r>
            <a:r>
              <a:rPr sz="1400" spc="-20" dirty="0">
                <a:latin typeface="Arial MT"/>
                <a:cs typeface="Arial MT"/>
              </a:rPr>
              <a:t>2025</a:t>
            </a:r>
            <a:endParaRPr sz="1400">
              <a:latin typeface="Arial MT"/>
              <a:cs typeface="Arial MT"/>
            </a:endParaRPr>
          </a:p>
        </p:txBody>
      </p:sp>
      <p:sp>
        <p:nvSpPr>
          <p:cNvPr id="11" name="object 11"/>
          <p:cNvSpPr txBox="1"/>
          <p:nvPr/>
        </p:nvSpPr>
        <p:spPr>
          <a:xfrm>
            <a:off x="1038860" y="6483933"/>
            <a:ext cx="591185" cy="224790"/>
          </a:xfrm>
          <a:prstGeom prst="rect">
            <a:avLst/>
          </a:prstGeom>
        </p:spPr>
        <p:txBody>
          <a:bodyPr vert="horz" wrap="square" lIns="0" tIns="0" rIns="0" bIns="0" rtlCol="0">
            <a:spAutoFit/>
          </a:bodyPr>
          <a:lstStyle/>
          <a:p>
            <a:pPr marL="12700">
              <a:lnSpc>
                <a:spcPts val="1650"/>
              </a:lnSpc>
            </a:pPr>
            <a:r>
              <a:rPr sz="1400" dirty="0">
                <a:latin typeface="Arial MT"/>
                <a:cs typeface="Arial MT"/>
              </a:rPr>
              <a:t>EDP</a:t>
            </a:r>
            <a:r>
              <a:rPr sz="1400" spc="-20" dirty="0">
                <a:latin typeface="Arial MT"/>
                <a:cs typeface="Arial MT"/>
              </a:rPr>
              <a:t> </a:t>
            </a:r>
            <a:r>
              <a:rPr sz="1400" spc="-25" dirty="0">
                <a:latin typeface="Arial MT"/>
                <a:cs typeface="Arial MT"/>
              </a:rPr>
              <a:t>III</a:t>
            </a:r>
            <a:endParaRPr sz="1400">
              <a:latin typeface="Arial MT"/>
              <a:cs typeface="Arial M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22245" y="-44450"/>
            <a:ext cx="7355205" cy="635000"/>
          </a:xfrm>
          <a:prstGeom prst="rect">
            <a:avLst/>
          </a:prstGeom>
        </p:spPr>
        <p:txBody>
          <a:bodyPr vert="horz" wrap="square" lIns="0" tIns="12065" rIns="0" bIns="0" rtlCol="0">
            <a:spAutoFit/>
          </a:bodyPr>
          <a:lstStyle/>
          <a:p>
            <a:pPr marL="12700">
              <a:lnSpc>
                <a:spcPct val="100000"/>
              </a:lnSpc>
              <a:spcBef>
                <a:spcPts val="95"/>
              </a:spcBef>
            </a:pPr>
            <a:r>
              <a:rPr b="1" spc="-10" dirty="0">
                <a:latin typeface="Times New Roman"/>
                <a:cs typeface="Times New Roman"/>
              </a:rPr>
              <a:t>HARDWARE</a:t>
            </a:r>
            <a:r>
              <a:rPr b="1" spc="-125" dirty="0">
                <a:latin typeface="Times New Roman"/>
                <a:cs typeface="Times New Roman"/>
              </a:rPr>
              <a:t> </a:t>
            </a:r>
            <a:r>
              <a:rPr b="1" dirty="0">
                <a:latin typeface="Times New Roman"/>
                <a:cs typeface="Times New Roman"/>
              </a:rPr>
              <a:t>AND</a:t>
            </a:r>
            <a:r>
              <a:rPr b="1" spc="-150" dirty="0">
                <a:latin typeface="Times New Roman"/>
                <a:cs typeface="Times New Roman"/>
              </a:rPr>
              <a:t> </a:t>
            </a:r>
            <a:r>
              <a:rPr b="1" spc="-10" dirty="0">
                <a:latin typeface="Times New Roman"/>
                <a:cs typeface="Times New Roman"/>
              </a:rPr>
              <a:t>SOFTWARE</a:t>
            </a:r>
          </a:p>
        </p:txBody>
      </p:sp>
      <p:sp>
        <p:nvSpPr>
          <p:cNvPr id="3" name="object 3"/>
          <p:cNvSpPr txBox="1"/>
          <p:nvPr/>
        </p:nvSpPr>
        <p:spPr>
          <a:xfrm>
            <a:off x="4571238" y="564845"/>
            <a:ext cx="3659504" cy="635000"/>
          </a:xfrm>
          <a:prstGeom prst="rect">
            <a:avLst/>
          </a:prstGeom>
        </p:spPr>
        <p:txBody>
          <a:bodyPr vert="horz" wrap="square" lIns="0" tIns="12065" rIns="0" bIns="0" rtlCol="0">
            <a:spAutoFit/>
          </a:bodyPr>
          <a:lstStyle/>
          <a:p>
            <a:pPr marL="12700">
              <a:lnSpc>
                <a:spcPct val="100000"/>
              </a:lnSpc>
              <a:spcBef>
                <a:spcPts val="95"/>
              </a:spcBef>
            </a:pPr>
            <a:r>
              <a:rPr sz="4000" b="1" spc="-10" dirty="0">
                <a:solidFill>
                  <a:srgbClr val="0D56C4"/>
                </a:solidFill>
                <a:latin typeface="Times New Roman"/>
                <a:cs typeface="Times New Roman"/>
              </a:rPr>
              <a:t>COMPONENTS</a:t>
            </a:r>
            <a:endParaRPr sz="4000" dirty="0">
              <a:latin typeface="Times New Roman"/>
              <a:cs typeface="Times New Roman"/>
            </a:endParaRPr>
          </a:p>
        </p:txBody>
      </p:sp>
      <p:sp>
        <p:nvSpPr>
          <p:cNvPr id="4" name="object 4"/>
          <p:cNvSpPr txBox="1"/>
          <p:nvPr/>
        </p:nvSpPr>
        <p:spPr>
          <a:xfrm>
            <a:off x="9634728" y="6253184"/>
            <a:ext cx="1707514" cy="197485"/>
          </a:xfrm>
          <a:prstGeom prst="rect">
            <a:avLst/>
          </a:prstGeom>
        </p:spPr>
        <p:txBody>
          <a:bodyPr vert="horz" wrap="square" lIns="0" tIns="0" rIns="0" bIns="0" rtlCol="0">
            <a:spAutoFit/>
          </a:bodyPr>
          <a:lstStyle/>
          <a:p>
            <a:pPr>
              <a:lnSpc>
                <a:spcPts val="1530"/>
              </a:lnSpc>
            </a:pPr>
            <a:r>
              <a:rPr sz="1400" dirty="0">
                <a:solidFill>
                  <a:srgbClr val="232852"/>
                </a:solidFill>
                <a:latin typeface="Times New Roman"/>
                <a:cs typeface="Times New Roman"/>
              </a:rPr>
              <a:t>Day, Month-date</a:t>
            </a:r>
            <a:r>
              <a:rPr sz="1400" spc="-50" dirty="0">
                <a:solidFill>
                  <a:srgbClr val="232852"/>
                </a:solidFill>
                <a:latin typeface="Times New Roman"/>
                <a:cs typeface="Times New Roman"/>
              </a:rPr>
              <a:t> </a:t>
            </a:r>
            <a:r>
              <a:rPr sz="1400" dirty="0">
                <a:solidFill>
                  <a:srgbClr val="232852"/>
                </a:solidFill>
                <a:latin typeface="Times New Roman"/>
                <a:cs typeface="Times New Roman"/>
              </a:rPr>
              <a:t>,</a:t>
            </a:r>
            <a:r>
              <a:rPr sz="1400" spc="-15" dirty="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a:latin typeface="Times New Roman"/>
              <a:cs typeface="Times New Roman"/>
            </a:endParaRPr>
          </a:p>
        </p:txBody>
      </p:sp>
      <p:sp>
        <p:nvSpPr>
          <p:cNvPr id="5" name="object 5"/>
          <p:cNvSpPr txBox="1"/>
          <p:nvPr/>
        </p:nvSpPr>
        <p:spPr>
          <a:xfrm>
            <a:off x="1213713" y="6224533"/>
            <a:ext cx="824230" cy="197485"/>
          </a:xfrm>
          <a:prstGeom prst="rect">
            <a:avLst/>
          </a:prstGeom>
        </p:spPr>
        <p:txBody>
          <a:bodyPr vert="horz" wrap="square" lIns="0" tIns="0" rIns="0" bIns="0" rtlCol="0">
            <a:spAutoFit/>
          </a:bodyPr>
          <a:lstStyle/>
          <a:p>
            <a:pPr>
              <a:lnSpc>
                <a:spcPts val="1530"/>
              </a:lnSpc>
            </a:pPr>
            <a:r>
              <a:rPr sz="1400" dirty="0">
                <a:solidFill>
                  <a:srgbClr val="232852"/>
                </a:solidFill>
                <a:latin typeface="Times New Roman"/>
                <a:cs typeface="Times New Roman"/>
              </a:rPr>
              <a:t>REVIEW</a:t>
            </a:r>
            <a:r>
              <a:rPr sz="1400" spc="-50" dirty="0">
                <a:solidFill>
                  <a:srgbClr val="232852"/>
                </a:solidFill>
                <a:latin typeface="Times New Roman"/>
                <a:cs typeface="Times New Roman"/>
              </a:rPr>
              <a:t> 1</a:t>
            </a:r>
            <a:endParaRPr sz="1400">
              <a:latin typeface="Times New Roman"/>
              <a:cs typeface="Times New Roman"/>
            </a:endParaRPr>
          </a:p>
        </p:txBody>
      </p:sp>
      <p:sp>
        <p:nvSpPr>
          <p:cNvPr id="6" name="object 6"/>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7" name="object 7"/>
          <p:cNvSpPr txBox="1"/>
          <p:nvPr/>
        </p:nvSpPr>
        <p:spPr>
          <a:xfrm>
            <a:off x="388111" y="6316167"/>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Tahoma"/>
                <a:cs typeface="Tahoma"/>
              </a:rPr>
              <a:t>15</a:t>
            </a:r>
            <a:endParaRPr sz="1400">
              <a:latin typeface="Tahoma"/>
              <a:cs typeface="Tahoma"/>
            </a:endParaRPr>
          </a:p>
        </p:txBody>
      </p:sp>
      <p:graphicFrame>
        <p:nvGraphicFramePr>
          <p:cNvPr id="8" name="object 8"/>
          <p:cNvGraphicFramePr>
            <a:graphicFrameLocks noGrp="1"/>
          </p:cNvGraphicFramePr>
          <p:nvPr>
            <p:extLst>
              <p:ext uri="{D42A27DB-BD31-4B8C-83A1-F6EECF244321}">
                <p14:modId xmlns:p14="http://schemas.microsoft.com/office/powerpoint/2010/main" val="2239164227"/>
              </p:ext>
            </p:extLst>
          </p:nvPr>
        </p:nvGraphicFramePr>
        <p:xfrm>
          <a:off x="774877" y="1524003"/>
          <a:ext cx="10629900" cy="3962399"/>
        </p:xfrm>
        <a:graphic>
          <a:graphicData uri="http://schemas.openxmlformats.org/drawingml/2006/table">
            <a:tbl>
              <a:tblPr firstRow="1" bandRow="1">
                <a:tableStyleId>{2D5ABB26-0587-4C30-8999-92F81FD0307C}</a:tableStyleId>
              </a:tblPr>
              <a:tblGrid>
                <a:gridCol w="3543300"/>
                <a:gridCol w="3543300"/>
                <a:gridCol w="3543300"/>
              </a:tblGrid>
              <a:tr h="480069">
                <a:tc>
                  <a:txBody>
                    <a:bodyPr/>
                    <a:lstStyle/>
                    <a:p>
                      <a:pPr marL="635" algn="ctr">
                        <a:lnSpc>
                          <a:spcPct val="100000"/>
                        </a:lnSpc>
                        <a:spcBef>
                          <a:spcPts val="835"/>
                        </a:spcBef>
                      </a:pPr>
                      <a:r>
                        <a:rPr sz="1800" b="1" spc="-20" dirty="0">
                          <a:solidFill>
                            <a:srgbClr val="FFFFFF"/>
                          </a:solidFill>
                          <a:latin typeface="Times New Roman"/>
                          <a:cs typeface="Times New Roman"/>
                        </a:rPr>
                        <a:t>s.no</a:t>
                      </a:r>
                      <a:endParaRPr sz="1800" dirty="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966AC"/>
                    </a:solidFill>
                  </a:tcPr>
                </a:tc>
                <a:tc>
                  <a:txBody>
                    <a:bodyPr/>
                    <a:lstStyle/>
                    <a:p>
                      <a:pPr algn="ctr">
                        <a:lnSpc>
                          <a:spcPct val="100000"/>
                        </a:lnSpc>
                        <a:spcBef>
                          <a:spcPts val="835"/>
                        </a:spcBef>
                      </a:pPr>
                      <a:r>
                        <a:rPr sz="1800" b="1" dirty="0">
                          <a:solidFill>
                            <a:srgbClr val="FFFFFF"/>
                          </a:solidFill>
                          <a:latin typeface="Times New Roman"/>
                          <a:cs typeface="Times New Roman"/>
                        </a:rPr>
                        <a:t>Hardware</a:t>
                      </a:r>
                      <a:r>
                        <a:rPr sz="1800" b="1" spc="-75" dirty="0">
                          <a:solidFill>
                            <a:srgbClr val="FFFFFF"/>
                          </a:solidFill>
                          <a:latin typeface="Times New Roman"/>
                          <a:cs typeface="Times New Roman"/>
                        </a:rPr>
                        <a:t> </a:t>
                      </a:r>
                      <a:r>
                        <a:rPr sz="1800" b="1" spc="-10" dirty="0">
                          <a:solidFill>
                            <a:srgbClr val="FFFFFF"/>
                          </a:solidFill>
                          <a:latin typeface="Times New Roman"/>
                          <a:cs typeface="Times New Roman"/>
                        </a:rPr>
                        <a:t>Components</a:t>
                      </a:r>
                      <a:endParaRPr sz="180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966AC"/>
                    </a:solidFill>
                  </a:tcPr>
                </a:tc>
                <a:tc>
                  <a:txBody>
                    <a:bodyPr/>
                    <a:lstStyle/>
                    <a:p>
                      <a:pPr algn="ctr">
                        <a:lnSpc>
                          <a:spcPct val="100000"/>
                        </a:lnSpc>
                        <a:spcBef>
                          <a:spcPts val="835"/>
                        </a:spcBef>
                      </a:pPr>
                      <a:r>
                        <a:rPr sz="1800" b="1" spc="-10" dirty="0">
                          <a:solidFill>
                            <a:srgbClr val="FFFFFF"/>
                          </a:solidFill>
                          <a:latin typeface="Times New Roman"/>
                          <a:cs typeface="Times New Roman"/>
                        </a:rPr>
                        <a:t>Quantity</a:t>
                      </a:r>
                      <a:endParaRPr sz="1800" dirty="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966AC"/>
                    </a:solidFill>
                  </a:tcPr>
                </a:tc>
              </a:tr>
              <a:tr h="480069">
                <a:tc>
                  <a:txBody>
                    <a:bodyPr/>
                    <a:lstStyle/>
                    <a:p>
                      <a:pPr algn="ctr">
                        <a:lnSpc>
                          <a:spcPct val="100000"/>
                        </a:lnSpc>
                        <a:spcBef>
                          <a:spcPts val="835"/>
                        </a:spcBef>
                      </a:pPr>
                      <a:r>
                        <a:rPr sz="1800" spc="-25" dirty="0">
                          <a:latin typeface="Times New Roman"/>
                          <a:cs typeface="Times New Roman"/>
                        </a:rPr>
                        <a:t>1.</a:t>
                      </a:r>
                      <a:endParaRPr sz="1800">
                        <a:latin typeface="Times New Roman"/>
                        <a:cs typeface="Times New Roman"/>
                      </a:endParaRPr>
                    </a:p>
                  </a:txBody>
                  <a:tcPr marL="0" marR="0" marT="1060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D2E1"/>
                    </a:solidFill>
                  </a:tcPr>
                </a:tc>
                <a:tc>
                  <a:txBody>
                    <a:bodyPr/>
                    <a:lstStyle/>
                    <a:p>
                      <a:pPr marL="0" marR="0" indent="0" algn="ctr" defTabSz="914400" eaLnBrk="1" fontAlgn="auto" latinLnBrk="0" hangingPunct="1">
                        <a:lnSpc>
                          <a:spcPct val="100000"/>
                        </a:lnSpc>
                        <a:spcBef>
                          <a:spcPts val="835"/>
                        </a:spcBef>
                        <a:spcAft>
                          <a:spcPts val="0"/>
                        </a:spcAft>
                        <a:buClrTx/>
                        <a:buSzTx/>
                        <a:buFontTx/>
                        <a:buNone/>
                        <a:tabLst/>
                        <a:defRPr/>
                      </a:pPr>
                      <a:r>
                        <a:rPr lang="en-US" sz="1800" spc="-10" dirty="0" smtClean="0">
                          <a:latin typeface="Times New Roman"/>
                          <a:cs typeface="Times New Roman"/>
                        </a:rPr>
                        <a:t>Bread</a:t>
                      </a:r>
                      <a:r>
                        <a:rPr lang="en-US" sz="1800" spc="-10" baseline="0" dirty="0" smtClean="0">
                          <a:latin typeface="Times New Roman"/>
                          <a:cs typeface="Times New Roman"/>
                        </a:rPr>
                        <a:t> Board</a:t>
                      </a:r>
                      <a:endParaRPr lang="en-US" sz="1800" dirty="0" smtClean="0">
                        <a:latin typeface="Times New Roman"/>
                        <a:cs typeface="Times New Roman"/>
                      </a:endParaRPr>
                    </a:p>
                  </a:txBody>
                  <a:tcPr marL="0" marR="0" marT="1060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D2E1"/>
                    </a:solidFill>
                  </a:tcPr>
                </a:tc>
                <a:tc>
                  <a:txBody>
                    <a:bodyPr/>
                    <a:lstStyle/>
                    <a:p>
                      <a:pPr marL="635" algn="ctr">
                        <a:lnSpc>
                          <a:spcPct val="100000"/>
                        </a:lnSpc>
                        <a:spcBef>
                          <a:spcPts val="835"/>
                        </a:spcBef>
                      </a:pPr>
                      <a:r>
                        <a:rPr sz="1800" spc="-50" dirty="0">
                          <a:latin typeface="Times New Roman"/>
                          <a:cs typeface="Times New Roman"/>
                        </a:rPr>
                        <a:t>1</a:t>
                      </a:r>
                      <a:endParaRPr sz="1800" dirty="0">
                        <a:latin typeface="Times New Roman"/>
                        <a:cs typeface="Times New Roman"/>
                      </a:endParaRPr>
                    </a:p>
                  </a:txBody>
                  <a:tcPr marL="0" marR="0" marT="1060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ED2E1"/>
                    </a:solidFill>
                  </a:tcPr>
                </a:tc>
              </a:tr>
              <a:tr h="480069">
                <a:tc>
                  <a:txBody>
                    <a:bodyPr/>
                    <a:lstStyle/>
                    <a:p>
                      <a:pPr algn="ctr">
                        <a:lnSpc>
                          <a:spcPct val="100000"/>
                        </a:lnSpc>
                        <a:spcBef>
                          <a:spcPts val="835"/>
                        </a:spcBef>
                      </a:pPr>
                      <a:r>
                        <a:rPr sz="1800" spc="-25" dirty="0">
                          <a:latin typeface="Times New Roman"/>
                          <a:cs typeface="Times New Roman"/>
                        </a:rPr>
                        <a:t>2.</a:t>
                      </a:r>
                      <a:endParaRPr sz="180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marL="1270" algn="ctr">
                        <a:lnSpc>
                          <a:spcPct val="100000"/>
                        </a:lnSpc>
                        <a:spcBef>
                          <a:spcPts val="835"/>
                        </a:spcBef>
                      </a:pPr>
                      <a:r>
                        <a:rPr lang="en-GB" sz="1800" dirty="0" err="1" smtClean="0">
                          <a:latin typeface="Times New Roman"/>
                          <a:cs typeface="Times New Roman"/>
                        </a:rPr>
                        <a:t>Arduino</a:t>
                      </a:r>
                      <a:r>
                        <a:rPr lang="en-GB" sz="1800" baseline="0" dirty="0" smtClean="0">
                          <a:latin typeface="Times New Roman"/>
                          <a:cs typeface="Times New Roman"/>
                        </a:rPr>
                        <a:t> UNO</a:t>
                      </a:r>
                      <a:endParaRPr sz="1800" dirty="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marL="635" algn="ctr">
                        <a:lnSpc>
                          <a:spcPct val="100000"/>
                        </a:lnSpc>
                        <a:spcBef>
                          <a:spcPts val="835"/>
                        </a:spcBef>
                      </a:pPr>
                      <a:r>
                        <a:rPr sz="1800" spc="-50" dirty="0">
                          <a:latin typeface="Times New Roman"/>
                          <a:cs typeface="Times New Roman"/>
                        </a:rPr>
                        <a:t>1</a:t>
                      </a:r>
                      <a:endParaRPr sz="180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r>
              <a:tr h="480069">
                <a:tc>
                  <a:txBody>
                    <a:bodyPr/>
                    <a:lstStyle/>
                    <a:p>
                      <a:pPr algn="ctr">
                        <a:lnSpc>
                          <a:spcPct val="100000"/>
                        </a:lnSpc>
                        <a:spcBef>
                          <a:spcPts val="835"/>
                        </a:spcBef>
                      </a:pPr>
                      <a:r>
                        <a:rPr sz="1800" spc="-25" dirty="0">
                          <a:latin typeface="Times New Roman"/>
                          <a:cs typeface="Times New Roman"/>
                        </a:rPr>
                        <a:t>3.</a:t>
                      </a:r>
                      <a:endParaRPr sz="180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D2E1"/>
                    </a:solidFill>
                  </a:tcPr>
                </a:tc>
                <a:tc>
                  <a:txBody>
                    <a:bodyPr/>
                    <a:lstStyle/>
                    <a:p>
                      <a:pPr algn="ctr">
                        <a:lnSpc>
                          <a:spcPct val="100000"/>
                        </a:lnSpc>
                        <a:spcBef>
                          <a:spcPts val="835"/>
                        </a:spcBef>
                      </a:pPr>
                      <a:r>
                        <a:rPr lang="en-GB" sz="1800" dirty="0" smtClean="0">
                          <a:latin typeface="Times New Roman"/>
                          <a:cs typeface="Times New Roman"/>
                        </a:rPr>
                        <a:t>12V</a:t>
                      </a:r>
                      <a:r>
                        <a:rPr lang="en-GB" sz="1800" baseline="0" dirty="0" smtClean="0">
                          <a:latin typeface="Times New Roman"/>
                          <a:cs typeface="Times New Roman"/>
                        </a:rPr>
                        <a:t> DC Fan </a:t>
                      </a:r>
                      <a:endParaRPr sz="1800" dirty="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D2E1"/>
                    </a:solidFill>
                  </a:tcPr>
                </a:tc>
                <a:tc>
                  <a:txBody>
                    <a:bodyPr/>
                    <a:lstStyle/>
                    <a:p>
                      <a:pPr marL="635" algn="ctr">
                        <a:lnSpc>
                          <a:spcPct val="100000"/>
                        </a:lnSpc>
                        <a:spcBef>
                          <a:spcPts val="835"/>
                        </a:spcBef>
                      </a:pPr>
                      <a:r>
                        <a:rPr sz="1800" spc="-50" dirty="0">
                          <a:latin typeface="Times New Roman"/>
                          <a:cs typeface="Times New Roman"/>
                        </a:rPr>
                        <a:t>1</a:t>
                      </a:r>
                      <a:endParaRPr sz="180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D2E1"/>
                    </a:solidFill>
                  </a:tcPr>
                </a:tc>
              </a:tr>
              <a:tr h="480069">
                <a:tc>
                  <a:txBody>
                    <a:bodyPr/>
                    <a:lstStyle/>
                    <a:p>
                      <a:pPr algn="ctr">
                        <a:lnSpc>
                          <a:spcPct val="100000"/>
                        </a:lnSpc>
                        <a:spcBef>
                          <a:spcPts val="835"/>
                        </a:spcBef>
                      </a:pPr>
                      <a:r>
                        <a:rPr sz="1800" spc="-25" dirty="0">
                          <a:latin typeface="Times New Roman"/>
                          <a:cs typeface="Times New Roman"/>
                        </a:rPr>
                        <a:t>4.</a:t>
                      </a:r>
                      <a:endParaRPr sz="180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marL="0" marR="0" indent="0" algn="ctr" defTabSz="914400" eaLnBrk="1" fontAlgn="auto" latinLnBrk="0" hangingPunct="1">
                        <a:lnSpc>
                          <a:spcPct val="100000"/>
                        </a:lnSpc>
                        <a:spcBef>
                          <a:spcPts val="835"/>
                        </a:spcBef>
                        <a:spcAft>
                          <a:spcPts val="0"/>
                        </a:spcAft>
                        <a:buClrTx/>
                        <a:buSzTx/>
                        <a:buFontTx/>
                        <a:buNone/>
                        <a:tabLst/>
                        <a:defRPr/>
                      </a:pPr>
                      <a:r>
                        <a:rPr lang="en-GB" sz="1800" dirty="0" smtClean="0">
                          <a:latin typeface="Times New Roman"/>
                          <a:cs typeface="Times New Roman"/>
                        </a:rPr>
                        <a:t>L298N Motor driver module</a:t>
                      </a: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marL="635" algn="ctr">
                        <a:lnSpc>
                          <a:spcPct val="100000"/>
                        </a:lnSpc>
                        <a:spcBef>
                          <a:spcPts val="835"/>
                        </a:spcBef>
                      </a:pPr>
                      <a:r>
                        <a:rPr sz="1800" spc="-50" dirty="0">
                          <a:latin typeface="Times New Roman"/>
                          <a:cs typeface="Times New Roman"/>
                        </a:rPr>
                        <a:t>1</a:t>
                      </a:r>
                      <a:endParaRPr sz="180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r>
              <a:tr h="480069">
                <a:tc>
                  <a:txBody>
                    <a:bodyPr/>
                    <a:lstStyle/>
                    <a:p>
                      <a:pPr algn="ctr">
                        <a:lnSpc>
                          <a:spcPct val="100000"/>
                        </a:lnSpc>
                        <a:spcBef>
                          <a:spcPts val="835"/>
                        </a:spcBef>
                      </a:pPr>
                      <a:r>
                        <a:rPr sz="1800" spc="-25" dirty="0">
                          <a:latin typeface="Times New Roman"/>
                          <a:cs typeface="Times New Roman"/>
                        </a:rPr>
                        <a:t>5.</a:t>
                      </a:r>
                      <a:endParaRPr sz="1800" dirty="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D2E1"/>
                    </a:solidFill>
                  </a:tcPr>
                </a:tc>
                <a:tc>
                  <a:txBody>
                    <a:bodyPr/>
                    <a:lstStyle/>
                    <a:p>
                      <a:pPr algn="ctr">
                        <a:lnSpc>
                          <a:spcPct val="100000"/>
                        </a:lnSpc>
                        <a:spcBef>
                          <a:spcPts val="835"/>
                        </a:spcBef>
                      </a:pPr>
                      <a:r>
                        <a:rPr sz="1800" dirty="0" smtClean="0">
                          <a:latin typeface="Times New Roman"/>
                          <a:cs typeface="Times New Roman"/>
                        </a:rPr>
                        <a:t>Jumper</a:t>
                      </a:r>
                      <a:r>
                        <a:rPr lang="en-GB" sz="1800" baseline="0" dirty="0" smtClean="0">
                          <a:latin typeface="Times New Roman"/>
                          <a:cs typeface="Times New Roman"/>
                        </a:rPr>
                        <a:t> </a:t>
                      </a:r>
                      <a:r>
                        <a:rPr lang="en-GB" sz="1800" baseline="0" dirty="0" smtClean="0">
                          <a:latin typeface="Times New Roman"/>
                          <a:cs typeface="Times New Roman"/>
                        </a:rPr>
                        <a:t>cable</a:t>
                      </a:r>
                      <a:endParaRPr sz="1800" dirty="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D2E1"/>
                    </a:solidFill>
                  </a:tcPr>
                </a:tc>
                <a:tc>
                  <a:txBody>
                    <a:bodyPr/>
                    <a:lstStyle/>
                    <a:p>
                      <a:pPr algn="ctr">
                        <a:lnSpc>
                          <a:spcPct val="100000"/>
                        </a:lnSpc>
                        <a:spcBef>
                          <a:spcPts val="835"/>
                        </a:spcBef>
                      </a:pPr>
                      <a:r>
                        <a:rPr sz="1800" dirty="0">
                          <a:latin typeface="Times New Roman"/>
                          <a:cs typeface="Times New Roman"/>
                        </a:rPr>
                        <a:t>As</a:t>
                      </a:r>
                      <a:r>
                        <a:rPr sz="1800" spc="-10" dirty="0">
                          <a:latin typeface="Times New Roman"/>
                          <a:cs typeface="Times New Roman"/>
                        </a:rPr>
                        <a:t> required</a:t>
                      </a:r>
                      <a:endParaRPr sz="1800">
                        <a:latin typeface="Times New Roman"/>
                        <a:cs typeface="Times New Roman"/>
                      </a:endParaRPr>
                    </a:p>
                  </a:txBody>
                  <a:tcPr marL="0" marR="0" marT="1060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ED2E1"/>
                    </a:solidFill>
                  </a:tcPr>
                </a:tc>
              </a:tr>
              <a:tr h="480069">
                <a:tc>
                  <a:txBody>
                    <a:bodyPr/>
                    <a:lstStyle/>
                    <a:p>
                      <a:pPr algn="ctr">
                        <a:lnSpc>
                          <a:spcPct val="100000"/>
                        </a:lnSpc>
                        <a:spcBef>
                          <a:spcPts val="835"/>
                        </a:spcBef>
                      </a:pPr>
                      <a:r>
                        <a:rPr lang="en-US" sz="1800" dirty="0" smtClean="0">
                          <a:latin typeface="Times New Roman"/>
                          <a:cs typeface="Times New Roman"/>
                        </a:rPr>
                        <a:t>6.</a:t>
                      </a:r>
                      <a:endParaRPr sz="1800" dirty="0">
                        <a:latin typeface="Times New Roman"/>
                        <a:cs typeface="Times New Roman"/>
                      </a:endParaRPr>
                    </a:p>
                  </a:txBody>
                  <a:tcPr marL="0" marR="0" marT="106045" marB="0">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CED2E1"/>
                    </a:solidFill>
                  </a:tcPr>
                </a:tc>
                <a:tc>
                  <a:txBody>
                    <a:bodyPr/>
                    <a:lstStyle/>
                    <a:p>
                      <a:pPr algn="ctr">
                        <a:lnSpc>
                          <a:spcPct val="100000"/>
                        </a:lnSpc>
                        <a:spcBef>
                          <a:spcPts val="835"/>
                        </a:spcBef>
                      </a:pPr>
                      <a:r>
                        <a:rPr lang="en-US" sz="1800" dirty="0" smtClean="0">
                          <a:latin typeface="Times New Roman"/>
                          <a:cs typeface="Times New Roman"/>
                        </a:rPr>
                        <a:t>12V Adapter</a:t>
                      </a:r>
                      <a:endParaRPr sz="1800" dirty="0">
                        <a:latin typeface="Times New Roman"/>
                        <a:cs typeface="Times New Roman"/>
                      </a:endParaRPr>
                    </a:p>
                  </a:txBody>
                  <a:tcPr marL="0" marR="0" marT="10604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a:solidFill>
                        <a:srgbClr val="FFFFFF"/>
                      </a:solidFill>
                      <a:prstDash val="solid"/>
                    </a:lnB>
                    <a:solidFill>
                      <a:srgbClr val="CED2E1"/>
                    </a:solidFill>
                  </a:tcPr>
                </a:tc>
                <a:tc>
                  <a:txBody>
                    <a:bodyPr/>
                    <a:lstStyle/>
                    <a:p>
                      <a:pPr algn="ctr">
                        <a:lnSpc>
                          <a:spcPct val="100000"/>
                        </a:lnSpc>
                        <a:spcBef>
                          <a:spcPts val="835"/>
                        </a:spcBef>
                      </a:pPr>
                      <a:r>
                        <a:rPr lang="en-US" sz="1800" dirty="0" smtClean="0">
                          <a:latin typeface="Times New Roman"/>
                          <a:cs typeface="Times New Roman"/>
                        </a:rPr>
                        <a:t>1</a:t>
                      </a:r>
                      <a:endParaRPr sz="1800" dirty="0">
                        <a:latin typeface="Times New Roman"/>
                        <a:cs typeface="Times New Roman"/>
                      </a:endParaRPr>
                    </a:p>
                  </a:txBody>
                  <a:tcPr marL="0" marR="0" marT="106045" marB="0">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CED2E1"/>
                    </a:solidFill>
                  </a:tcPr>
                </a:tc>
              </a:tr>
              <a:tr h="601916">
                <a:tc>
                  <a:txBody>
                    <a:bodyPr/>
                    <a:lstStyle/>
                    <a:p>
                      <a:pPr algn="ctr">
                        <a:lnSpc>
                          <a:spcPct val="100000"/>
                        </a:lnSpc>
                        <a:spcBef>
                          <a:spcPts val="1620"/>
                        </a:spcBef>
                      </a:pPr>
                      <a:r>
                        <a:rPr lang="en-US" sz="1800" spc="-25" dirty="0" smtClean="0">
                          <a:latin typeface="Times New Roman"/>
                          <a:cs typeface="Times New Roman"/>
                        </a:rPr>
                        <a:t>7</a:t>
                      </a:r>
                      <a:r>
                        <a:rPr sz="1800" spc="-25" dirty="0" smtClean="0">
                          <a:latin typeface="Times New Roman"/>
                          <a:cs typeface="Times New Roman"/>
                        </a:rPr>
                        <a:t>.</a:t>
                      </a:r>
                      <a:endParaRPr sz="1800" dirty="0">
                        <a:latin typeface="Times New Roman"/>
                        <a:cs typeface="Times New Roman"/>
                      </a:endParaRPr>
                    </a:p>
                  </a:txBody>
                  <a:tcPr marL="0" marR="0" marT="205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algn="ctr">
                        <a:lnSpc>
                          <a:spcPct val="100000"/>
                        </a:lnSpc>
                        <a:spcBef>
                          <a:spcPts val="1620"/>
                        </a:spcBef>
                      </a:pPr>
                      <a:r>
                        <a:rPr lang="en-GB" sz="1800" dirty="0" smtClean="0">
                          <a:latin typeface="Times New Roman"/>
                          <a:cs typeface="Times New Roman"/>
                        </a:rPr>
                        <a:t>DHT</a:t>
                      </a:r>
                      <a:r>
                        <a:rPr lang="en-GB" sz="1800" baseline="0" dirty="0" smtClean="0">
                          <a:latin typeface="Times New Roman"/>
                          <a:cs typeface="Times New Roman"/>
                        </a:rPr>
                        <a:t> Sensor</a:t>
                      </a:r>
                      <a:endParaRPr sz="1800" dirty="0">
                        <a:latin typeface="Times New Roman"/>
                        <a:cs typeface="Times New Roman"/>
                      </a:endParaRPr>
                    </a:p>
                  </a:txBody>
                  <a:tcPr marL="0" marR="0" marT="205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c>
                  <a:txBody>
                    <a:bodyPr/>
                    <a:lstStyle/>
                    <a:p>
                      <a:pPr marL="635" algn="ctr">
                        <a:lnSpc>
                          <a:spcPct val="100000"/>
                        </a:lnSpc>
                        <a:spcBef>
                          <a:spcPts val="1620"/>
                        </a:spcBef>
                      </a:pPr>
                      <a:r>
                        <a:rPr sz="1800" spc="-50" dirty="0">
                          <a:latin typeface="Times New Roman"/>
                          <a:cs typeface="Times New Roman"/>
                        </a:rPr>
                        <a:t>1</a:t>
                      </a:r>
                      <a:endParaRPr sz="1800" dirty="0">
                        <a:latin typeface="Times New Roman"/>
                        <a:cs typeface="Times New Roman"/>
                      </a:endParaRPr>
                    </a:p>
                  </a:txBody>
                  <a:tcPr marL="0" marR="0" marT="20574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8EAF0"/>
                    </a:solidFill>
                  </a:tcPr>
                </a:tc>
              </a:tr>
            </a:tbl>
          </a:graphicData>
        </a:graphic>
      </p:graphicFrame>
      <p:pic>
        <p:nvPicPr>
          <p:cNvPr id="9" name="object 9"/>
          <p:cNvPicPr/>
          <p:nvPr/>
        </p:nvPicPr>
        <p:blipFill>
          <a:blip r:embed="rId2" cstate="print"/>
          <a:stretch>
            <a:fillRect/>
          </a:stretch>
        </p:blipFill>
        <p:spPr>
          <a:xfrm>
            <a:off x="575741" y="244878"/>
            <a:ext cx="944525" cy="640691"/>
          </a:xfrm>
          <a:prstGeom prst="rect">
            <a:avLst/>
          </a:prstGeom>
        </p:spPr>
      </p:pic>
      <p:pic>
        <p:nvPicPr>
          <p:cNvPr id="10" name="object 10"/>
          <p:cNvPicPr/>
          <p:nvPr/>
        </p:nvPicPr>
        <p:blipFill>
          <a:blip r:embed="rId3" cstate="print"/>
          <a:stretch>
            <a:fillRect/>
          </a:stretch>
        </p:blipFill>
        <p:spPr>
          <a:xfrm>
            <a:off x="10787126" y="123863"/>
            <a:ext cx="928674" cy="962621"/>
          </a:xfrm>
          <a:prstGeom prst="rect">
            <a:avLst/>
          </a:prstGeom>
        </p:spPr>
      </p:pic>
      <p:sp>
        <p:nvSpPr>
          <p:cNvPr id="11" name="object 11"/>
          <p:cNvSpPr txBox="1"/>
          <p:nvPr/>
        </p:nvSpPr>
        <p:spPr>
          <a:xfrm>
            <a:off x="9434830" y="6517944"/>
            <a:ext cx="221424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Monday,</a:t>
            </a:r>
            <a:r>
              <a:rPr sz="1400" spc="-35" dirty="0">
                <a:latin typeface="Arial MT"/>
                <a:cs typeface="Arial MT"/>
              </a:rPr>
              <a:t> </a:t>
            </a:r>
            <a:r>
              <a:rPr sz="1400" dirty="0">
                <a:latin typeface="Arial MT"/>
                <a:cs typeface="Arial MT"/>
              </a:rPr>
              <a:t>December</a:t>
            </a:r>
            <a:r>
              <a:rPr sz="1400" spc="-50" dirty="0">
                <a:latin typeface="Arial MT"/>
                <a:cs typeface="Arial MT"/>
              </a:rPr>
              <a:t> </a:t>
            </a:r>
            <a:r>
              <a:rPr sz="1400" dirty="0">
                <a:latin typeface="Arial MT"/>
                <a:cs typeface="Arial MT"/>
              </a:rPr>
              <a:t>1,</a:t>
            </a:r>
            <a:r>
              <a:rPr sz="1400" spc="-30" dirty="0">
                <a:latin typeface="Arial MT"/>
                <a:cs typeface="Arial MT"/>
              </a:rPr>
              <a:t> </a:t>
            </a:r>
            <a:r>
              <a:rPr sz="1400" spc="-20" dirty="0">
                <a:latin typeface="Arial MT"/>
                <a:cs typeface="Arial MT"/>
              </a:rPr>
              <a:t>2025</a:t>
            </a:r>
            <a:endParaRPr sz="1400">
              <a:latin typeface="Arial MT"/>
              <a:cs typeface="Arial MT"/>
            </a:endParaRPr>
          </a:p>
        </p:txBody>
      </p:sp>
      <p:sp>
        <p:nvSpPr>
          <p:cNvPr id="12" name="object 12"/>
          <p:cNvSpPr txBox="1"/>
          <p:nvPr/>
        </p:nvSpPr>
        <p:spPr>
          <a:xfrm>
            <a:off x="883716" y="6573113"/>
            <a:ext cx="591185" cy="239395"/>
          </a:xfrm>
          <a:prstGeom prst="rect">
            <a:avLst/>
          </a:prstGeom>
        </p:spPr>
        <p:txBody>
          <a:bodyPr vert="horz" wrap="square" lIns="0" tIns="12700" rIns="0" bIns="0" rtlCol="0">
            <a:spAutoFit/>
          </a:bodyPr>
          <a:lstStyle/>
          <a:p>
            <a:pPr marL="12700">
              <a:lnSpc>
                <a:spcPct val="100000"/>
              </a:lnSpc>
              <a:spcBef>
                <a:spcPts val="100"/>
              </a:spcBef>
            </a:pPr>
            <a:r>
              <a:rPr sz="1400" dirty="0">
                <a:latin typeface="Arial MT"/>
                <a:cs typeface="Arial MT"/>
              </a:rPr>
              <a:t>EDP</a:t>
            </a:r>
            <a:r>
              <a:rPr sz="1400" spc="-20" dirty="0">
                <a:latin typeface="Arial MT"/>
                <a:cs typeface="Arial MT"/>
              </a:rPr>
              <a:t> </a:t>
            </a:r>
            <a:r>
              <a:rPr sz="1400" spc="-25" dirty="0">
                <a:latin typeface="Arial MT"/>
                <a:cs typeface="Arial MT"/>
              </a:rPr>
              <a:t>III</a:t>
            </a:r>
            <a:endParaRPr sz="1400">
              <a:latin typeface="Arial MT"/>
              <a:cs typeface="Arial M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431272" y="6305194"/>
            <a:ext cx="2379727" cy="228268"/>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232852"/>
                </a:solidFill>
                <a:latin typeface="Times New Roman"/>
                <a:cs typeface="Times New Roman"/>
              </a:rPr>
              <a:t>Monday,</a:t>
            </a:r>
            <a:r>
              <a:rPr sz="1400" spc="-35"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25" dirty="0">
                <a:solidFill>
                  <a:srgbClr val="232852"/>
                </a:solidFill>
                <a:latin typeface="Times New Roman"/>
                <a:cs typeface="Times New Roman"/>
              </a:rPr>
              <a:t> </a:t>
            </a:r>
            <a:r>
              <a:rPr sz="1400" dirty="0" smtClean="0">
                <a:solidFill>
                  <a:srgbClr val="232852"/>
                </a:solidFill>
                <a:latin typeface="Times New Roman"/>
                <a:cs typeface="Times New Roman"/>
              </a:rPr>
              <a:t>1</a:t>
            </a:r>
            <a:r>
              <a:rPr lang="en-US" sz="1400" dirty="0" smtClean="0">
                <a:solidFill>
                  <a:srgbClr val="232852"/>
                </a:solidFill>
                <a:latin typeface="Times New Roman"/>
                <a:cs typeface="Times New Roman"/>
              </a:rPr>
              <a:t>4</a:t>
            </a:r>
            <a:r>
              <a:rPr sz="1400" dirty="0" smtClean="0">
                <a:solidFill>
                  <a:srgbClr val="232852"/>
                </a:solidFill>
                <a:latin typeface="Times New Roman"/>
                <a:cs typeface="Times New Roman"/>
              </a:rPr>
              <a:t>,</a:t>
            </a:r>
            <a:r>
              <a:rPr sz="1400" spc="-30" dirty="0" smtClean="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dirty="0">
              <a:latin typeface="Times New Roman"/>
              <a:cs typeface="Times New Roman"/>
            </a:endParaRPr>
          </a:p>
        </p:txBody>
      </p:sp>
      <p:sp>
        <p:nvSpPr>
          <p:cNvPr id="3" name="object 3"/>
          <p:cNvSpPr txBox="1"/>
          <p:nvPr/>
        </p:nvSpPr>
        <p:spPr>
          <a:xfrm>
            <a:off x="1298194" y="6276543"/>
            <a:ext cx="58356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232852"/>
                </a:solidFill>
                <a:latin typeface="Times New Roman"/>
                <a:cs typeface="Times New Roman"/>
              </a:rPr>
              <a:t>EDP</a:t>
            </a:r>
            <a:r>
              <a:rPr sz="1400" spc="-20" dirty="0">
                <a:solidFill>
                  <a:srgbClr val="232852"/>
                </a:solidFill>
                <a:latin typeface="Times New Roman"/>
                <a:cs typeface="Times New Roman"/>
              </a:rPr>
              <a:t> </a:t>
            </a:r>
            <a:r>
              <a:rPr sz="1400" spc="-25" dirty="0">
                <a:solidFill>
                  <a:srgbClr val="232852"/>
                </a:solidFill>
                <a:latin typeface="Times New Roman"/>
                <a:cs typeface="Times New Roman"/>
              </a:rPr>
              <a:t>III</a:t>
            </a:r>
            <a:endParaRPr sz="1400">
              <a:latin typeface="Times New Roman"/>
              <a:cs typeface="Times New Roman"/>
            </a:endParaRPr>
          </a:p>
        </p:txBody>
      </p:sp>
      <p:sp>
        <p:nvSpPr>
          <p:cNvPr id="4" name="object 4"/>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5" name="object 5"/>
          <p:cNvSpPr txBox="1"/>
          <p:nvPr/>
        </p:nvSpPr>
        <p:spPr>
          <a:xfrm>
            <a:off x="388111" y="6316167"/>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Tahoma"/>
                <a:cs typeface="Tahoma"/>
              </a:rPr>
              <a:t>16</a:t>
            </a:r>
            <a:endParaRPr sz="1400">
              <a:latin typeface="Tahoma"/>
              <a:cs typeface="Tahoma"/>
            </a:endParaRPr>
          </a:p>
        </p:txBody>
      </p:sp>
      <p:sp>
        <p:nvSpPr>
          <p:cNvPr id="6" name="object 6"/>
          <p:cNvSpPr txBox="1">
            <a:spLocks noGrp="1"/>
          </p:cNvSpPr>
          <p:nvPr>
            <p:ph type="title"/>
          </p:nvPr>
        </p:nvSpPr>
        <p:spPr>
          <a:prstGeom prst="rect">
            <a:avLst/>
          </a:prstGeom>
        </p:spPr>
        <p:txBody>
          <a:bodyPr vert="horz" wrap="square" lIns="0" tIns="113537" rIns="0" bIns="0" rtlCol="0">
            <a:spAutoFit/>
          </a:bodyPr>
          <a:lstStyle/>
          <a:p>
            <a:pPr marL="2145030">
              <a:lnSpc>
                <a:spcPct val="100000"/>
              </a:lnSpc>
              <a:spcBef>
                <a:spcPts val="95"/>
              </a:spcBef>
            </a:pPr>
            <a:r>
              <a:rPr b="1" dirty="0">
                <a:latin typeface="Times New Roman"/>
                <a:cs typeface="Times New Roman"/>
              </a:rPr>
              <a:t>BLOCK</a:t>
            </a:r>
            <a:r>
              <a:rPr b="1" spc="-150" dirty="0">
                <a:latin typeface="Times New Roman"/>
                <a:cs typeface="Times New Roman"/>
              </a:rPr>
              <a:t> </a:t>
            </a:r>
            <a:r>
              <a:rPr b="1" spc="-10" dirty="0">
                <a:latin typeface="Times New Roman"/>
                <a:cs typeface="Times New Roman"/>
              </a:rPr>
              <a:t>DIAGRAM</a:t>
            </a:r>
          </a:p>
        </p:txBody>
      </p:sp>
      <p:pic>
        <p:nvPicPr>
          <p:cNvPr id="7" name="object 7"/>
          <p:cNvPicPr/>
          <p:nvPr/>
        </p:nvPicPr>
        <p:blipFill>
          <a:blip r:embed="rId2" cstate="print"/>
          <a:stretch>
            <a:fillRect/>
          </a:stretch>
        </p:blipFill>
        <p:spPr>
          <a:xfrm>
            <a:off x="311962" y="362099"/>
            <a:ext cx="944525" cy="640691"/>
          </a:xfrm>
          <a:prstGeom prst="rect">
            <a:avLst/>
          </a:prstGeom>
        </p:spPr>
      </p:pic>
      <p:pic>
        <p:nvPicPr>
          <p:cNvPr id="8" name="object 8"/>
          <p:cNvPicPr/>
          <p:nvPr/>
        </p:nvPicPr>
        <p:blipFill>
          <a:blip r:embed="rId3" cstate="print"/>
          <a:stretch>
            <a:fillRect/>
          </a:stretch>
        </p:blipFill>
        <p:spPr>
          <a:xfrm>
            <a:off x="10786998" y="123825"/>
            <a:ext cx="928687" cy="1193800"/>
          </a:xfrm>
          <a:prstGeom prst="rect">
            <a:avLst/>
          </a:prstGeom>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482" y="1143000"/>
            <a:ext cx="10677525"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21665" rIns="0" bIns="0" rtlCol="0">
            <a:spAutoFit/>
          </a:bodyPr>
          <a:lstStyle/>
          <a:p>
            <a:pPr marL="844550">
              <a:lnSpc>
                <a:spcPct val="100000"/>
              </a:lnSpc>
              <a:spcBef>
                <a:spcPts val="95"/>
              </a:spcBef>
            </a:pPr>
            <a:r>
              <a:rPr b="1" spc="-10" dirty="0">
                <a:latin typeface="Times New Roman"/>
                <a:cs typeface="Times New Roman"/>
              </a:rPr>
              <a:t>HARDWARE</a:t>
            </a:r>
            <a:r>
              <a:rPr b="1" spc="-175" dirty="0">
                <a:latin typeface="Times New Roman"/>
                <a:cs typeface="Times New Roman"/>
              </a:rPr>
              <a:t> </a:t>
            </a:r>
            <a:r>
              <a:rPr b="1" spc="-10" dirty="0">
                <a:latin typeface="Times New Roman"/>
                <a:cs typeface="Times New Roman"/>
              </a:rPr>
              <a:t>IMPLEMENTATION</a:t>
            </a:r>
          </a:p>
        </p:txBody>
      </p:sp>
      <p:sp>
        <p:nvSpPr>
          <p:cNvPr id="3" name="object 3"/>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pic>
        <p:nvPicPr>
          <p:cNvPr id="4" name="object 4"/>
          <p:cNvPicPr/>
          <p:nvPr/>
        </p:nvPicPr>
        <p:blipFill>
          <a:blip r:embed="rId2" cstate="print"/>
          <a:stretch>
            <a:fillRect/>
          </a:stretch>
        </p:blipFill>
        <p:spPr>
          <a:xfrm>
            <a:off x="311962" y="362099"/>
            <a:ext cx="944525" cy="640691"/>
          </a:xfrm>
          <a:prstGeom prst="rect">
            <a:avLst/>
          </a:prstGeom>
        </p:spPr>
      </p:pic>
      <p:sp>
        <p:nvSpPr>
          <p:cNvPr id="9" name="object 9"/>
          <p:cNvSpPr txBox="1">
            <a:spLocks noGrp="1"/>
          </p:cNvSpPr>
          <p:nvPr>
            <p:ph type="sldNum" sz="quarter" idx="7"/>
          </p:nvPr>
        </p:nvSpPr>
        <p:spPr>
          <a:prstGeom prst="rect">
            <a:avLst/>
          </a:prstGeom>
        </p:spPr>
        <p:txBody>
          <a:bodyPr vert="horz" wrap="square" lIns="0" tIns="13970" rIns="0" bIns="0" rtlCol="0">
            <a:spAutoFit/>
          </a:bodyPr>
          <a:lstStyle/>
          <a:p>
            <a:pPr marL="38100">
              <a:lnSpc>
                <a:spcPct val="100000"/>
              </a:lnSpc>
              <a:spcBef>
                <a:spcPts val="110"/>
              </a:spcBef>
            </a:pPr>
            <a:fld id="{81D60167-4931-47E6-BA6A-407CBD079E47}" type="slidenum">
              <a:rPr spc="-25" dirty="0"/>
              <a:pPr marL="38100">
                <a:lnSpc>
                  <a:spcPct val="100000"/>
                </a:lnSpc>
                <a:spcBef>
                  <a:spcPts val="110"/>
                </a:spcBef>
              </a:pPr>
              <a:t>15</a:t>
            </a:fld>
            <a:endParaRPr spc="-25" dirty="0"/>
          </a:p>
        </p:txBody>
      </p:sp>
      <p:sp>
        <p:nvSpPr>
          <p:cNvPr id="10" name="object 10"/>
          <p:cNvSpPr txBox="1"/>
          <p:nvPr/>
        </p:nvSpPr>
        <p:spPr>
          <a:xfrm>
            <a:off x="883716" y="6395236"/>
            <a:ext cx="591185" cy="224790"/>
          </a:xfrm>
          <a:prstGeom prst="rect">
            <a:avLst/>
          </a:prstGeom>
        </p:spPr>
        <p:txBody>
          <a:bodyPr vert="horz" wrap="square" lIns="0" tIns="0" rIns="0" bIns="0" rtlCol="0">
            <a:spAutoFit/>
          </a:bodyPr>
          <a:lstStyle/>
          <a:p>
            <a:pPr marL="12700">
              <a:lnSpc>
                <a:spcPts val="1650"/>
              </a:lnSpc>
            </a:pPr>
            <a:r>
              <a:rPr sz="1400" dirty="0">
                <a:latin typeface="Arial MT"/>
                <a:cs typeface="Arial MT"/>
              </a:rPr>
              <a:t>EDP</a:t>
            </a:r>
            <a:r>
              <a:rPr sz="1400" spc="-20" dirty="0">
                <a:latin typeface="Arial MT"/>
                <a:cs typeface="Arial MT"/>
              </a:rPr>
              <a:t> </a:t>
            </a:r>
            <a:r>
              <a:rPr sz="1400" spc="-25" dirty="0">
                <a:latin typeface="Arial MT"/>
                <a:cs typeface="Arial MT"/>
              </a:rPr>
              <a:t>III</a:t>
            </a:r>
            <a:endParaRPr sz="1400">
              <a:latin typeface="Arial MT"/>
              <a:cs typeface="Arial MT"/>
            </a:endParaRPr>
          </a:p>
        </p:txBody>
      </p:sp>
      <p:sp>
        <p:nvSpPr>
          <p:cNvPr id="11" name="object 11"/>
          <p:cNvSpPr txBox="1"/>
          <p:nvPr/>
        </p:nvSpPr>
        <p:spPr>
          <a:xfrm>
            <a:off x="9422638" y="6395236"/>
            <a:ext cx="2388362" cy="224790"/>
          </a:xfrm>
          <a:prstGeom prst="rect">
            <a:avLst/>
          </a:prstGeom>
        </p:spPr>
        <p:txBody>
          <a:bodyPr vert="horz" wrap="square" lIns="0" tIns="0" rIns="0" bIns="0" rtlCol="0">
            <a:spAutoFit/>
          </a:bodyPr>
          <a:lstStyle/>
          <a:p>
            <a:pPr marL="12700">
              <a:lnSpc>
                <a:spcPts val="1650"/>
              </a:lnSpc>
            </a:pPr>
            <a:r>
              <a:rPr sz="1400" dirty="0">
                <a:latin typeface="Arial MT"/>
                <a:cs typeface="Arial MT"/>
              </a:rPr>
              <a:t>Monday,</a:t>
            </a:r>
            <a:r>
              <a:rPr sz="1400" spc="-20" dirty="0">
                <a:latin typeface="Arial MT"/>
                <a:cs typeface="Arial MT"/>
              </a:rPr>
              <a:t> </a:t>
            </a:r>
            <a:r>
              <a:rPr sz="1400" dirty="0">
                <a:latin typeface="Arial MT"/>
                <a:cs typeface="Arial MT"/>
              </a:rPr>
              <a:t>December</a:t>
            </a:r>
            <a:r>
              <a:rPr sz="1400" spc="-35" dirty="0">
                <a:latin typeface="Arial MT"/>
                <a:cs typeface="Arial MT"/>
              </a:rPr>
              <a:t> </a:t>
            </a:r>
            <a:r>
              <a:rPr sz="1400" dirty="0" smtClean="0">
                <a:latin typeface="Arial MT"/>
                <a:cs typeface="Arial MT"/>
              </a:rPr>
              <a:t>1</a:t>
            </a:r>
            <a:r>
              <a:rPr lang="en-US" sz="1400" dirty="0" smtClean="0">
                <a:latin typeface="Arial MT"/>
                <a:cs typeface="Arial MT"/>
              </a:rPr>
              <a:t>4</a:t>
            </a:r>
            <a:r>
              <a:rPr sz="1400" dirty="0" smtClean="0">
                <a:latin typeface="Arial MT"/>
                <a:cs typeface="Arial MT"/>
              </a:rPr>
              <a:t>,</a:t>
            </a:r>
            <a:r>
              <a:rPr sz="1400" spc="-15" dirty="0" smtClean="0">
                <a:latin typeface="Arial MT"/>
                <a:cs typeface="Arial MT"/>
              </a:rPr>
              <a:t> </a:t>
            </a:r>
            <a:r>
              <a:rPr sz="1400" spc="-20" dirty="0">
                <a:latin typeface="Arial MT"/>
                <a:cs typeface="Arial MT"/>
              </a:rPr>
              <a:t>2025</a:t>
            </a:r>
            <a:endParaRPr sz="1400" dirty="0">
              <a:latin typeface="Arial MT"/>
              <a:cs typeface="Arial MT"/>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437014"/>
            <a:ext cx="8839200" cy="461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object 8"/>
          <p:cNvPicPr/>
          <p:nvPr/>
        </p:nvPicPr>
        <p:blipFill>
          <a:blip r:embed="rId4" cstate="print"/>
          <a:stretch>
            <a:fillRect/>
          </a:stretch>
        </p:blipFill>
        <p:spPr>
          <a:xfrm>
            <a:off x="11133682" y="228600"/>
            <a:ext cx="928687" cy="1193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21665" rIns="0" bIns="0" rtlCol="0">
            <a:spAutoFit/>
          </a:bodyPr>
          <a:lstStyle/>
          <a:p>
            <a:pPr marL="1844675">
              <a:lnSpc>
                <a:spcPct val="100000"/>
              </a:lnSpc>
              <a:spcBef>
                <a:spcPts val="95"/>
              </a:spcBef>
            </a:pPr>
            <a:endParaRPr b="1" spc="-10" dirty="0">
              <a:latin typeface="Times New Roman"/>
              <a:cs typeface="Times New Roman"/>
            </a:endParaRPr>
          </a:p>
        </p:txBody>
      </p:sp>
      <p:sp>
        <p:nvSpPr>
          <p:cNvPr id="3" name="object 3"/>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pic>
        <p:nvPicPr>
          <p:cNvPr id="4" name="object 4"/>
          <p:cNvPicPr/>
          <p:nvPr/>
        </p:nvPicPr>
        <p:blipFill>
          <a:blip r:embed="rId2" cstate="print"/>
          <a:stretch>
            <a:fillRect/>
          </a:stretch>
        </p:blipFill>
        <p:spPr>
          <a:xfrm>
            <a:off x="311962" y="362099"/>
            <a:ext cx="944525" cy="640691"/>
          </a:xfrm>
          <a:prstGeom prst="rect">
            <a:avLst/>
          </a:prstGeom>
        </p:spPr>
      </p:pic>
      <p:pic>
        <p:nvPicPr>
          <p:cNvPr id="5" name="object 5"/>
          <p:cNvPicPr/>
          <p:nvPr/>
        </p:nvPicPr>
        <p:blipFill>
          <a:blip r:embed="rId3" cstate="print"/>
          <a:stretch>
            <a:fillRect/>
          </a:stretch>
        </p:blipFill>
        <p:spPr>
          <a:xfrm>
            <a:off x="10786998" y="123825"/>
            <a:ext cx="928687" cy="1193800"/>
          </a:xfrm>
          <a:prstGeom prst="rect">
            <a:avLst/>
          </a:prstGeom>
        </p:spPr>
      </p:pic>
      <p:sp>
        <p:nvSpPr>
          <p:cNvPr id="7" name="object 7"/>
          <p:cNvSpPr txBox="1">
            <a:spLocks noGrp="1"/>
          </p:cNvSpPr>
          <p:nvPr>
            <p:ph type="sldNum" sz="quarter" idx="7"/>
          </p:nvPr>
        </p:nvSpPr>
        <p:spPr>
          <a:prstGeom prst="rect">
            <a:avLst/>
          </a:prstGeom>
        </p:spPr>
        <p:txBody>
          <a:bodyPr vert="horz" wrap="square" lIns="0" tIns="13970" rIns="0" bIns="0" rtlCol="0">
            <a:spAutoFit/>
          </a:bodyPr>
          <a:lstStyle/>
          <a:p>
            <a:pPr marL="38100">
              <a:lnSpc>
                <a:spcPct val="100000"/>
              </a:lnSpc>
              <a:spcBef>
                <a:spcPts val="110"/>
              </a:spcBef>
            </a:pPr>
            <a:fld id="{81D60167-4931-47E6-BA6A-407CBD079E47}" type="slidenum">
              <a:rPr spc="-25" dirty="0"/>
              <a:pPr marL="38100">
                <a:lnSpc>
                  <a:spcPct val="100000"/>
                </a:lnSpc>
                <a:spcBef>
                  <a:spcPts val="110"/>
                </a:spcBef>
              </a:pPr>
              <a:t>16</a:t>
            </a:fld>
            <a:endParaRPr spc="-25" dirty="0"/>
          </a:p>
        </p:txBody>
      </p:sp>
      <p:sp>
        <p:nvSpPr>
          <p:cNvPr id="8" name="object 8"/>
          <p:cNvSpPr txBox="1"/>
          <p:nvPr/>
        </p:nvSpPr>
        <p:spPr>
          <a:xfrm>
            <a:off x="883716" y="6395236"/>
            <a:ext cx="591185" cy="224790"/>
          </a:xfrm>
          <a:prstGeom prst="rect">
            <a:avLst/>
          </a:prstGeom>
        </p:spPr>
        <p:txBody>
          <a:bodyPr vert="horz" wrap="square" lIns="0" tIns="0" rIns="0" bIns="0" rtlCol="0">
            <a:spAutoFit/>
          </a:bodyPr>
          <a:lstStyle/>
          <a:p>
            <a:pPr marL="12700">
              <a:lnSpc>
                <a:spcPts val="1650"/>
              </a:lnSpc>
            </a:pPr>
            <a:r>
              <a:rPr sz="1400" dirty="0">
                <a:latin typeface="Arial MT"/>
                <a:cs typeface="Arial MT"/>
              </a:rPr>
              <a:t>EDP</a:t>
            </a:r>
            <a:r>
              <a:rPr sz="1400" spc="-20" dirty="0">
                <a:latin typeface="Arial MT"/>
                <a:cs typeface="Arial MT"/>
              </a:rPr>
              <a:t> </a:t>
            </a:r>
            <a:r>
              <a:rPr sz="1400" spc="-25" dirty="0">
                <a:latin typeface="Arial MT"/>
                <a:cs typeface="Arial MT"/>
              </a:rPr>
              <a:t>III</a:t>
            </a:r>
            <a:endParaRPr sz="1400">
              <a:latin typeface="Arial MT"/>
              <a:cs typeface="Arial MT"/>
            </a:endParaRPr>
          </a:p>
        </p:txBody>
      </p:sp>
      <p:sp>
        <p:nvSpPr>
          <p:cNvPr id="9" name="object 9"/>
          <p:cNvSpPr txBox="1"/>
          <p:nvPr/>
        </p:nvSpPr>
        <p:spPr>
          <a:xfrm>
            <a:off x="9422638" y="6395236"/>
            <a:ext cx="2464562" cy="224790"/>
          </a:xfrm>
          <a:prstGeom prst="rect">
            <a:avLst/>
          </a:prstGeom>
        </p:spPr>
        <p:txBody>
          <a:bodyPr vert="horz" wrap="square" lIns="0" tIns="0" rIns="0" bIns="0" rtlCol="0">
            <a:spAutoFit/>
          </a:bodyPr>
          <a:lstStyle/>
          <a:p>
            <a:pPr marL="12700">
              <a:lnSpc>
                <a:spcPts val="1650"/>
              </a:lnSpc>
            </a:pPr>
            <a:r>
              <a:rPr sz="1400" dirty="0">
                <a:latin typeface="Arial MT"/>
                <a:cs typeface="Arial MT"/>
              </a:rPr>
              <a:t>Monday,</a:t>
            </a:r>
            <a:r>
              <a:rPr sz="1400" spc="-20" dirty="0">
                <a:latin typeface="Arial MT"/>
                <a:cs typeface="Arial MT"/>
              </a:rPr>
              <a:t> </a:t>
            </a:r>
            <a:r>
              <a:rPr sz="1400" dirty="0">
                <a:latin typeface="Arial MT"/>
                <a:cs typeface="Arial MT"/>
              </a:rPr>
              <a:t>December</a:t>
            </a:r>
            <a:r>
              <a:rPr sz="1400" spc="-35" dirty="0">
                <a:latin typeface="Arial MT"/>
                <a:cs typeface="Arial MT"/>
              </a:rPr>
              <a:t> </a:t>
            </a:r>
            <a:r>
              <a:rPr sz="1400" dirty="0" smtClean="0">
                <a:latin typeface="Arial MT"/>
                <a:cs typeface="Arial MT"/>
              </a:rPr>
              <a:t>1</a:t>
            </a:r>
            <a:r>
              <a:rPr lang="en-US" sz="1400" dirty="0" smtClean="0">
                <a:latin typeface="Arial MT"/>
                <a:cs typeface="Arial MT"/>
              </a:rPr>
              <a:t>4</a:t>
            </a:r>
            <a:r>
              <a:rPr sz="1400" dirty="0" smtClean="0">
                <a:latin typeface="Arial MT"/>
                <a:cs typeface="Arial MT"/>
              </a:rPr>
              <a:t>,</a:t>
            </a:r>
            <a:r>
              <a:rPr sz="1400" spc="-15" dirty="0" smtClean="0">
                <a:latin typeface="Arial MT"/>
                <a:cs typeface="Arial MT"/>
              </a:rPr>
              <a:t> </a:t>
            </a:r>
            <a:r>
              <a:rPr sz="1400" spc="-20" dirty="0">
                <a:latin typeface="Arial MT"/>
                <a:cs typeface="Arial MT"/>
              </a:rPr>
              <a:t>2025</a:t>
            </a:r>
            <a:endParaRPr sz="1400" dirty="0">
              <a:latin typeface="Arial MT"/>
              <a:cs typeface="Arial MT"/>
            </a:endParaRP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3084" y="1317625"/>
            <a:ext cx="9593481"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13537" rIns="0" bIns="0" rtlCol="0">
            <a:spAutoFit/>
          </a:bodyPr>
          <a:lstStyle/>
          <a:p>
            <a:pPr marL="502284">
              <a:lnSpc>
                <a:spcPct val="100000"/>
              </a:lnSpc>
              <a:spcBef>
                <a:spcPts val="95"/>
              </a:spcBef>
            </a:pPr>
            <a:r>
              <a:rPr b="1" dirty="0">
                <a:latin typeface="Times New Roman"/>
                <a:cs typeface="Times New Roman"/>
              </a:rPr>
              <a:t>APPLICATION</a:t>
            </a:r>
            <a:r>
              <a:rPr b="1" spc="-120" dirty="0">
                <a:latin typeface="Times New Roman"/>
                <a:cs typeface="Times New Roman"/>
              </a:rPr>
              <a:t> </a:t>
            </a:r>
            <a:r>
              <a:rPr b="1" dirty="0">
                <a:latin typeface="Times New Roman"/>
                <a:cs typeface="Times New Roman"/>
              </a:rPr>
              <a:t>&amp;</a:t>
            </a:r>
            <a:r>
              <a:rPr b="1" spc="-150" dirty="0">
                <a:latin typeface="Times New Roman"/>
                <a:cs typeface="Times New Roman"/>
              </a:rPr>
              <a:t> </a:t>
            </a:r>
            <a:r>
              <a:rPr b="1" spc="-10" dirty="0">
                <a:latin typeface="Times New Roman"/>
                <a:cs typeface="Times New Roman"/>
              </a:rPr>
              <a:t>ADVANTAGES</a:t>
            </a:r>
          </a:p>
        </p:txBody>
      </p:sp>
      <p:pic>
        <p:nvPicPr>
          <p:cNvPr id="4" name="object 4"/>
          <p:cNvPicPr/>
          <p:nvPr/>
        </p:nvPicPr>
        <p:blipFill>
          <a:blip r:embed="rId2" cstate="print"/>
          <a:stretch>
            <a:fillRect/>
          </a:stretch>
        </p:blipFill>
        <p:spPr>
          <a:xfrm>
            <a:off x="311962" y="362099"/>
            <a:ext cx="944525" cy="640691"/>
          </a:xfrm>
          <a:prstGeom prst="rect">
            <a:avLst/>
          </a:prstGeom>
        </p:spPr>
      </p:pic>
      <p:sp>
        <p:nvSpPr>
          <p:cNvPr id="5" name="object 5"/>
          <p:cNvSpPr txBox="1"/>
          <p:nvPr/>
        </p:nvSpPr>
        <p:spPr>
          <a:xfrm>
            <a:off x="1242916" y="1143000"/>
            <a:ext cx="5234083" cy="4668586"/>
          </a:xfrm>
          <a:prstGeom prst="rect">
            <a:avLst/>
          </a:prstGeom>
        </p:spPr>
        <p:txBody>
          <a:bodyPr vert="horz" wrap="square" lIns="0" tIns="127635" rIns="0" bIns="0" rtlCol="0">
            <a:spAutoFit/>
          </a:bodyPr>
          <a:lstStyle/>
          <a:p>
            <a:pPr marL="12700">
              <a:lnSpc>
                <a:spcPct val="100000"/>
              </a:lnSpc>
              <a:spcBef>
                <a:spcPts val="1005"/>
              </a:spcBef>
            </a:pPr>
            <a:r>
              <a:rPr sz="3200" b="1" spc="-10" dirty="0" smtClean="0">
                <a:solidFill>
                  <a:srgbClr val="0D56C4"/>
                </a:solidFill>
                <a:latin typeface="Times New Roman"/>
                <a:cs typeface="Times New Roman"/>
              </a:rPr>
              <a:t>Advantages</a:t>
            </a:r>
            <a:endParaRPr sz="3200" dirty="0">
              <a:latin typeface="Times New Roman"/>
              <a:cs typeface="Times New Roman"/>
            </a:endParaRPr>
          </a:p>
          <a:p>
            <a:pPr marL="354965" marR="673735" indent="-342900" algn="just">
              <a:lnSpc>
                <a:spcPct val="100000"/>
              </a:lnSpc>
              <a:spcBef>
                <a:spcPts val="625"/>
              </a:spcBef>
              <a:buClr>
                <a:srgbClr val="498EF1"/>
              </a:buClr>
              <a:buSzPct val="83333"/>
              <a:buFont typeface="Arial" pitchFamily="34" charset="0"/>
              <a:buChar char="•"/>
              <a:tabLst>
                <a:tab pos="285115" algn="l"/>
              </a:tabLst>
            </a:pPr>
            <a:r>
              <a:rPr lang="en-US" sz="1900" dirty="0" smtClean="0">
                <a:latin typeface="Times New Roman"/>
                <a:cs typeface="Times New Roman"/>
              </a:rPr>
              <a:t>Automatically adjusts fan speed based on room temperature</a:t>
            </a:r>
          </a:p>
          <a:p>
            <a:pPr marL="354965" marR="673735" indent="-342900" algn="just">
              <a:lnSpc>
                <a:spcPct val="100000"/>
              </a:lnSpc>
              <a:spcBef>
                <a:spcPts val="625"/>
              </a:spcBef>
              <a:buClr>
                <a:srgbClr val="498EF1"/>
              </a:buClr>
              <a:buSzPct val="83333"/>
              <a:buFont typeface="Arial" pitchFamily="34" charset="0"/>
              <a:buChar char="•"/>
              <a:tabLst>
                <a:tab pos="285115" algn="l"/>
              </a:tabLst>
            </a:pPr>
            <a:r>
              <a:rPr lang="en-US" sz="1900" dirty="0" smtClean="0">
                <a:latin typeface="Times New Roman"/>
                <a:cs typeface="Times New Roman"/>
              </a:rPr>
              <a:t>Reduces power consumption and saves electricity</a:t>
            </a:r>
          </a:p>
          <a:p>
            <a:pPr marL="354965" marR="673735" indent="-342900" algn="just">
              <a:lnSpc>
                <a:spcPct val="100000"/>
              </a:lnSpc>
              <a:spcBef>
                <a:spcPts val="625"/>
              </a:spcBef>
              <a:buClr>
                <a:srgbClr val="498EF1"/>
              </a:buClr>
              <a:buSzPct val="83333"/>
              <a:buFont typeface="Arial" pitchFamily="34" charset="0"/>
              <a:buChar char="•"/>
              <a:tabLst>
                <a:tab pos="285115" algn="l"/>
              </a:tabLst>
            </a:pPr>
            <a:r>
              <a:rPr lang="en-US" sz="1900" dirty="0" smtClean="0">
                <a:latin typeface="Times New Roman"/>
                <a:cs typeface="Times New Roman"/>
              </a:rPr>
              <a:t> Eliminates the need for manual fan control</a:t>
            </a:r>
          </a:p>
          <a:p>
            <a:pPr marL="354965" marR="673735" indent="-342900" algn="just">
              <a:lnSpc>
                <a:spcPct val="100000"/>
              </a:lnSpc>
              <a:spcBef>
                <a:spcPts val="625"/>
              </a:spcBef>
              <a:buClr>
                <a:srgbClr val="498EF1"/>
              </a:buClr>
              <a:buSzPct val="83333"/>
              <a:buFont typeface="Arial" pitchFamily="34" charset="0"/>
              <a:buChar char="•"/>
              <a:tabLst>
                <a:tab pos="285115" algn="l"/>
              </a:tabLst>
            </a:pPr>
            <a:r>
              <a:rPr lang="en-US" sz="1900" dirty="0" smtClean="0">
                <a:latin typeface="Times New Roman"/>
                <a:cs typeface="Times New Roman"/>
              </a:rPr>
              <a:t> Provides consistent and comfortable cooling</a:t>
            </a:r>
          </a:p>
          <a:p>
            <a:pPr marL="354965" marR="673735" indent="-342900" algn="just">
              <a:lnSpc>
                <a:spcPct val="100000"/>
              </a:lnSpc>
              <a:spcBef>
                <a:spcPts val="625"/>
              </a:spcBef>
              <a:buClr>
                <a:srgbClr val="498EF1"/>
              </a:buClr>
              <a:buSzPct val="83333"/>
              <a:buFont typeface="Arial" pitchFamily="34" charset="0"/>
              <a:buChar char="•"/>
              <a:tabLst>
                <a:tab pos="285115" algn="l"/>
              </a:tabLst>
            </a:pPr>
            <a:r>
              <a:rPr lang="en-US" sz="1900" dirty="0" smtClean="0">
                <a:latin typeface="Times New Roman"/>
                <a:cs typeface="Times New Roman"/>
              </a:rPr>
              <a:t>Simple design with low implementation cost</a:t>
            </a:r>
          </a:p>
          <a:p>
            <a:pPr marL="354965" marR="673735" indent="-342900" algn="just">
              <a:lnSpc>
                <a:spcPct val="100000"/>
              </a:lnSpc>
              <a:spcBef>
                <a:spcPts val="625"/>
              </a:spcBef>
              <a:buClr>
                <a:srgbClr val="498EF1"/>
              </a:buClr>
              <a:buSzPct val="83333"/>
              <a:buFont typeface="Arial" pitchFamily="34" charset="0"/>
              <a:buChar char="•"/>
              <a:tabLst>
                <a:tab pos="285115" algn="l"/>
              </a:tabLst>
            </a:pPr>
            <a:r>
              <a:rPr lang="en-US" sz="1900" dirty="0" smtClean="0">
                <a:latin typeface="Times New Roman"/>
                <a:cs typeface="Times New Roman"/>
              </a:rPr>
              <a:t>Reliable and accurate temperature response</a:t>
            </a:r>
          </a:p>
          <a:p>
            <a:pPr marL="354965" marR="673735" indent="-342900" algn="just">
              <a:lnSpc>
                <a:spcPct val="100000"/>
              </a:lnSpc>
              <a:spcBef>
                <a:spcPts val="625"/>
              </a:spcBef>
              <a:buClr>
                <a:srgbClr val="498EF1"/>
              </a:buClr>
              <a:buSzPct val="83333"/>
              <a:buFont typeface="Arial" pitchFamily="34" charset="0"/>
              <a:buChar char="•"/>
              <a:tabLst>
                <a:tab pos="285115" algn="l"/>
              </a:tabLst>
            </a:pPr>
            <a:r>
              <a:rPr lang="en-US" sz="1900" dirty="0" smtClean="0">
                <a:latin typeface="Times New Roman"/>
                <a:cs typeface="Times New Roman"/>
              </a:rPr>
              <a:t> Easy to upgrade with wireless or sensor enhancements</a:t>
            </a:r>
            <a:endParaRPr sz="1900" dirty="0">
              <a:latin typeface="Times New Roman"/>
              <a:cs typeface="Times New Roman"/>
            </a:endParaRPr>
          </a:p>
        </p:txBody>
      </p:sp>
      <p:sp>
        <p:nvSpPr>
          <p:cNvPr id="6" name="object 6"/>
          <p:cNvSpPr txBox="1"/>
          <p:nvPr/>
        </p:nvSpPr>
        <p:spPr>
          <a:xfrm>
            <a:off x="6623312" y="1162456"/>
            <a:ext cx="4841875" cy="5276444"/>
          </a:xfrm>
          <a:prstGeom prst="rect">
            <a:avLst/>
          </a:prstGeom>
        </p:spPr>
        <p:txBody>
          <a:bodyPr vert="horz" wrap="square" lIns="0" tIns="130175" rIns="0" bIns="0" rtlCol="0">
            <a:spAutoFit/>
          </a:bodyPr>
          <a:lstStyle/>
          <a:p>
            <a:pPr marL="12700">
              <a:lnSpc>
                <a:spcPct val="100000"/>
              </a:lnSpc>
              <a:spcBef>
                <a:spcPts val="1025"/>
              </a:spcBef>
            </a:pPr>
            <a:r>
              <a:rPr sz="3200" b="1" spc="-10" dirty="0" smtClean="0">
                <a:solidFill>
                  <a:srgbClr val="0D56C4"/>
                </a:solidFill>
                <a:latin typeface="Times New Roman"/>
                <a:cs typeface="Times New Roman"/>
              </a:rPr>
              <a:t>Applications</a:t>
            </a:r>
            <a:endParaRPr lang="en-US" sz="3200" b="1" spc="-10" dirty="0" smtClean="0">
              <a:solidFill>
                <a:srgbClr val="0D56C4"/>
              </a:solidFill>
              <a:latin typeface="Times New Roman"/>
              <a:cs typeface="Times New Roman"/>
            </a:endParaRPr>
          </a:p>
          <a:p>
            <a:pPr marL="355600" indent="-342900">
              <a:lnSpc>
                <a:spcPct val="100000"/>
              </a:lnSpc>
              <a:spcBef>
                <a:spcPts val="1025"/>
              </a:spcBef>
              <a:buClr>
                <a:schemeClr val="accent1"/>
              </a:buClr>
              <a:buFont typeface="Arial" pitchFamily="34" charset="0"/>
              <a:buChar char="•"/>
            </a:pPr>
            <a:r>
              <a:rPr lang="en-US" sz="2000" dirty="0" smtClean="0">
                <a:latin typeface="Times New Roman"/>
                <a:cs typeface="Times New Roman"/>
              </a:rPr>
              <a:t>Smart home and home automation systems</a:t>
            </a:r>
          </a:p>
          <a:p>
            <a:pPr marL="355600" indent="-342900">
              <a:lnSpc>
                <a:spcPct val="100000"/>
              </a:lnSpc>
              <a:spcBef>
                <a:spcPts val="1025"/>
              </a:spcBef>
              <a:buClr>
                <a:schemeClr val="accent1"/>
              </a:buClr>
              <a:buFont typeface="Arial" pitchFamily="34" charset="0"/>
              <a:buChar char="•"/>
            </a:pPr>
            <a:r>
              <a:rPr lang="en-US" sz="2000" dirty="0" smtClean="0">
                <a:latin typeface="Times New Roman"/>
                <a:cs typeface="Times New Roman"/>
              </a:rPr>
              <a:t>Offices and commercial buildings</a:t>
            </a:r>
          </a:p>
          <a:p>
            <a:pPr marL="355600" indent="-342900">
              <a:lnSpc>
                <a:spcPct val="100000"/>
              </a:lnSpc>
              <a:spcBef>
                <a:spcPts val="1025"/>
              </a:spcBef>
              <a:buClr>
                <a:schemeClr val="accent1"/>
              </a:buClr>
              <a:buFont typeface="Arial" pitchFamily="34" charset="0"/>
              <a:buChar char="•"/>
            </a:pPr>
            <a:r>
              <a:rPr lang="en-US" sz="2000" dirty="0" smtClean="0">
                <a:latin typeface="Times New Roman"/>
                <a:cs typeface="Times New Roman"/>
              </a:rPr>
              <a:t>Computer server rooms and data centers</a:t>
            </a:r>
          </a:p>
          <a:p>
            <a:pPr marL="355600" indent="-342900">
              <a:lnSpc>
                <a:spcPct val="100000"/>
              </a:lnSpc>
              <a:spcBef>
                <a:spcPts val="1025"/>
              </a:spcBef>
              <a:buClr>
                <a:schemeClr val="accent1"/>
              </a:buClr>
              <a:buFont typeface="Arial" pitchFamily="34" charset="0"/>
              <a:buChar char="•"/>
            </a:pPr>
            <a:r>
              <a:rPr lang="en-US" sz="2000" dirty="0" smtClean="0">
                <a:latin typeface="Times New Roman"/>
                <a:cs typeface="Times New Roman"/>
              </a:rPr>
              <a:t>Industrial cooling and ventilation systems</a:t>
            </a:r>
          </a:p>
          <a:p>
            <a:pPr marL="355600" indent="-342900">
              <a:lnSpc>
                <a:spcPct val="100000"/>
              </a:lnSpc>
              <a:spcBef>
                <a:spcPts val="1025"/>
              </a:spcBef>
              <a:buClr>
                <a:schemeClr val="accent1"/>
              </a:buClr>
              <a:buFont typeface="Arial" pitchFamily="34" charset="0"/>
              <a:buChar char="•"/>
            </a:pPr>
            <a:r>
              <a:rPr lang="en-US" sz="2000" dirty="0" smtClean="0">
                <a:latin typeface="Times New Roman"/>
                <a:cs typeface="Times New Roman"/>
              </a:rPr>
              <a:t>Greenhouses and agricultural environments</a:t>
            </a:r>
          </a:p>
          <a:p>
            <a:pPr marL="355600" indent="-342900">
              <a:lnSpc>
                <a:spcPct val="100000"/>
              </a:lnSpc>
              <a:spcBef>
                <a:spcPts val="1025"/>
              </a:spcBef>
              <a:buClr>
                <a:schemeClr val="accent1"/>
              </a:buClr>
              <a:buFont typeface="Arial" pitchFamily="34" charset="0"/>
              <a:buChar char="•"/>
            </a:pPr>
            <a:r>
              <a:rPr lang="en-US" sz="2000" dirty="0" smtClean="0">
                <a:latin typeface="Times New Roman"/>
                <a:cs typeface="Times New Roman"/>
              </a:rPr>
              <a:t>Laboratories and research centers</a:t>
            </a:r>
          </a:p>
          <a:p>
            <a:pPr marL="355600" indent="-342900">
              <a:lnSpc>
                <a:spcPct val="100000"/>
              </a:lnSpc>
              <a:spcBef>
                <a:spcPts val="1025"/>
              </a:spcBef>
              <a:buClr>
                <a:schemeClr val="accent1"/>
              </a:buClr>
              <a:buFont typeface="Arial" pitchFamily="34" charset="0"/>
              <a:buChar char="•"/>
            </a:pPr>
            <a:r>
              <a:rPr lang="en-US" sz="2000" dirty="0" smtClean="0">
                <a:latin typeface="Times New Roman"/>
                <a:cs typeface="Times New Roman"/>
              </a:rPr>
              <a:t>Educational and training projects</a:t>
            </a:r>
          </a:p>
          <a:p>
            <a:pPr marL="355600" indent="-342900">
              <a:lnSpc>
                <a:spcPct val="100000"/>
              </a:lnSpc>
              <a:spcBef>
                <a:spcPts val="1025"/>
              </a:spcBef>
              <a:buClr>
                <a:schemeClr val="accent1"/>
              </a:buClr>
              <a:buFont typeface="Arial" pitchFamily="34" charset="0"/>
              <a:buChar char="•"/>
            </a:pPr>
            <a:r>
              <a:rPr lang="en-US" sz="2000" dirty="0" smtClean="0">
                <a:latin typeface="Times New Roman"/>
                <a:cs typeface="Times New Roman"/>
              </a:rPr>
              <a:t>Energy-efficient HVAC support systems</a:t>
            </a:r>
            <a:endParaRPr lang="en-US" sz="1200" dirty="0" smtClean="0">
              <a:latin typeface="Times New Roman"/>
              <a:cs typeface="Times New Roman"/>
            </a:endParaRPr>
          </a:p>
          <a:p>
            <a:pPr marL="12700">
              <a:lnSpc>
                <a:spcPct val="100000"/>
              </a:lnSpc>
              <a:spcBef>
                <a:spcPts val="1025"/>
              </a:spcBef>
            </a:pPr>
            <a:endParaRPr lang="en-US" sz="1900" dirty="0">
              <a:latin typeface="Times New Roman"/>
              <a:cs typeface="Times New Roman"/>
            </a:endParaRPr>
          </a:p>
          <a:p>
            <a:pPr marL="12700">
              <a:lnSpc>
                <a:spcPct val="100000"/>
              </a:lnSpc>
              <a:spcBef>
                <a:spcPts val="1025"/>
              </a:spcBef>
            </a:pPr>
            <a:endParaRPr sz="3600" dirty="0">
              <a:latin typeface="Times New Roman"/>
              <a:cs typeface="Times New Roman"/>
            </a:endParaRPr>
          </a:p>
        </p:txBody>
      </p:sp>
      <p:pic>
        <p:nvPicPr>
          <p:cNvPr id="7" name="object 7"/>
          <p:cNvPicPr/>
          <p:nvPr/>
        </p:nvPicPr>
        <p:blipFill>
          <a:blip r:embed="rId3" cstate="print"/>
          <a:stretch>
            <a:fillRect/>
          </a:stretch>
        </p:blipFill>
        <p:spPr>
          <a:xfrm>
            <a:off x="10786998" y="123825"/>
            <a:ext cx="928687" cy="1193800"/>
          </a:xfrm>
          <a:prstGeom prst="rect">
            <a:avLst/>
          </a:prstGeom>
        </p:spPr>
      </p:pic>
      <p:sp>
        <p:nvSpPr>
          <p:cNvPr id="8" name="object 8"/>
          <p:cNvSpPr txBox="1"/>
          <p:nvPr/>
        </p:nvSpPr>
        <p:spPr>
          <a:xfrm>
            <a:off x="9144000" y="6217929"/>
            <a:ext cx="2306573" cy="205184"/>
          </a:xfrm>
          <a:prstGeom prst="rect">
            <a:avLst/>
          </a:prstGeom>
        </p:spPr>
        <p:txBody>
          <a:bodyPr vert="horz" wrap="square" lIns="0" tIns="0" rIns="0" bIns="0" rtlCol="0">
            <a:spAutoFit/>
          </a:bodyPr>
          <a:lstStyle/>
          <a:p>
            <a:pPr marL="12700">
              <a:lnSpc>
                <a:spcPts val="1630"/>
              </a:lnSpc>
            </a:pPr>
            <a:r>
              <a:rPr sz="1400" dirty="0">
                <a:solidFill>
                  <a:srgbClr val="232852"/>
                </a:solidFill>
                <a:latin typeface="Times New Roman"/>
                <a:cs typeface="Times New Roman"/>
              </a:rPr>
              <a:t>Monday,</a:t>
            </a:r>
            <a:r>
              <a:rPr sz="1400" spc="-35"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25" dirty="0">
                <a:solidFill>
                  <a:srgbClr val="232852"/>
                </a:solidFill>
                <a:latin typeface="Times New Roman"/>
                <a:cs typeface="Times New Roman"/>
              </a:rPr>
              <a:t> </a:t>
            </a:r>
            <a:r>
              <a:rPr sz="1400" dirty="0" smtClean="0">
                <a:solidFill>
                  <a:srgbClr val="232852"/>
                </a:solidFill>
                <a:latin typeface="Times New Roman"/>
                <a:cs typeface="Times New Roman"/>
              </a:rPr>
              <a:t>1</a:t>
            </a:r>
            <a:r>
              <a:rPr lang="en-US" sz="1400" dirty="0" smtClean="0">
                <a:solidFill>
                  <a:srgbClr val="232852"/>
                </a:solidFill>
                <a:latin typeface="Times New Roman"/>
                <a:cs typeface="Times New Roman"/>
              </a:rPr>
              <a:t>4</a:t>
            </a:r>
            <a:r>
              <a:rPr sz="1400" dirty="0" smtClean="0">
                <a:solidFill>
                  <a:srgbClr val="232852"/>
                </a:solidFill>
                <a:latin typeface="Times New Roman"/>
                <a:cs typeface="Times New Roman"/>
              </a:rPr>
              <a:t>,</a:t>
            </a:r>
            <a:r>
              <a:rPr sz="1400" spc="-30" dirty="0" smtClean="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dirty="0">
              <a:latin typeface="Times New Roman"/>
              <a:cs typeface="Times New Roman"/>
            </a:endParaRPr>
          </a:p>
        </p:txBody>
      </p:sp>
      <p:sp>
        <p:nvSpPr>
          <p:cNvPr id="9" name="object 9"/>
          <p:cNvSpPr txBox="1"/>
          <p:nvPr/>
        </p:nvSpPr>
        <p:spPr>
          <a:xfrm>
            <a:off x="1298194" y="6295958"/>
            <a:ext cx="583565" cy="222885"/>
          </a:xfrm>
          <a:prstGeom prst="rect">
            <a:avLst/>
          </a:prstGeom>
        </p:spPr>
        <p:txBody>
          <a:bodyPr vert="horz" wrap="square" lIns="0" tIns="0" rIns="0" bIns="0" rtlCol="0">
            <a:spAutoFit/>
          </a:bodyPr>
          <a:lstStyle/>
          <a:p>
            <a:pPr marL="12700">
              <a:lnSpc>
                <a:spcPts val="1630"/>
              </a:lnSpc>
            </a:pPr>
            <a:r>
              <a:rPr sz="1400" dirty="0" smtClean="0">
                <a:solidFill>
                  <a:srgbClr val="232852"/>
                </a:solidFill>
                <a:latin typeface="Times New Roman"/>
                <a:cs typeface="Times New Roman"/>
              </a:rPr>
              <a:t>EDP</a:t>
            </a:r>
            <a:r>
              <a:rPr sz="1400" spc="-20" dirty="0" smtClean="0">
                <a:solidFill>
                  <a:srgbClr val="232852"/>
                </a:solidFill>
                <a:latin typeface="Times New Roman"/>
                <a:cs typeface="Times New Roman"/>
              </a:rPr>
              <a:t> </a:t>
            </a:r>
            <a:r>
              <a:rPr sz="1400" spc="-25" dirty="0">
                <a:solidFill>
                  <a:srgbClr val="232852"/>
                </a:solidFill>
                <a:latin typeface="Times New Roman"/>
                <a:cs typeface="Times New Roman"/>
              </a:rPr>
              <a:t>III</a:t>
            </a:r>
            <a:endParaRPr sz="1400" dirty="0">
              <a:latin typeface="Times New Roman"/>
              <a:cs typeface="Times New Roman"/>
            </a:endParaRPr>
          </a:p>
        </p:txBody>
      </p:sp>
      <p:sp>
        <p:nvSpPr>
          <p:cNvPr id="10" name="object 10"/>
          <p:cNvSpPr txBox="1"/>
          <p:nvPr/>
        </p:nvSpPr>
        <p:spPr>
          <a:xfrm>
            <a:off x="388111" y="6315122"/>
            <a:ext cx="223520" cy="244475"/>
          </a:xfrm>
          <a:prstGeom prst="rect">
            <a:avLst/>
          </a:prstGeom>
        </p:spPr>
        <p:txBody>
          <a:bodyPr vert="horz" wrap="square" lIns="0" tIns="13970" rIns="0" bIns="0" rtlCol="0">
            <a:spAutoFit/>
          </a:bodyPr>
          <a:lstStyle/>
          <a:p>
            <a:pPr marL="12700">
              <a:lnSpc>
                <a:spcPct val="100000"/>
              </a:lnSpc>
              <a:spcBef>
                <a:spcPts val="110"/>
              </a:spcBef>
            </a:pPr>
            <a:r>
              <a:rPr sz="1400" spc="-25" dirty="0">
                <a:solidFill>
                  <a:srgbClr val="FFFFFF"/>
                </a:solidFill>
                <a:latin typeface="Tahoma"/>
                <a:cs typeface="Tahoma"/>
              </a:rPr>
              <a:t>19</a:t>
            </a:r>
            <a:endParaRPr sz="1400">
              <a:latin typeface="Tahoma"/>
              <a:cs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61416" y="1246883"/>
            <a:ext cx="10198100" cy="5550879"/>
          </a:xfrm>
          <a:prstGeom prst="rect">
            <a:avLst/>
          </a:prstGeom>
        </p:spPr>
        <p:txBody>
          <a:bodyPr vert="horz" wrap="square" lIns="0" tIns="10795" rIns="0" bIns="0" numCol="1" rtlCol="0">
            <a:spAutoFit/>
          </a:bodyPr>
          <a:lstStyle/>
          <a:p>
            <a:pPr marL="418465" indent="-342900">
              <a:lnSpc>
                <a:spcPct val="200000"/>
              </a:lnSpc>
              <a:spcBef>
                <a:spcPts val="0"/>
              </a:spcBef>
              <a:buSzPct val="120000"/>
              <a:buFont typeface="Arial" pitchFamily="34" charset="0"/>
              <a:buChar char="•"/>
            </a:pPr>
            <a:r>
              <a:rPr lang="en-US" sz="2000" dirty="0" smtClean="0">
                <a:latin typeface="Times New Roman" panose="02020603050405020304"/>
                <a:ea typeface="Times New Roman" panose="02020603050405020304"/>
                <a:cs typeface="Times New Roman" panose="02020603050405020304"/>
                <a:sym typeface="Times New Roman" panose="02020603050405020304"/>
              </a:rPr>
              <a:t>Integration with Smart Home Systems – The fan can be connected to </a:t>
            </a:r>
            <a:r>
              <a:rPr lang="en-US" sz="2000" dirty="0" err="1" smtClean="0">
                <a:latin typeface="Times New Roman" panose="02020603050405020304"/>
                <a:ea typeface="Times New Roman" panose="02020603050405020304"/>
                <a:cs typeface="Times New Roman" panose="02020603050405020304"/>
                <a:sym typeface="Times New Roman" panose="02020603050405020304"/>
              </a:rPr>
              <a:t>IoT</a:t>
            </a:r>
            <a:r>
              <a:rPr lang="en-US" sz="2000" dirty="0" smtClean="0">
                <a:latin typeface="Times New Roman" panose="02020603050405020304"/>
                <a:ea typeface="Times New Roman" panose="02020603050405020304"/>
                <a:cs typeface="Times New Roman" panose="02020603050405020304"/>
                <a:sym typeface="Times New Roman" panose="02020603050405020304"/>
              </a:rPr>
              <a:t> platforms for remote control via smartphone or voice assistants.</a:t>
            </a:r>
          </a:p>
          <a:p>
            <a:pPr marL="418465" indent="-342900">
              <a:lnSpc>
                <a:spcPct val="200000"/>
              </a:lnSpc>
              <a:spcBef>
                <a:spcPts val="0"/>
              </a:spcBef>
              <a:buSzPct val="120000"/>
              <a:buFont typeface="Arial" pitchFamily="34" charset="0"/>
              <a:buChar char="•"/>
            </a:pPr>
            <a:r>
              <a:rPr lang="en-US" sz="2000" dirty="0" smtClean="0">
                <a:latin typeface="Times New Roman" panose="02020603050405020304"/>
                <a:ea typeface="Times New Roman" panose="02020603050405020304"/>
                <a:cs typeface="Times New Roman" panose="02020603050405020304"/>
                <a:sym typeface="Times New Roman" panose="02020603050405020304"/>
              </a:rPr>
              <a:t>Humidity and Air Quality Control – Future versions can include sensors for humidity, smoke, or dust to optimize indoor comfort and air quality.</a:t>
            </a:r>
          </a:p>
          <a:p>
            <a:pPr marL="418465" indent="-342900">
              <a:lnSpc>
                <a:spcPct val="200000"/>
              </a:lnSpc>
              <a:spcBef>
                <a:spcPts val="0"/>
              </a:spcBef>
              <a:buSzPct val="120000"/>
              <a:buFont typeface="Arial" pitchFamily="34" charset="0"/>
              <a:buChar char="•"/>
            </a:pPr>
            <a:r>
              <a:rPr lang="en-US" sz="2000" dirty="0" smtClean="0">
                <a:latin typeface="Times New Roman" panose="02020603050405020304"/>
                <a:ea typeface="Times New Roman" panose="02020603050405020304"/>
                <a:cs typeface="Times New Roman" panose="02020603050405020304"/>
                <a:sym typeface="Times New Roman" panose="02020603050405020304"/>
              </a:rPr>
              <a:t>Energy Efficiency Enhancements – Fan speed can be adjusted dynamically to save electricity while maintaining comfort.</a:t>
            </a:r>
          </a:p>
          <a:p>
            <a:pPr marL="418465" indent="-342900">
              <a:lnSpc>
                <a:spcPct val="200000"/>
              </a:lnSpc>
              <a:spcBef>
                <a:spcPts val="0"/>
              </a:spcBef>
              <a:buSzPct val="120000"/>
              <a:buFont typeface="Arial" pitchFamily="34" charset="0"/>
              <a:buChar char="•"/>
            </a:pPr>
            <a:r>
              <a:rPr lang="en-US" sz="2000" dirty="0" smtClean="0">
                <a:latin typeface="Times New Roman" panose="02020603050405020304"/>
                <a:ea typeface="Times New Roman" panose="02020603050405020304"/>
                <a:cs typeface="Times New Roman" panose="02020603050405020304"/>
                <a:sym typeface="Times New Roman" panose="02020603050405020304"/>
              </a:rPr>
              <a:t>AC Fan Compatibility – The system can be upgraded to control standard AC fans using relays or </a:t>
            </a:r>
            <a:r>
              <a:rPr lang="en-US" sz="2000" dirty="0" err="1" smtClean="0">
                <a:latin typeface="Times New Roman" panose="02020603050405020304"/>
                <a:ea typeface="Times New Roman" panose="02020603050405020304"/>
                <a:cs typeface="Times New Roman" panose="02020603050405020304"/>
                <a:sym typeface="Times New Roman" panose="02020603050405020304"/>
              </a:rPr>
              <a:t>triac</a:t>
            </a:r>
            <a:r>
              <a:rPr lang="en-US" sz="2000" dirty="0" smtClean="0">
                <a:latin typeface="Times New Roman" panose="02020603050405020304"/>
                <a:ea typeface="Times New Roman" panose="02020603050405020304"/>
                <a:cs typeface="Times New Roman" panose="02020603050405020304"/>
                <a:sym typeface="Times New Roman" panose="02020603050405020304"/>
              </a:rPr>
              <a:t> circuits.</a:t>
            </a:r>
          </a:p>
          <a:p>
            <a:pPr marL="418465" indent="-342900">
              <a:lnSpc>
                <a:spcPct val="200000"/>
              </a:lnSpc>
              <a:spcBef>
                <a:spcPts val="0"/>
              </a:spcBef>
              <a:buSzPts val="1190"/>
              <a:buFont typeface="Arial" pitchFamily="34" charset="0"/>
              <a:buChar char="•"/>
            </a:pPr>
            <a:endParaRPr lang="en-GB" sz="2000"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3" name="object 3"/>
          <p:cNvSpPr txBox="1">
            <a:spLocks noGrp="1"/>
          </p:cNvSpPr>
          <p:nvPr>
            <p:ph type="title"/>
          </p:nvPr>
        </p:nvSpPr>
        <p:spPr>
          <a:prstGeom prst="rect">
            <a:avLst/>
          </a:prstGeom>
        </p:spPr>
        <p:txBody>
          <a:bodyPr vert="horz" wrap="square" lIns="0" tIns="232663" rIns="0" bIns="0" rtlCol="0">
            <a:spAutoFit/>
          </a:bodyPr>
          <a:lstStyle/>
          <a:p>
            <a:pPr marL="2309495">
              <a:lnSpc>
                <a:spcPct val="100000"/>
              </a:lnSpc>
              <a:spcBef>
                <a:spcPts val="95"/>
              </a:spcBef>
            </a:pPr>
            <a:r>
              <a:rPr b="1" dirty="0">
                <a:latin typeface="Times New Roman"/>
                <a:cs typeface="Times New Roman"/>
              </a:rPr>
              <a:t>FUTURE</a:t>
            </a:r>
            <a:r>
              <a:rPr b="1" spc="-114" dirty="0">
                <a:latin typeface="Times New Roman"/>
                <a:cs typeface="Times New Roman"/>
              </a:rPr>
              <a:t> </a:t>
            </a:r>
            <a:r>
              <a:rPr b="1" spc="-10" dirty="0">
                <a:latin typeface="Times New Roman"/>
                <a:cs typeface="Times New Roman"/>
              </a:rPr>
              <a:t>SCOPE</a:t>
            </a:r>
          </a:p>
        </p:txBody>
      </p:sp>
      <p:sp>
        <p:nvSpPr>
          <p:cNvPr id="4" name="object 4"/>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pic>
        <p:nvPicPr>
          <p:cNvPr id="5" name="object 5"/>
          <p:cNvPicPr/>
          <p:nvPr/>
        </p:nvPicPr>
        <p:blipFill>
          <a:blip r:embed="rId2" cstate="print"/>
          <a:stretch>
            <a:fillRect/>
          </a:stretch>
        </p:blipFill>
        <p:spPr>
          <a:xfrm>
            <a:off x="311962" y="362099"/>
            <a:ext cx="944525" cy="640691"/>
          </a:xfrm>
          <a:prstGeom prst="rect">
            <a:avLst/>
          </a:prstGeom>
        </p:spPr>
      </p:pic>
      <p:pic>
        <p:nvPicPr>
          <p:cNvPr id="6" name="object 6"/>
          <p:cNvPicPr/>
          <p:nvPr/>
        </p:nvPicPr>
        <p:blipFill>
          <a:blip r:embed="rId3" cstate="print"/>
          <a:stretch>
            <a:fillRect/>
          </a:stretch>
        </p:blipFill>
        <p:spPr>
          <a:xfrm>
            <a:off x="10786998" y="123825"/>
            <a:ext cx="928687" cy="1193800"/>
          </a:xfrm>
          <a:prstGeom prst="rect">
            <a:avLst/>
          </a:prstGeom>
        </p:spPr>
      </p:pic>
      <p:sp>
        <p:nvSpPr>
          <p:cNvPr id="7" name="object 7"/>
          <p:cNvSpPr txBox="1"/>
          <p:nvPr/>
        </p:nvSpPr>
        <p:spPr>
          <a:xfrm>
            <a:off x="388111" y="6315122"/>
            <a:ext cx="223520" cy="244475"/>
          </a:xfrm>
          <a:prstGeom prst="rect">
            <a:avLst/>
          </a:prstGeom>
        </p:spPr>
        <p:txBody>
          <a:bodyPr vert="horz" wrap="square" lIns="0" tIns="13970" rIns="0" bIns="0" rtlCol="0">
            <a:spAutoFit/>
          </a:bodyPr>
          <a:lstStyle/>
          <a:p>
            <a:pPr marL="12700">
              <a:lnSpc>
                <a:spcPct val="100000"/>
              </a:lnSpc>
              <a:spcBef>
                <a:spcPts val="110"/>
              </a:spcBef>
            </a:pPr>
            <a:r>
              <a:rPr sz="1400" spc="-25" dirty="0">
                <a:solidFill>
                  <a:srgbClr val="FFFFFF"/>
                </a:solidFill>
                <a:latin typeface="Tahoma"/>
                <a:cs typeface="Tahoma"/>
              </a:rPr>
              <a:t>20</a:t>
            </a:r>
            <a:endParaRPr sz="1400">
              <a:latin typeface="Tahoma"/>
              <a:cs typeface="Tahoma"/>
            </a:endParaRPr>
          </a:p>
        </p:txBody>
      </p:sp>
      <p:sp>
        <p:nvSpPr>
          <p:cNvPr id="8" name="object 8"/>
          <p:cNvSpPr txBox="1"/>
          <p:nvPr/>
        </p:nvSpPr>
        <p:spPr>
          <a:xfrm>
            <a:off x="9289542" y="6404409"/>
            <a:ext cx="2214880" cy="225425"/>
          </a:xfrm>
          <a:prstGeom prst="rect">
            <a:avLst/>
          </a:prstGeom>
        </p:spPr>
        <p:txBody>
          <a:bodyPr vert="horz" wrap="square" lIns="0" tIns="0" rIns="0" bIns="0" rtlCol="0">
            <a:spAutoFit/>
          </a:bodyPr>
          <a:lstStyle/>
          <a:p>
            <a:pPr marL="12700">
              <a:lnSpc>
                <a:spcPts val="1655"/>
              </a:lnSpc>
            </a:pPr>
            <a:r>
              <a:rPr sz="1400" dirty="0">
                <a:latin typeface="Arial MT"/>
                <a:cs typeface="Arial MT"/>
              </a:rPr>
              <a:t>Monday,</a:t>
            </a:r>
            <a:r>
              <a:rPr sz="1400" spc="-35" dirty="0">
                <a:latin typeface="Arial MT"/>
                <a:cs typeface="Arial MT"/>
              </a:rPr>
              <a:t> </a:t>
            </a:r>
            <a:r>
              <a:rPr sz="1400" dirty="0">
                <a:latin typeface="Arial MT"/>
                <a:cs typeface="Arial MT"/>
              </a:rPr>
              <a:t>December</a:t>
            </a:r>
            <a:r>
              <a:rPr sz="1400" spc="-55" dirty="0">
                <a:latin typeface="Arial MT"/>
                <a:cs typeface="Arial MT"/>
              </a:rPr>
              <a:t> </a:t>
            </a:r>
            <a:r>
              <a:rPr sz="1400" dirty="0">
                <a:latin typeface="Arial MT"/>
                <a:cs typeface="Arial MT"/>
              </a:rPr>
              <a:t>1,</a:t>
            </a:r>
            <a:r>
              <a:rPr sz="1400" spc="-30" dirty="0">
                <a:latin typeface="Arial MT"/>
                <a:cs typeface="Arial MT"/>
              </a:rPr>
              <a:t> </a:t>
            </a:r>
            <a:r>
              <a:rPr sz="1400" spc="-20" dirty="0">
                <a:latin typeface="Arial MT"/>
                <a:cs typeface="Arial MT"/>
              </a:rPr>
              <a:t>2025</a:t>
            </a:r>
            <a:endParaRPr sz="1400">
              <a:latin typeface="Arial MT"/>
              <a:cs typeface="Arial MT"/>
            </a:endParaRPr>
          </a:p>
        </p:txBody>
      </p:sp>
      <p:sp>
        <p:nvSpPr>
          <p:cNvPr id="9" name="object 9"/>
          <p:cNvSpPr txBox="1"/>
          <p:nvPr/>
        </p:nvSpPr>
        <p:spPr>
          <a:xfrm>
            <a:off x="1084580" y="6442785"/>
            <a:ext cx="592455" cy="224790"/>
          </a:xfrm>
          <a:prstGeom prst="rect">
            <a:avLst/>
          </a:prstGeom>
        </p:spPr>
        <p:txBody>
          <a:bodyPr vert="horz" wrap="square" lIns="0" tIns="0" rIns="0" bIns="0" rtlCol="0">
            <a:spAutoFit/>
          </a:bodyPr>
          <a:lstStyle/>
          <a:p>
            <a:pPr marL="12700">
              <a:lnSpc>
                <a:spcPts val="1650"/>
              </a:lnSpc>
            </a:pPr>
            <a:r>
              <a:rPr sz="1400" dirty="0">
                <a:latin typeface="Arial MT"/>
                <a:cs typeface="Arial MT"/>
              </a:rPr>
              <a:t>EDP</a:t>
            </a:r>
            <a:r>
              <a:rPr sz="1400" spc="-25" dirty="0">
                <a:latin typeface="Arial MT"/>
                <a:cs typeface="Arial MT"/>
              </a:rPr>
              <a:t> III</a:t>
            </a:r>
            <a:endParaRPr sz="1400">
              <a:latin typeface="Arial MT"/>
              <a:cs typeface="Arial M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9172" y="1339103"/>
            <a:ext cx="10680700" cy="4481804"/>
          </a:xfrm>
          <a:prstGeom prst="rect">
            <a:avLst/>
          </a:prstGeom>
        </p:spPr>
        <p:txBody>
          <a:bodyPr vert="horz" wrap="square" lIns="0" tIns="12700" rIns="0" bIns="0" rtlCol="0">
            <a:spAutoFit/>
          </a:bodyPr>
          <a:lstStyle/>
          <a:p>
            <a:pPr marL="338455" marR="424180" indent="-326390" algn="just">
              <a:lnSpc>
                <a:spcPct val="150000"/>
              </a:lnSpc>
              <a:spcBef>
                <a:spcPts val="100"/>
              </a:spcBef>
              <a:buClr>
                <a:srgbClr val="4966AC"/>
              </a:buClr>
              <a:buSzPct val="83333"/>
              <a:tabLst>
                <a:tab pos="338455" algn="l"/>
              </a:tabLst>
            </a:pPr>
            <a:r>
              <a:rPr lang="en-GB" sz="3600" dirty="0" smtClean="0">
                <a:latin typeface="Times New Roman"/>
                <a:cs typeface="Times New Roman"/>
              </a:rPr>
              <a:t>		</a:t>
            </a:r>
            <a:r>
              <a:rPr lang="en-US" sz="2000" dirty="0" smtClean="0">
                <a:latin typeface="Times New Roman"/>
                <a:cs typeface="Times New Roman"/>
              </a:rPr>
              <a:t>The temperature-controlled fan project successfully demonstrates an automatic and intelligent approach to indoor cooling, where the fan speed adjusts according to the ambient temperature without any manual intervention. This system not only enhances comfort but also improves energy efficiency by running the fan only at the required speed. By combining a temperature sensor with a microcontroller and motor control, the project highlights the practical application of embedded systems and automation in everyday life. The design is simple, cost-effective, and scalable, making it suitable for home, office, and industrial environments. Future enhancements could further integrate smart features and </a:t>
            </a:r>
            <a:r>
              <a:rPr lang="en-US" sz="2000" dirty="0" err="1" smtClean="0">
                <a:latin typeface="Times New Roman"/>
                <a:cs typeface="Times New Roman"/>
              </a:rPr>
              <a:t>IoT</a:t>
            </a:r>
            <a:r>
              <a:rPr lang="en-US" sz="2000" dirty="0" smtClean="0">
                <a:latin typeface="Times New Roman"/>
                <a:cs typeface="Times New Roman"/>
              </a:rPr>
              <a:t> connectivity, providing a modern solution for energy-conscious and convenient temperature management.</a:t>
            </a:r>
            <a:endParaRPr sz="2000" dirty="0">
              <a:latin typeface="Times New Roman"/>
              <a:cs typeface="Times New Roman"/>
            </a:endParaRPr>
          </a:p>
        </p:txBody>
      </p:sp>
      <p:sp>
        <p:nvSpPr>
          <p:cNvPr id="3" name="object 3"/>
          <p:cNvSpPr txBox="1">
            <a:spLocks noGrp="1"/>
          </p:cNvSpPr>
          <p:nvPr>
            <p:ph type="title"/>
          </p:nvPr>
        </p:nvSpPr>
        <p:spPr>
          <a:prstGeom prst="rect">
            <a:avLst/>
          </a:prstGeom>
        </p:spPr>
        <p:txBody>
          <a:bodyPr vert="horz" wrap="square" lIns="0" tIns="621665" rIns="0" bIns="0" rtlCol="0">
            <a:spAutoFit/>
          </a:bodyPr>
          <a:lstStyle/>
          <a:p>
            <a:pPr marL="3088005">
              <a:lnSpc>
                <a:spcPct val="100000"/>
              </a:lnSpc>
              <a:spcBef>
                <a:spcPts val="95"/>
              </a:spcBef>
            </a:pPr>
            <a:r>
              <a:rPr b="1" spc="-10" dirty="0">
                <a:latin typeface="Times New Roman"/>
                <a:cs typeface="Times New Roman"/>
              </a:rPr>
              <a:t>CONCLUSION</a:t>
            </a:r>
          </a:p>
        </p:txBody>
      </p:sp>
      <p:sp>
        <p:nvSpPr>
          <p:cNvPr id="4" name="object 4"/>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pic>
        <p:nvPicPr>
          <p:cNvPr id="5" name="object 5"/>
          <p:cNvPicPr/>
          <p:nvPr/>
        </p:nvPicPr>
        <p:blipFill>
          <a:blip r:embed="rId2" cstate="print"/>
          <a:stretch>
            <a:fillRect/>
          </a:stretch>
        </p:blipFill>
        <p:spPr>
          <a:xfrm>
            <a:off x="311962" y="362099"/>
            <a:ext cx="944525" cy="640691"/>
          </a:xfrm>
          <a:prstGeom prst="rect">
            <a:avLst/>
          </a:prstGeom>
        </p:spPr>
      </p:pic>
      <p:pic>
        <p:nvPicPr>
          <p:cNvPr id="6" name="object 6"/>
          <p:cNvPicPr/>
          <p:nvPr/>
        </p:nvPicPr>
        <p:blipFill>
          <a:blip r:embed="rId3" cstate="print"/>
          <a:stretch>
            <a:fillRect/>
          </a:stretch>
        </p:blipFill>
        <p:spPr>
          <a:xfrm>
            <a:off x="10786998" y="123825"/>
            <a:ext cx="928687" cy="1193800"/>
          </a:xfrm>
          <a:prstGeom prst="rect">
            <a:avLst/>
          </a:prstGeom>
        </p:spPr>
      </p:pic>
      <p:sp>
        <p:nvSpPr>
          <p:cNvPr id="7" name="object 7"/>
          <p:cNvSpPr txBox="1"/>
          <p:nvPr/>
        </p:nvSpPr>
        <p:spPr>
          <a:xfrm>
            <a:off x="1008380" y="6255333"/>
            <a:ext cx="591185" cy="224790"/>
          </a:xfrm>
          <a:prstGeom prst="rect">
            <a:avLst/>
          </a:prstGeom>
        </p:spPr>
        <p:txBody>
          <a:bodyPr vert="horz" wrap="square" lIns="0" tIns="0" rIns="0" bIns="0" rtlCol="0">
            <a:spAutoFit/>
          </a:bodyPr>
          <a:lstStyle/>
          <a:p>
            <a:pPr marL="12700">
              <a:lnSpc>
                <a:spcPts val="1650"/>
              </a:lnSpc>
            </a:pPr>
            <a:r>
              <a:rPr sz="1400" dirty="0">
                <a:latin typeface="Arial MT"/>
                <a:cs typeface="Arial MT"/>
              </a:rPr>
              <a:t>EDP</a:t>
            </a:r>
            <a:r>
              <a:rPr sz="1400" spc="-20" dirty="0">
                <a:latin typeface="Arial MT"/>
                <a:cs typeface="Arial MT"/>
              </a:rPr>
              <a:t> </a:t>
            </a:r>
            <a:r>
              <a:rPr sz="1400" spc="-25" dirty="0">
                <a:latin typeface="Arial MT"/>
                <a:cs typeface="Arial MT"/>
              </a:rPr>
              <a:t>III</a:t>
            </a:r>
            <a:endParaRPr sz="1400">
              <a:latin typeface="Arial MT"/>
              <a:cs typeface="Arial MT"/>
            </a:endParaRPr>
          </a:p>
        </p:txBody>
      </p:sp>
      <p:sp>
        <p:nvSpPr>
          <p:cNvPr id="8" name="object 8"/>
          <p:cNvSpPr txBox="1"/>
          <p:nvPr/>
        </p:nvSpPr>
        <p:spPr>
          <a:xfrm>
            <a:off x="9422638" y="6255333"/>
            <a:ext cx="2219325" cy="224790"/>
          </a:xfrm>
          <a:prstGeom prst="rect">
            <a:avLst/>
          </a:prstGeom>
        </p:spPr>
        <p:txBody>
          <a:bodyPr vert="horz" wrap="square" lIns="0" tIns="0" rIns="0" bIns="0" rtlCol="0">
            <a:spAutoFit/>
          </a:bodyPr>
          <a:lstStyle/>
          <a:p>
            <a:pPr marL="12700">
              <a:lnSpc>
                <a:spcPts val="1650"/>
              </a:lnSpc>
            </a:pPr>
            <a:r>
              <a:rPr sz="1400" dirty="0">
                <a:latin typeface="Arial MT"/>
                <a:cs typeface="Arial MT"/>
              </a:rPr>
              <a:t>Monday,</a:t>
            </a:r>
            <a:r>
              <a:rPr sz="1400" spc="-20" dirty="0">
                <a:latin typeface="Arial MT"/>
                <a:cs typeface="Arial MT"/>
              </a:rPr>
              <a:t> </a:t>
            </a:r>
            <a:r>
              <a:rPr sz="1400" dirty="0">
                <a:latin typeface="Arial MT"/>
                <a:cs typeface="Arial MT"/>
              </a:rPr>
              <a:t>December</a:t>
            </a:r>
            <a:r>
              <a:rPr sz="1400" spc="-35" dirty="0">
                <a:latin typeface="Arial MT"/>
                <a:cs typeface="Arial MT"/>
              </a:rPr>
              <a:t> </a:t>
            </a:r>
            <a:r>
              <a:rPr sz="1400" dirty="0">
                <a:latin typeface="Arial MT"/>
                <a:cs typeface="Arial MT"/>
              </a:rPr>
              <a:t>1,</a:t>
            </a:r>
            <a:r>
              <a:rPr sz="1400" spc="-15" dirty="0">
                <a:latin typeface="Arial MT"/>
                <a:cs typeface="Arial MT"/>
              </a:rPr>
              <a:t> </a:t>
            </a:r>
            <a:r>
              <a:rPr sz="1400" spc="-20" dirty="0">
                <a:latin typeface="Arial MT"/>
                <a:cs typeface="Arial MT"/>
              </a:rPr>
              <a:t>2025</a:t>
            </a:r>
            <a:endParaRPr sz="1400">
              <a:latin typeface="Arial MT"/>
              <a:cs typeface="Arial MT"/>
            </a:endParaRPr>
          </a:p>
        </p:txBody>
      </p:sp>
      <p:sp>
        <p:nvSpPr>
          <p:cNvPr id="9" name="object 9"/>
          <p:cNvSpPr txBox="1"/>
          <p:nvPr/>
        </p:nvSpPr>
        <p:spPr>
          <a:xfrm>
            <a:off x="388111" y="6315122"/>
            <a:ext cx="223520" cy="244475"/>
          </a:xfrm>
          <a:prstGeom prst="rect">
            <a:avLst/>
          </a:prstGeom>
        </p:spPr>
        <p:txBody>
          <a:bodyPr vert="horz" wrap="square" lIns="0" tIns="13970" rIns="0" bIns="0" rtlCol="0">
            <a:spAutoFit/>
          </a:bodyPr>
          <a:lstStyle/>
          <a:p>
            <a:pPr marL="12700">
              <a:lnSpc>
                <a:spcPct val="100000"/>
              </a:lnSpc>
              <a:spcBef>
                <a:spcPts val="110"/>
              </a:spcBef>
            </a:pPr>
            <a:r>
              <a:rPr sz="1400" spc="-25" dirty="0">
                <a:solidFill>
                  <a:srgbClr val="FFFFFF"/>
                </a:solidFill>
                <a:latin typeface="Tahoma"/>
                <a:cs typeface="Tahoma"/>
              </a:rPr>
              <a:t>21</a:t>
            </a:r>
            <a:endParaRPr sz="1400">
              <a:latin typeface="Tahoma"/>
              <a:cs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431273" y="6305194"/>
            <a:ext cx="2019300"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232852"/>
                </a:solidFill>
                <a:latin typeface="Times New Roman"/>
                <a:cs typeface="Times New Roman"/>
              </a:rPr>
              <a:t>Monday,</a:t>
            </a:r>
            <a:r>
              <a:rPr sz="1400" spc="-35"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25" dirty="0">
                <a:solidFill>
                  <a:srgbClr val="232852"/>
                </a:solidFill>
                <a:latin typeface="Times New Roman"/>
                <a:cs typeface="Times New Roman"/>
              </a:rPr>
              <a:t> </a:t>
            </a:r>
            <a:r>
              <a:rPr sz="1400" dirty="0">
                <a:solidFill>
                  <a:srgbClr val="232852"/>
                </a:solidFill>
                <a:latin typeface="Times New Roman"/>
                <a:cs typeface="Times New Roman"/>
              </a:rPr>
              <a:t>1,</a:t>
            </a:r>
            <a:r>
              <a:rPr sz="1400" spc="-30" dirty="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a:latin typeface="Times New Roman"/>
              <a:cs typeface="Times New Roman"/>
            </a:endParaRPr>
          </a:p>
        </p:txBody>
      </p:sp>
      <p:sp>
        <p:nvSpPr>
          <p:cNvPr id="3" name="object 3"/>
          <p:cNvSpPr txBox="1"/>
          <p:nvPr/>
        </p:nvSpPr>
        <p:spPr>
          <a:xfrm>
            <a:off x="1298194" y="6276543"/>
            <a:ext cx="58356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232852"/>
                </a:solidFill>
                <a:latin typeface="Times New Roman"/>
                <a:cs typeface="Times New Roman"/>
              </a:rPr>
              <a:t>EDP</a:t>
            </a:r>
            <a:r>
              <a:rPr sz="1400" spc="-20" dirty="0">
                <a:solidFill>
                  <a:srgbClr val="232852"/>
                </a:solidFill>
                <a:latin typeface="Times New Roman"/>
                <a:cs typeface="Times New Roman"/>
              </a:rPr>
              <a:t> </a:t>
            </a:r>
            <a:r>
              <a:rPr sz="1400" spc="-25" dirty="0">
                <a:solidFill>
                  <a:srgbClr val="232852"/>
                </a:solidFill>
                <a:latin typeface="Times New Roman"/>
                <a:cs typeface="Times New Roman"/>
              </a:rPr>
              <a:t>III</a:t>
            </a:r>
            <a:endParaRPr sz="1400">
              <a:latin typeface="Times New Roman"/>
              <a:cs typeface="Times New Roman"/>
            </a:endParaRPr>
          </a:p>
        </p:txBody>
      </p:sp>
      <p:sp>
        <p:nvSpPr>
          <p:cNvPr id="4" name="object 4"/>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5" name="object 5"/>
          <p:cNvSpPr txBox="1"/>
          <p:nvPr/>
        </p:nvSpPr>
        <p:spPr>
          <a:xfrm>
            <a:off x="388111" y="6316167"/>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Tahoma"/>
                <a:cs typeface="Tahoma"/>
              </a:rPr>
              <a:t>23</a:t>
            </a:r>
            <a:endParaRPr sz="1400">
              <a:latin typeface="Tahoma"/>
              <a:cs typeface="Tahoma"/>
            </a:endParaRPr>
          </a:p>
        </p:txBody>
      </p:sp>
      <p:sp>
        <p:nvSpPr>
          <p:cNvPr id="6" name="object 6"/>
          <p:cNvSpPr txBox="1">
            <a:spLocks noGrp="1"/>
          </p:cNvSpPr>
          <p:nvPr>
            <p:ph type="title"/>
          </p:nvPr>
        </p:nvSpPr>
        <p:spPr>
          <a:prstGeom prst="rect">
            <a:avLst/>
          </a:prstGeom>
        </p:spPr>
        <p:txBody>
          <a:bodyPr vert="horz" wrap="square" lIns="0" tIns="113537" rIns="0" bIns="0" rtlCol="0">
            <a:spAutoFit/>
          </a:bodyPr>
          <a:lstStyle/>
          <a:p>
            <a:pPr marL="2800350">
              <a:lnSpc>
                <a:spcPct val="100000"/>
              </a:lnSpc>
              <a:spcBef>
                <a:spcPts val="95"/>
              </a:spcBef>
            </a:pPr>
            <a:r>
              <a:rPr spc="-10" dirty="0"/>
              <a:t>REFERENCES</a:t>
            </a:r>
          </a:p>
        </p:txBody>
      </p:sp>
      <p:pic>
        <p:nvPicPr>
          <p:cNvPr id="7" name="object 7"/>
          <p:cNvPicPr/>
          <p:nvPr/>
        </p:nvPicPr>
        <p:blipFill>
          <a:blip r:embed="rId2" cstate="print"/>
          <a:stretch>
            <a:fillRect/>
          </a:stretch>
        </p:blipFill>
        <p:spPr>
          <a:xfrm>
            <a:off x="311962" y="362099"/>
            <a:ext cx="944525" cy="640691"/>
          </a:xfrm>
          <a:prstGeom prst="rect">
            <a:avLst/>
          </a:prstGeom>
        </p:spPr>
      </p:pic>
      <p:pic>
        <p:nvPicPr>
          <p:cNvPr id="8" name="object 8"/>
          <p:cNvPicPr/>
          <p:nvPr/>
        </p:nvPicPr>
        <p:blipFill>
          <a:blip r:embed="rId3" cstate="print"/>
          <a:stretch>
            <a:fillRect/>
          </a:stretch>
        </p:blipFill>
        <p:spPr>
          <a:xfrm>
            <a:off x="10786998" y="123825"/>
            <a:ext cx="928687" cy="1193800"/>
          </a:xfrm>
          <a:prstGeom prst="rect">
            <a:avLst/>
          </a:prstGeom>
        </p:spPr>
      </p:pic>
      <p:sp>
        <p:nvSpPr>
          <p:cNvPr id="9" name="object 9"/>
          <p:cNvSpPr txBox="1">
            <a:spLocks noGrp="1"/>
          </p:cNvSpPr>
          <p:nvPr>
            <p:ph type="body" idx="1"/>
          </p:nvPr>
        </p:nvSpPr>
        <p:spPr>
          <a:xfrm>
            <a:off x="1143000" y="1049568"/>
            <a:ext cx="10882784" cy="5505994"/>
          </a:xfrm>
          <a:prstGeom prst="rect">
            <a:avLst/>
          </a:prstGeom>
        </p:spPr>
        <p:txBody>
          <a:bodyPr vert="horz" wrap="square" lIns="0" tIns="12065" rIns="0" bIns="0" numCol="1" rtlCol="0">
            <a:spAutoFit/>
          </a:bodyPr>
          <a:lstStyle/>
          <a:p>
            <a:pPr marL="12065" marR="695325" algn="just">
              <a:lnSpc>
                <a:spcPct val="100000"/>
              </a:lnSpc>
              <a:spcBef>
                <a:spcPts val="95"/>
              </a:spcBef>
              <a:tabLst>
                <a:tab pos="354965" algn="l"/>
              </a:tabLst>
            </a:pPr>
            <a:r>
              <a:rPr lang="en-US" sz="1800" spc="-20" dirty="0"/>
              <a:t>1. Bhattacharya, S. K. (2019). Basic Electrical and Electronics Engineering. Pearson </a:t>
            </a:r>
            <a:r>
              <a:rPr lang="en-US" sz="1800" spc="-20" dirty="0" smtClean="0"/>
              <a:t> Education</a:t>
            </a:r>
            <a:r>
              <a:rPr lang="en-US" sz="1800" spc="-20" dirty="0"/>
              <a:t>.</a:t>
            </a:r>
          </a:p>
          <a:p>
            <a:pPr marL="12065" marR="695325" algn="just">
              <a:lnSpc>
                <a:spcPct val="100000"/>
              </a:lnSpc>
              <a:spcBef>
                <a:spcPts val="95"/>
              </a:spcBef>
              <a:tabLst>
                <a:tab pos="354965" algn="l"/>
              </a:tabLst>
            </a:pPr>
            <a:r>
              <a:rPr lang="en-US" sz="1800" spc="-20" dirty="0"/>
              <a:t>Useful for understanding sensors, resistive networks, and basic electronic components used in </a:t>
            </a:r>
          </a:p>
          <a:p>
            <a:pPr marL="12065" marR="695325" algn="just">
              <a:lnSpc>
                <a:spcPct val="100000"/>
              </a:lnSpc>
              <a:spcBef>
                <a:spcPts val="95"/>
              </a:spcBef>
              <a:tabLst>
                <a:tab pos="354965" algn="l"/>
              </a:tabLst>
            </a:pPr>
            <a:r>
              <a:rPr lang="en-US" sz="1800" spc="-20" dirty="0"/>
              <a:t>analog control systems.</a:t>
            </a:r>
          </a:p>
          <a:p>
            <a:pPr marL="12065" marR="695325" algn="just">
              <a:lnSpc>
                <a:spcPct val="100000"/>
              </a:lnSpc>
              <a:spcBef>
                <a:spcPts val="95"/>
              </a:spcBef>
              <a:tabLst>
                <a:tab pos="354965" algn="l"/>
              </a:tabLst>
            </a:pPr>
            <a:r>
              <a:rPr lang="en-US" sz="1800" spc="-20" dirty="0"/>
              <a:t>2. </a:t>
            </a:r>
            <a:r>
              <a:rPr lang="en-US" sz="1800" spc="-20" dirty="0" err="1"/>
              <a:t>Boylestad</a:t>
            </a:r>
            <a:r>
              <a:rPr lang="en-US" sz="1800" spc="-20" dirty="0"/>
              <a:t>, R. L., &amp; </a:t>
            </a:r>
            <a:r>
              <a:rPr lang="en-US" sz="1800" spc="-20" dirty="0" err="1"/>
              <a:t>Nashelsky</a:t>
            </a:r>
            <a:r>
              <a:rPr lang="en-US" sz="1800" spc="-20" dirty="0"/>
              <a:t>, L. (2022). Electronic Devices and Circuit Theory (12th </a:t>
            </a:r>
          </a:p>
          <a:p>
            <a:pPr marL="12065" marR="695325" algn="just">
              <a:lnSpc>
                <a:spcPct val="100000"/>
              </a:lnSpc>
              <a:spcBef>
                <a:spcPts val="95"/>
              </a:spcBef>
              <a:tabLst>
                <a:tab pos="354965" algn="l"/>
              </a:tabLst>
            </a:pPr>
            <a:r>
              <a:rPr lang="en-US" sz="1800" spc="-20" dirty="0"/>
              <a:t>Edition). Pearson Education.</a:t>
            </a:r>
          </a:p>
          <a:p>
            <a:pPr marL="12065" marR="695325" algn="just">
              <a:lnSpc>
                <a:spcPct val="100000"/>
              </a:lnSpc>
              <a:spcBef>
                <a:spcPts val="95"/>
              </a:spcBef>
              <a:tabLst>
                <a:tab pos="354965" algn="l"/>
              </a:tabLst>
            </a:pPr>
            <a:r>
              <a:rPr lang="en-US" sz="1800" spc="-20" dirty="0"/>
              <a:t>Covers detailed explanations of transistor switching, op-amp comparator circuits, and analog </a:t>
            </a:r>
          </a:p>
          <a:p>
            <a:pPr marL="12065" marR="695325" algn="just">
              <a:lnSpc>
                <a:spcPct val="100000"/>
              </a:lnSpc>
              <a:spcBef>
                <a:spcPts val="95"/>
              </a:spcBef>
              <a:tabLst>
                <a:tab pos="354965" algn="l"/>
              </a:tabLst>
            </a:pPr>
            <a:r>
              <a:rPr lang="en-US" sz="1800" spc="-20" dirty="0"/>
              <a:t>signal conditioning.</a:t>
            </a:r>
          </a:p>
          <a:p>
            <a:pPr marL="12065" marR="695325" algn="just">
              <a:lnSpc>
                <a:spcPct val="100000"/>
              </a:lnSpc>
              <a:spcBef>
                <a:spcPts val="95"/>
              </a:spcBef>
              <a:tabLst>
                <a:tab pos="354965" algn="l"/>
              </a:tabLst>
            </a:pPr>
            <a:r>
              <a:rPr lang="en-US" sz="1800" spc="-20" dirty="0"/>
              <a:t>3. Floyd, T. L. (2021). Principles of Electric Circuits: Conventional Current Version (11th </a:t>
            </a:r>
          </a:p>
          <a:p>
            <a:pPr marL="12065" marR="695325" algn="just">
              <a:lnSpc>
                <a:spcPct val="100000"/>
              </a:lnSpc>
              <a:spcBef>
                <a:spcPts val="95"/>
              </a:spcBef>
              <a:tabLst>
                <a:tab pos="354965" algn="l"/>
              </a:tabLst>
            </a:pPr>
            <a:r>
              <a:rPr lang="en-US" sz="1800" spc="-20" dirty="0"/>
              <a:t>Edition). Pearson Education.</a:t>
            </a:r>
          </a:p>
          <a:p>
            <a:pPr marL="12065" marR="695325" algn="just">
              <a:lnSpc>
                <a:spcPct val="100000"/>
              </a:lnSpc>
              <a:spcBef>
                <a:spcPts val="95"/>
              </a:spcBef>
              <a:tabLst>
                <a:tab pos="354965" algn="l"/>
              </a:tabLst>
            </a:pPr>
            <a:r>
              <a:rPr lang="en-US" sz="1800" spc="-20" dirty="0"/>
              <a:t>Provides foundational concepts on power supplies, transistor switching, and protection circuits </a:t>
            </a:r>
          </a:p>
          <a:p>
            <a:pPr marL="12065" marR="695325" algn="just">
              <a:lnSpc>
                <a:spcPct val="100000"/>
              </a:lnSpc>
              <a:spcBef>
                <a:spcPts val="95"/>
              </a:spcBef>
              <a:tabLst>
                <a:tab pos="354965" algn="l"/>
              </a:tabLst>
            </a:pPr>
            <a:r>
              <a:rPr lang="en-US" sz="1800" spc="-20" dirty="0"/>
              <a:t>like </a:t>
            </a:r>
            <a:r>
              <a:rPr lang="en-US" sz="1800" spc="-20" dirty="0" err="1"/>
              <a:t>flyback</a:t>
            </a:r>
            <a:r>
              <a:rPr lang="en-US" sz="1800" spc="-20" dirty="0"/>
              <a:t> diodes.</a:t>
            </a:r>
          </a:p>
          <a:p>
            <a:pPr marL="12065" marR="695325" algn="just">
              <a:lnSpc>
                <a:spcPct val="100000"/>
              </a:lnSpc>
              <a:spcBef>
                <a:spcPts val="95"/>
              </a:spcBef>
              <a:tabLst>
                <a:tab pos="354965" algn="l"/>
              </a:tabLst>
            </a:pPr>
            <a:r>
              <a:rPr lang="en-US" sz="1800" spc="-20" dirty="0"/>
              <a:t>4. </a:t>
            </a:r>
            <a:r>
              <a:rPr lang="en-US" sz="1800" spc="-20" dirty="0" err="1"/>
              <a:t>Gayakwad</a:t>
            </a:r>
            <a:r>
              <a:rPr lang="en-US" sz="1800" spc="-20" dirty="0"/>
              <a:t>, R. A. (2018). Op-Amps and Linear Integrated Circuits (5th Edition). Prentice Hall </a:t>
            </a:r>
          </a:p>
          <a:p>
            <a:pPr marL="12065" marR="695325" algn="just">
              <a:lnSpc>
                <a:spcPct val="100000"/>
              </a:lnSpc>
              <a:spcBef>
                <a:spcPts val="95"/>
              </a:spcBef>
              <a:tabLst>
                <a:tab pos="354965" algn="l"/>
              </a:tabLst>
            </a:pPr>
            <a:r>
              <a:rPr lang="en-US" sz="1800" spc="-20" dirty="0"/>
              <a:t>of India.</a:t>
            </a:r>
          </a:p>
          <a:p>
            <a:pPr marL="12065" marR="695325" algn="just">
              <a:lnSpc>
                <a:spcPct val="100000"/>
              </a:lnSpc>
              <a:spcBef>
                <a:spcPts val="95"/>
              </a:spcBef>
              <a:tabLst>
                <a:tab pos="354965" algn="l"/>
              </a:tabLst>
            </a:pPr>
            <a:r>
              <a:rPr lang="en-US" sz="1800" spc="-20" dirty="0"/>
              <a:t>Key reference for understanding op-amp comparator operation, calibration, and reference </a:t>
            </a:r>
          </a:p>
          <a:p>
            <a:pPr marL="12065" marR="695325" algn="just">
              <a:lnSpc>
                <a:spcPct val="100000"/>
              </a:lnSpc>
              <a:spcBef>
                <a:spcPts val="95"/>
              </a:spcBef>
              <a:tabLst>
                <a:tab pos="354965" algn="l"/>
              </a:tabLst>
            </a:pPr>
            <a:r>
              <a:rPr lang="en-US" sz="1800" spc="-20" dirty="0"/>
              <a:t>voltage design.</a:t>
            </a:r>
          </a:p>
          <a:p>
            <a:pPr marL="12065" marR="695325" algn="just">
              <a:lnSpc>
                <a:spcPct val="100000"/>
              </a:lnSpc>
              <a:spcBef>
                <a:spcPts val="95"/>
              </a:spcBef>
              <a:tabLst>
                <a:tab pos="354965" algn="l"/>
              </a:tabLst>
            </a:pPr>
            <a:r>
              <a:rPr lang="en-US" sz="1800" spc="-20" dirty="0"/>
              <a:t>5. Gupta, B. R., &amp; </a:t>
            </a:r>
            <a:r>
              <a:rPr lang="en-US" sz="1800" spc="-20" dirty="0" err="1"/>
              <a:t>Singhal</a:t>
            </a:r>
            <a:r>
              <a:rPr lang="en-US" sz="1800" spc="-20" dirty="0"/>
              <a:t>, V. (2018). Fundamentals of Electronics. S. Chand &amp; Company Ltd.</a:t>
            </a:r>
          </a:p>
          <a:p>
            <a:pPr marL="12065" marR="695325" algn="just">
              <a:lnSpc>
                <a:spcPct val="100000"/>
              </a:lnSpc>
              <a:spcBef>
                <a:spcPts val="95"/>
              </a:spcBef>
              <a:tabLst>
                <a:tab pos="354965" algn="l"/>
              </a:tabLst>
            </a:pPr>
            <a:r>
              <a:rPr lang="en-US" sz="1800" spc="-20" dirty="0"/>
              <a:t>Provides insights into temperature sensing elements and their characteristics in analog </a:t>
            </a:r>
          </a:p>
          <a:p>
            <a:pPr marL="12065" marR="695325" algn="just">
              <a:lnSpc>
                <a:spcPct val="100000"/>
              </a:lnSpc>
              <a:spcBef>
                <a:spcPts val="95"/>
              </a:spcBef>
              <a:tabLst>
                <a:tab pos="354965" algn="l"/>
              </a:tabLst>
            </a:pPr>
            <a:r>
              <a:rPr lang="en-US" sz="1800" spc="-20" dirty="0"/>
              <a:t>applications.</a:t>
            </a:r>
          </a:p>
          <a:p>
            <a:pPr marL="12065" marR="695325" algn="just">
              <a:lnSpc>
                <a:spcPct val="100000"/>
              </a:lnSpc>
              <a:spcBef>
                <a:spcPts val="95"/>
              </a:spcBef>
              <a:tabLst>
                <a:tab pos="354965" algn="l"/>
              </a:tabLst>
            </a:pPr>
            <a:endParaRPr sz="1800" spc="-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896093" y="6198514"/>
            <a:ext cx="2019300"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232852"/>
                </a:solidFill>
                <a:latin typeface="Times New Roman"/>
                <a:cs typeface="Times New Roman"/>
              </a:rPr>
              <a:t>Monday,</a:t>
            </a:r>
            <a:r>
              <a:rPr sz="1400" spc="-35" dirty="0">
                <a:solidFill>
                  <a:srgbClr val="232852"/>
                </a:solidFill>
                <a:latin typeface="Times New Roman"/>
                <a:cs typeface="Times New Roman"/>
              </a:rPr>
              <a:t> </a:t>
            </a:r>
            <a:r>
              <a:rPr sz="1400" dirty="0">
                <a:solidFill>
                  <a:srgbClr val="232852"/>
                </a:solidFill>
                <a:latin typeface="Times New Roman"/>
                <a:cs typeface="Times New Roman"/>
              </a:rPr>
              <a:t>December</a:t>
            </a:r>
            <a:r>
              <a:rPr sz="1400" spc="-25" dirty="0">
                <a:solidFill>
                  <a:srgbClr val="232852"/>
                </a:solidFill>
                <a:latin typeface="Times New Roman"/>
                <a:cs typeface="Times New Roman"/>
              </a:rPr>
              <a:t> </a:t>
            </a:r>
            <a:r>
              <a:rPr sz="1400" dirty="0">
                <a:solidFill>
                  <a:srgbClr val="232852"/>
                </a:solidFill>
                <a:latin typeface="Times New Roman"/>
                <a:cs typeface="Times New Roman"/>
              </a:rPr>
              <a:t>1,</a:t>
            </a:r>
            <a:r>
              <a:rPr sz="1400" spc="-30" dirty="0">
                <a:solidFill>
                  <a:srgbClr val="232852"/>
                </a:solidFill>
                <a:latin typeface="Times New Roman"/>
                <a:cs typeface="Times New Roman"/>
              </a:rPr>
              <a:t> </a:t>
            </a:r>
            <a:r>
              <a:rPr sz="1400" spc="-20" dirty="0">
                <a:solidFill>
                  <a:srgbClr val="232852"/>
                </a:solidFill>
                <a:latin typeface="Times New Roman"/>
                <a:cs typeface="Times New Roman"/>
              </a:rPr>
              <a:t>2025</a:t>
            </a:r>
            <a:endParaRPr sz="1400">
              <a:latin typeface="Times New Roman"/>
              <a:cs typeface="Times New Roman"/>
            </a:endParaRPr>
          </a:p>
        </p:txBody>
      </p:sp>
      <p:sp>
        <p:nvSpPr>
          <p:cNvPr id="3" name="object 3"/>
          <p:cNvSpPr txBox="1"/>
          <p:nvPr/>
        </p:nvSpPr>
        <p:spPr>
          <a:xfrm>
            <a:off x="1298194" y="6276543"/>
            <a:ext cx="58356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232852"/>
                </a:solidFill>
                <a:latin typeface="Times New Roman"/>
                <a:cs typeface="Times New Roman"/>
              </a:rPr>
              <a:t>EDP</a:t>
            </a:r>
            <a:r>
              <a:rPr sz="1400" spc="-20" dirty="0">
                <a:solidFill>
                  <a:srgbClr val="232852"/>
                </a:solidFill>
                <a:latin typeface="Times New Roman"/>
                <a:cs typeface="Times New Roman"/>
              </a:rPr>
              <a:t> </a:t>
            </a:r>
            <a:r>
              <a:rPr sz="1400" spc="-25" dirty="0">
                <a:solidFill>
                  <a:srgbClr val="232852"/>
                </a:solidFill>
                <a:latin typeface="Times New Roman"/>
                <a:cs typeface="Times New Roman"/>
              </a:rPr>
              <a:t>III</a:t>
            </a:r>
            <a:endParaRPr sz="1400">
              <a:latin typeface="Times New Roman"/>
              <a:cs typeface="Times New Roman"/>
            </a:endParaRPr>
          </a:p>
        </p:txBody>
      </p:sp>
      <p:sp>
        <p:nvSpPr>
          <p:cNvPr id="4" name="object 4"/>
          <p:cNvSpPr/>
          <p:nvPr/>
        </p:nvSpPr>
        <p:spPr>
          <a:xfrm>
            <a:off x="195262" y="6210300"/>
            <a:ext cx="609600" cy="457200"/>
          </a:xfrm>
          <a:custGeom>
            <a:avLst/>
            <a:gdLst/>
            <a:ahLst/>
            <a:cxnLst/>
            <a:rect l="l" t="t" r="r" b="b"/>
            <a:pathLst>
              <a:path w="609600" h="457200">
                <a:moveTo>
                  <a:pt x="304800" y="0"/>
                </a:moveTo>
                <a:lnTo>
                  <a:pt x="250011" y="3683"/>
                </a:lnTo>
                <a:lnTo>
                  <a:pt x="198444" y="14301"/>
                </a:lnTo>
                <a:lnTo>
                  <a:pt x="150960" y="31210"/>
                </a:lnTo>
                <a:lnTo>
                  <a:pt x="108420" y="53764"/>
                </a:lnTo>
                <a:lnTo>
                  <a:pt x="71684" y="81316"/>
                </a:lnTo>
                <a:lnTo>
                  <a:pt x="41613" y="113221"/>
                </a:lnTo>
                <a:lnTo>
                  <a:pt x="19068" y="148834"/>
                </a:lnTo>
                <a:lnTo>
                  <a:pt x="4910" y="187509"/>
                </a:lnTo>
                <a:lnTo>
                  <a:pt x="0" y="228600"/>
                </a:lnTo>
                <a:lnTo>
                  <a:pt x="4910" y="269690"/>
                </a:lnTo>
                <a:lnTo>
                  <a:pt x="19068" y="308365"/>
                </a:lnTo>
                <a:lnTo>
                  <a:pt x="41613" y="343978"/>
                </a:lnTo>
                <a:lnTo>
                  <a:pt x="71684" y="375883"/>
                </a:lnTo>
                <a:lnTo>
                  <a:pt x="108420" y="403435"/>
                </a:lnTo>
                <a:lnTo>
                  <a:pt x="150960" y="425989"/>
                </a:lnTo>
                <a:lnTo>
                  <a:pt x="198444" y="442898"/>
                </a:lnTo>
                <a:lnTo>
                  <a:pt x="250011" y="453516"/>
                </a:lnTo>
                <a:lnTo>
                  <a:pt x="304800" y="457200"/>
                </a:lnTo>
                <a:lnTo>
                  <a:pt x="359588" y="453516"/>
                </a:lnTo>
                <a:lnTo>
                  <a:pt x="411155" y="442898"/>
                </a:lnTo>
                <a:lnTo>
                  <a:pt x="458639" y="425989"/>
                </a:lnTo>
                <a:lnTo>
                  <a:pt x="501179" y="403435"/>
                </a:lnTo>
                <a:lnTo>
                  <a:pt x="537915" y="375883"/>
                </a:lnTo>
                <a:lnTo>
                  <a:pt x="567986" y="343978"/>
                </a:lnTo>
                <a:lnTo>
                  <a:pt x="590531" y="308365"/>
                </a:lnTo>
                <a:lnTo>
                  <a:pt x="604689" y="269690"/>
                </a:lnTo>
                <a:lnTo>
                  <a:pt x="609600" y="228600"/>
                </a:lnTo>
                <a:lnTo>
                  <a:pt x="604689" y="187509"/>
                </a:lnTo>
                <a:lnTo>
                  <a:pt x="590531" y="148834"/>
                </a:lnTo>
                <a:lnTo>
                  <a:pt x="567986" y="113221"/>
                </a:lnTo>
                <a:lnTo>
                  <a:pt x="537915" y="81316"/>
                </a:lnTo>
                <a:lnTo>
                  <a:pt x="501179" y="53764"/>
                </a:lnTo>
                <a:lnTo>
                  <a:pt x="458639" y="31210"/>
                </a:lnTo>
                <a:lnTo>
                  <a:pt x="411155" y="14301"/>
                </a:lnTo>
                <a:lnTo>
                  <a:pt x="359588" y="3683"/>
                </a:lnTo>
                <a:lnTo>
                  <a:pt x="304800" y="0"/>
                </a:lnTo>
                <a:close/>
              </a:path>
            </a:pathLst>
          </a:custGeom>
          <a:solidFill>
            <a:srgbClr val="0D56C4"/>
          </a:solidFill>
        </p:spPr>
        <p:txBody>
          <a:bodyPr wrap="square" lIns="0" tIns="0" rIns="0" bIns="0" rtlCol="0"/>
          <a:lstStyle/>
          <a:p>
            <a:endParaRPr/>
          </a:p>
        </p:txBody>
      </p:sp>
      <p:sp>
        <p:nvSpPr>
          <p:cNvPr id="5" name="object 5"/>
          <p:cNvSpPr txBox="1"/>
          <p:nvPr/>
        </p:nvSpPr>
        <p:spPr>
          <a:xfrm>
            <a:off x="388111" y="6316167"/>
            <a:ext cx="223520" cy="239395"/>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FFFFFF"/>
                </a:solidFill>
                <a:latin typeface="Tahoma"/>
                <a:cs typeface="Tahoma"/>
              </a:rPr>
              <a:t>24</a:t>
            </a:r>
            <a:endParaRPr sz="1400">
              <a:latin typeface="Tahoma"/>
              <a:cs typeface="Tahoma"/>
            </a:endParaRPr>
          </a:p>
        </p:txBody>
      </p:sp>
      <p:sp>
        <p:nvSpPr>
          <p:cNvPr id="6" name="object 6"/>
          <p:cNvSpPr txBox="1">
            <a:spLocks noGrp="1"/>
          </p:cNvSpPr>
          <p:nvPr>
            <p:ph type="title"/>
          </p:nvPr>
        </p:nvSpPr>
        <p:spPr>
          <a:xfrm>
            <a:off x="4458715" y="2638170"/>
            <a:ext cx="3027680" cy="635000"/>
          </a:xfrm>
          <a:prstGeom prst="rect">
            <a:avLst/>
          </a:prstGeom>
        </p:spPr>
        <p:txBody>
          <a:bodyPr vert="horz" wrap="square" lIns="0" tIns="12065" rIns="0" bIns="0" rtlCol="0">
            <a:spAutoFit/>
          </a:bodyPr>
          <a:lstStyle/>
          <a:p>
            <a:pPr marL="12700">
              <a:lnSpc>
                <a:spcPct val="100000"/>
              </a:lnSpc>
              <a:spcBef>
                <a:spcPts val="95"/>
              </a:spcBef>
            </a:pPr>
            <a:r>
              <a:rPr dirty="0"/>
              <a:t>THANK</a:t>
            </a:r>
            <a:r>
              <a:rPr spc="-80" dirty="0"/>
              <a:t> </a:t>
            </a:r>
            <a:r>
              <a:rPr spc="-25" dirty="0"/>
              <a:t>YOU</a:t>
            </a:r>
          </a:p>
        </p:txBody>
      </p:sp>
      <p:pic>
        <p:nvPicPr>
          <p:cNvPr id="7" name="object 7"/>
          <p:cNvPicPr/>
          <p:nvPr/>
        </p:nvPicPr>
        <p:blipFill>
          <a:blip r:embed="rId2" cstate="print"/>
          <a:stretch>
            <a:fillRect/>
          </a:stretch>
        </p:blipFill>
        <p:spPr>
          <a:xfrm>
            <a:off x="311962" y="362099"/>
            <a:ext cx="944525" cy="640691"/>
          </a:xfrm>
          <a:prstGeom prst="rect">
            <a:avLst/>
          </a:prstGeom>
        </p:spPr>
      </p:pic>
      <p:pic>
        <p:nvPicPr>
          <p:cNvPr id="8" name="object 8"/>
          <p:cNvPicPr/>
          <p:nvPr/>
        </p:nvPicPr>
        <p:blipFill>
          <a:blip r:embed="rId3" cstate="print"/>
          <a:stretch>
            <a:fillRect/>
          </a:stretch>
        </p:blipFill>
        <p:spPr>
          <a:xfrm>
            <a:off x="10786998" y="123825"/>
            <a:ext cx="928687" cy="1193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323</TotalTime>
  <Words>1899</Words>
  <Application>Microsoft Office PowerPoint</Application>
  <PresentationFormat>Custom</PresentationFormat>
  <Paragraphs>334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           TEMPERATURE CONTROLLER FAN            </vt:lpstr>
      <vt:lpstr>PO/PSO MAPPING</vt:lpstr>
      <vt:lpstr>PowerPoint Presentation</vt:lpstr>
      <vt:lpstr>OUTLINE</vt:lpstr>
      <vt:lpstr>ABSTRACT</vt:lpstr>
      <vt:lpstr>OBJECTIVE OF THE PROJECT</vt:lpstr>
      <vt:lpstr>NOVELTY OF THE PROJECT</vt:lpstr>
      <vt:lpstr>LITERATURE SURVEY</vt:lpstr>
      <vt:lpstr>EXISTING METHOD</vt:lpstr>
      <vt:lpstr>ANALYSIS AND EXPLANATION OF THE IDENTIFIED PROBLEM</vt:lpstr>
      <vt:lpstr>PROPOSED METHOD</vt:lpstr>
      <vt:lpstr>METHODOLOGY</vt:lpstr>
      <vt:lpstr>HARDWARE AND SOFTWARE</vt:lpstr>
      <vt:lpstr>BLOCK DIAGRAM</vt:lpstr>
      <vt:lpstr>HARDWARE IMPLEMENTATION</vt:lpstr>
      <vt:lpstr>PowerPoint Presentation</vt:lpstr>
      <vt:lpstr>APPLICATION &amp; ADVANTAGES</vt:lpstr>
      <vt:lpstr>FUTURE SCOPE</vt:lpstr>
      <vt:lpstr>CONCLUSION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SPEED BREAKER ACTIVATION AND DEACTIVATION ON PEOPLE ANALYSIS SYSTEM</dc:title>
  <dc:creator>roshni pr</dc:creator>
  <cp:lastModifiedBy>abarna</cp:lastModifiedBy>
  <cp:revision>31</cp:revision>
  <dcterms:created xsi:type="dcterms:W3CDTF">2025-12-14T06:23:01Z</dcterms:created>
  <dcterms:modified xsi:type="dcterms:W3CDTF">2025-12-14T17:32:43Z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2025-12-01T00:00:00Z</vt:filetime>
  </property>
  <property fmtid="{D5CDD505-2E9C-101B-9397-08002B2CF9AE}" pid="3" name="Creator">
    <vt:lpwstr>Microsoft® PowerPoint® 2024</vt:lpwstr>
  </property>
  <property fmtid="{D5CDD505-2E9C-101B-9397-08002B2CF9AE}" pid="4" name="LastSaved">
    <vt:filetime>2025-12-14T00:00:00Z</vt:filetime>
  </property>
  <property fmtid="{D5CDD505-2E9C-101B-9397-08002B2CF9AE}" pid="5" name="Producer">
    <vt:lpwstr>Microsoft® PowerPoint® 2024</vt:lpwstr>
  </property>
</Properties>
</file>